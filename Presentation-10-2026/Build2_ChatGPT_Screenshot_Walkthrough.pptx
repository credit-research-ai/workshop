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5dde11f54a64fcb" /><Relationship Type="http://schemas.openxmlformats.org/officeDocument/2006/relationships/extended-properties" Target="/docProps/app.xml" Id="R59fed84ad8dc44c3" /><Relationship Type="http://schemas.openxmlformats.org/officeDocument/2006/relationships/officeDocument" Target="/ppt/presentation.xml" Id="Rd4cd2c50559b4b96" /></Relationships>
</file>

<file path=ppt/presentation.xml><?xml version="1.0" encoding="utf-8"?>
<p:presentation xmlns:p="http://schemas.openxmlformats.org/presentationml/2006/main">
  <p:sldMasterIdLst>
    <p:sldMasterId xmlns:r="http://schemas.openxmlformats.org/officeDocument/2006/relationships" id="2147483648" r:id="Raad30066081d4fcd"/>
  </p:sldMasterIdLst>
  <p:notesMasterIdLst>
    <p:notesMasterId xmlns:r="http://schemas.openxmlformats.org/officeDocument/2006/relationships" r:id="Rff7d5adf73ea498e"/>
  </p:notesMasterIdLst>
  <p:sldIdLst>
    <p:sldId xmlns:r="http://schemas.openxmlformats.org/officeDocument/2006/relationships" id="256" r:id="Rf9868453a0894653"/>
    <p:sldId xmlns:r="http://schemas.openxmlformats.org/officeDocument/2006/relationships" id="257" r:id="R772055f08ef945a7"/>
    <p:sldId xmlns:r="http://schemas.openxmlformats.org/officeDocument/2006/relationships" id="258" r:id="R2dba9c5c2caa4550"/>
    <p:sldId xmlns:r="http://schemas.openxmlformats.org/officeDocument/2006/relationships" id="259" r:id="Rc9341e017a794641"/>
    <p:sldId xmlns:r="http://schemas.openxmlformats.org/officeDocument/2006/relationships" id="260" r:id="Rcff4c51e4ee8451e"/>
    <p:sldId xmlns:r="http://schemas.openxmlformats.org/officeDocument/2006/relationships" id="261" r:id="R5a6d64c0a5df4ab3"/>
    <p:sldId xmlns:r="http://schemas.openxmlformats.org/officeDocument/2006/relationships" id="262" r:id="R8e7f26b75e104bf1"/>
    <p:sldId xmlns:r="http://schemas.openxmlformats.org/officeDocument/2006/relationships" id="263" r:id="R226b69f049364e25"/>
    <p:sldId xmlns:r="http://schemas.openxmlformats.org/officeDocument/2006/relationships" id="264" r:id="R6c493d0910a24a22"/>
    <p:sldId xmlns:r="http://schemas.openxmlformats.org/officeDocument/2006/relationships" id="265" r:id="Rfc8a8dae655f4852"/>
    <p:sldId xmlns:r="http://schemas.openxmlformats.org/officeDocument/2006/relationships" id="266" r:id="Rd372288292e84971"/>
    <p:sldId xmlns:r="http://schemas.openxmlformats.org/officeDocument/2006/relationships" id="267" r:id="R8e71d49cb09947ea"/>
    <p:sldId xmlns:r="http://schemas.openxmlformats.org/officeDocument/2006/relationships" id="268" r:id="R73b666899e2c4147"/>
    <p:sldId xmlns:r="http://schemas.openxmlformats.org/officeDocument/2006/relationships" id="269" r:id="R0e55fa7bb6d84c03"/>
    <p:sldId xmlns:r="http://schemas.openxmlformats.org/officeDocument/2006/relationships" id="270" r:id="R34b3eb1b04cb4618"/>
    <p:sldId xmlns:r="http://schemas.openxmlformats.org/officeDocument/2006/relationships" id="271" r:id="R886f76d1ee8440cd"/>
    <p:sldId xmlns:r="http://schemas.openxmlformats.org/officeDocument/2006/relationships" id="272" r:id="R629af09778194e4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78fb4f33d164d83" /><Relationship Type="http://schemas.openxmlformats.org/officeDocument/2006/relationships/slideMaster" Target="/ppt/slideMasters/slideMaster1.xml" Id="Raad30066081d4fcd" /><Relationship Type="http://schemas.openxmlformats.org/officeDocument/2006/relationships/notesMaster" Target="/ppt/notesMasters/notesMaster1.xml" Id="Rff7d5adf73ea498e" /><Relationship Type="http://schemas.openxmlformats.org/officeDocument/2006/relationships/presProps" Target="/ppt/presProps.xml" Id="R6d5c05794c944107" /><Relationship Type="http://schemas.openxmlformats.org/officeDocument/2006/relationships/tableStyles" Target="/ppt/tableStyles.xml" Id="R363946d19a954ed5" /><Relationship Type="http://schemas.openxmlformats.org/officeDocument/2006/relationships/slide" Target="/ppt/slides/slide1.xml" Id="Rf9868453a0894653" /><Relationship Type="http://schemas.openxmlformats.org/officeDocument/2006/relationships/slide" Target="/ppt/slides/slide2.xml" Id="R772055f08ef945a7" /><Relationship Type="http://schemas.openxmlformats.org/officeDocument/2006/relationships/slide" Target="/ppt/slides/slide3.xml" Id="R2dba9c5c2caa4550" /><Relationship Type="http://schemas.openxmlformats.org/officeDocument/2006/relationships/slide" Target="/ppt/slides/slide4.xml" Id="Rc9341e017a794641" /><Relationship Type="http://schemas.openxmlformats.org/officeDocument/2006/relationships/slide" Target="/ppt/slides/slide5.xml" Id="Rcff4c51e4ee8451e" /><Relationship Type="http://schemas.openxmlformats.org/officeDocument/2006/relationships/slide" Target="/ppt/slides/slide6.xml" Id="R5a6d64c0a5df4ab3" /><Relationship Type="http://schemas.openxmlformats.org/officeDocument/2006/relationships/slide" Target="/ppt/slides/slide7.xml" Id="R8e7f26b75e104bf1" /><Relationship Type="http://schemas.openxmlformats.org/officeDocument/2006/relationships/slide" Target="/ppt/slides/slide8.xml" Id="R226b69f049364e25" /><Relationship Type="http://schemas.openxmlformats.org/officeDocument/2006/relationships/slide" Target="/ppt/slides/slide9.xml" Id="R6c493d0910a24a22" /><Relationship Type="http://schemas.openxmlformats.org/officeDocument/2006/relationships/slide" Target="/ppt/slides/slide10.xml" Id="Rfc8a8dae655f4852" /><Relationship Type="http://schemas.openxmlformats.org/officeDocument/2006/relationships/slide" Target="/ppt/slides/slide11.xml" Id="Rd372288292e84971" /><Relationship Type="http://schemas.openxmlformats.org/officeDocument/2006/relationships/slide" Target="/ppt/slides/slide12.xml" Id="R8e71d49cb09947ea" /><Relationship Type="http://schemas.openxmlformats.org/officeDocument/2006/relationships/slide" Target="/ppt/slides/slide13.xml" Id="R73b666899e2c4147" /><Relationship Type="http://schemas.openxmlformats.org/officeDocument/2006/relationships/slide" Target="/ppt/slides/slide14.xml" Id="R0e55fa7bb6d84c03" /><Relationship Type="http://schemas.openxmlformats.org/officeDocument/2006/relationships/slide" Target="/ppt/slides/slide15.xml" Id="R34b3eb1b04cb4618" /><Relationship Type="http://schemas.openxmlformats.org/officeDocument/2006/relationships/slide" Target="/ppt/slides/slide16.xml" Id="R886f76d1ee8440cd" /><Relationship Type="http://schemas.openxmlformats.org/officeDocument/2006/relationships/slide" Target="/ppt/slides/slide17.xml" Id="R629af09778194e4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6c3f31e887140b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076b34ee466429a" /><Relationship Type="http://schemas.openxmlformats.org/officeDocument/2006/relationships/notesMaster" Target="/ppt/notesMasters/notesMaster1.xml" Id="R19e91d76c8c04cd4" /></Relationships>
</file>

<file path=ppt/notesSlides/_rels/notesSlide2.xml.rels>&#65279;<?xml version="1.0" encoding="utf-8"?><Relationships xmlns="http://schemas.openxmlformats.org/package/2006/relationships"><Relationship Type="http://schemas.openxmlformats.org/officeDocument/2006/relationships/slide" Target="/ppt/slides/slide2.xml" Id="R8e092c227cbf48f3" /><Relationship Type="http://schemas.openxmlformats.org/officeDocument/2006/relationships/notesMaster" Target="/ppt/notesMasters/notesMaster1.xml" Id="Rf5d6a24702e14134" /></Relationships>
</file>

<file path=ppt/notesSlides/_rels/notesSlide3.xml.rels>&#65279;<?xml version="1.0" encoding="utf-8"?><Relationships xmlns="http://schemas.openxmlformats.org/package/2006/relationships"><Relationship Type="http://schemas.openxmlformats.org/officeDocument/2006/relationships/slide" Target="/ppt/slides/slide3.xml" Id="Ra897b35bab954786" /><Relationship Type="http://schemas.openxmlformats.org/officeDocument/2006/relationships/notesMaster" Target="/ppt/notesMasters/notesMaster1.xml" Id="R9bdc89a814474786" /></Relationships>
</file>

<file path=ppt/notesSlides/_rels/notesSlide4.xml.rels>&#65279;<?xml version="1.0" encoding="utf-8"?><Relationships xmlns="http://schemas.openxmlformats.org/package/2006/relationships"><Relationship Type="http://schemas.openxmlformats.org/officeDocument/2006/relationships/slide" Target="/ppt/slides/slide4.xml" Id="R0460ab5625984870" /><Relationship Type="http://schemas.openxmlformats.org/officeDocument/2006/relationships/notesMaster" Target="/ppt/notesMasters/notesMaster1.xml" Id="R33c63fffde3f4e8a" /></Relationships>
</file>

<file path=ppt/notesSlides/_rels/notesSlide5.xml.rels>&#65279;<?xml version="1.0" encoding="utf-8"?><Relationships xmlns="http://schemas.openxmlformats.org/package/2006/relationships"><Relationship Type="http://schemas.openxmlformats.org/officeDocument/2006/relationships/slide" Target="/ppt/slides/slide5.xml" Id="Ra4f47af8991343f2" /><Relationship Type="http://schemas.openxmlformats.org/officeDocument/2006/relationships/notesMaster" Target="/ppt/notesMasters/notesMaster1.xml" Id="R1a7d25be513e47a7" /></Relationships>
</file>

<file path=ppt/notesSlides/_rels/notesSlide6.xml.rels>&#65279;<?xml version="1.0" encoding="utf-8"?><Relationships xmlns="http://schemas.openxmlformats.org/package/2006/relationships"><Relationship Type="http://schemas.openxmlformats.org/officeDocument/2006/relationships/slide" Target="/ppt/slides/slide6.xml" Id="R150dae38e8434864" /><Relationship Type="http://schemas.openxmlformats.org/officeDocument/2006/relationships/notesMaster" Target="/ppt/notesMasters/notesMaster1.xml" Id="Rb9466bc2459143af" /></Relationships>
</file>

<file path=ppt/notesSlides/_rels/notesSlide7.xml.rels>&#65279;<?xml version="1.0" encoding="utf-8"?><Relationships xmlns="http://schemas.openxmlformats.org/package/2006/relationships"><Relationship Type="http://schemas.openxmlformats.org/officeDocument/2006/relationships/slide" Target="/ppt/slides/slide7.xml" Id="R301bf4fea4464e62" /><Relationship Type="http://schemas.openxmlformats.org/officeDocument/2006/relationships/notesMaster" Target="/ppt/notesMasters/notesMaster1.xml" Id="Rf2f6be4fdc544f47" /></Relationships>
</file>

<file path=ppt/notesSlides/_rels/notesSlide8.xml.rels>&#65279;<?xml version="1.0" encoding="utf-8"?><Relationships xmlns="http://schemas.openxmlformats.org/package/2006/relationships"><Relationship Type="http://schemas.openxmlformats.org/officeDocument/2006/relationships/slide" Target="/ppt/slides/slide8.xml" Id="R3e7cf1d5ede047c1" /><Relationship Type="http://schemas.openxmlformats.org/officeDocument/2006/relationships/notesMaster" Target="/ppt/notesMasters/notesMaster1.xml" Id="R08eaf7313bd04ed2" /></Relationships>
</file>

<file path=ppt/notesSlides/_rels/notesSlide9.xml.rels>&#65279;<?xml version="1.0" encoding="utf-8"?><Relationships xmlns="http://schemas.openxmlformats.org/package/2006/relationships"><Relationship Type="http://schemas.openxmlformats.org/officeDocument/2006/relationships/slide" Target="/ppt/slides/slide9.xml" Id="R5bbb8b49a7b440a0" /><Relationship Type="http://schemas.openxmlformats.org/officeDocument/2006/relationships/notesMaster" Target="/ppt/notesMasters/notesMaster1.xml" Id="R63cf8055074f4f7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c0857be73ea4c25" /><Relationship Type="http://schemas.openxmlformats.org/officeDocument/2006/relationships/notesMaster" Target="/ppt/notesMasters/notesMaster1.xml" Id="Rf7a3e1c2c4c54ca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ef4670d3a1341fe" /><Relationship Type="http://schemas.openxmlformats.org/officeDocument/2006/relationships/notesMaster" Target="/ppt/notesMasters/notesMaster1.xml" Id="Red4cd5ccf1574c2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ad5ce4846dc4f59" /><Relationship Type="http://schemas.openxmlformats.org/officeDocument/2006/relationships/notesMaster" Target="/ppt/notesMasters/notesMaster1.xml" Id="R5ad2e21e282243a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c1a8d3347ca4a4e" /><Relationship Type="http://schemas.openxmlformats.org/officeDocument/2006/relationships/notesMaster" Target="/ppt/notesMasters/notesMaster1.xml" Id="R476a52b05b43484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bb829a416d14baf" /><Relationship Type="http://schemas.openxmlformats.org/officeDocument/2006/relationships/notesMaster" Target="/ppt/notesMasters/notesMaster1.xml" Id="Ra0c8197c38f940c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eef8d2795324712" /><Relationship Type="http://schemas.openxmlformats.org/officeDocument/2006/relationships/notesMaster" Target="/ppt/notesMasters/notesMaster1.xml" Id="R6946e46652bf485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4688a6a38714206" /><Relationship Type="http://schemas.openxmlformats.org/officeDocument/2006/relationships/notesMaster" Target="/ppt/notesMasters/notesMaster1.xml" Id="R40bf9589f779458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0d328b24ef94b2d" /><Relationship Type="http://schemas.openxmlformats.org/officeDocument/2006/relationships/notesMaster" Target="/ppt/notesMasters/notesMaster1.xml" Id="Rffc689ad3580473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Download all four workshop files, but place them in two different locations in ChatGPT. The Build 2 prompt describes the method and PDF 01 supplies the reusable credit policy. Those two belong in the project’s Sources. PDF 02 is the example customer’s application and PDF 03 is that customer’s financial statements; attach both in a new chat for that customer. Future customers use their own application and financials. All workshop company figures are fictional training inputs.</a:t>
            </a:r>
          </a:p>
          <a:p xmlns:a="http://schemas.openxmlformats.org/drawingml/2006/main">
            <a:r>
              <a:t/>
            </a:r>
          </a:p>
          <a:p xmlns:a="http://schemas.openxmlformats.org/drawingml/2006/main">
            <a:r>
              <a:t>Corrected ChatGPT run: https://chatgpt.com/g/g-p-6ad8b88e73f8819182661b4e46dbebb4-build-2-credit-application-review-walkthrough/c/6ad8c544-1e18-83eb-b470-3cd96ee9b8a1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individual download control saves the file currently open on GitHub. Download the Word prompt, 01_Mock_Credit_Policy.pdf, 02_Mock_Tesla_Credit_Application.pdf and 03_Mock_Tesla_Financials.pdf. Downloading them together does not mean all four belong in project Sources. The customer application and statements will be attached to the customer’s chat at step 10.</a:t>
            </a:r>
          </a:p>
          <a:p xmlns:a="http://schemas.openxmlformats.org/drawingml/2006/main">
            <a:r>
              <a:t/>
            </a:r>
          </a:p>
          <a:p xmlns:a="http://schemas.openxmlformats.org/drawingml/2006/main">
            <a:r>
              <a:t>Corrected ChatGPT run: https://chatgpt.com/g/g-p-6ad8b88e73f8819182661b4e46dbebb4-build-2-credit-application-review-walkthrough/c/6ad8c544-1e18-83eb-b470-3cd96ee9b8a1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holds the reusable Build 2 workflow and credit policy. Start a separate chat within it for each customer and attach the relevant customer documents in that chat. This is a document-scoping convention, not a security boundary. The saved instructions require the current chat’s customer files and must not substitute another customer’s documents or an earlier review.</a:t>
            </a:r>
          </a:p>
          <a:p xmlns:a="http://schemas.openxmlformats.org/drawingml/2006/main">
            <a:r>
              <a:t/>
            </a:r>
          </a:p>
          <a:p xmlns:a="http://schemas.openxmlformats.org/drawingml/2006/main">
            <a:r>
              <a:t>Corrected ChatGPT run: https://chatgpt.com/g/g-p-6ad8b88e73f8819182661b4e46dbebb4-build-2-credit-application-review-walkthrough/c/6ad8c544-1e18-83eb-b470-3cd96ee9b8a1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Choose Add sources and Upload for the reusable project material. Select only Build2_Prompts.docx and 01_Mock_Credit_Policy.pdf. The screenshot shows the corrected project source list after those two files were retained. Do not add the customer application or financials here: those vary by customer and belong in the current customer’s chat. The original setup has been corrected and the review rerun with the customer documents attached to the chat.</a:t>
            </a:r>
          </a:p>
          <a:p xmlns:a="http://schemas.openxmlformats.org/drawingml/2006/main">
            <a:r>
              <a:t/>
            </a:r>
          </a:p>
          <a:p xmlns:a="http://schemas.openxmlformats.org/drawingml/2006/main">
            <a:r>
              <a:t>Corrected ChatGPT run: https://chatgpt.com/g/g-p-6ad8b88e73f8819182661b4e46dbebb4-build-2-credit-application-review-walkthrough/c/6ad8c544-1e18-83eb-b470-3cd96ee9b8a1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complete screenshot makes the separation visible. The two PDF cards above the message are the customer application and financial statements. Below, the project Sources list contains only the prompt and policy. A new customer requires a new chat and a new set of customer evidence; do not reuse this fictional applicant’s documents. Naming the customer in the chat helps identify the review, but the matching legal entity and reporting period must still be checked.</a:t>
            </a:r>
          </a:p>
          <a:p xmlns:a="http://schemas.openxmlformats.org/drawingml/2006/main">
            <a:r>
              <a:t/>
            </a:r>
          </a:p>
          <a:p xmlns:a="http://schemas.openxmlformats.org/drawingml/2006/main">
            <a:r>
              <a:t>Corrected ChatGPT run: https://chatgpt.com/g/g-p-6ad8b88e73f8819182661b4e46dbebb4-build-2-credit-application-review-walkthrough/c/6ad8c544-1e18-83eb-b470-3cd96ee9b8a1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saved instructions identify the reusable sources as Build2_Prompts.docx and 01_Mock_Credit_Policy.pdf. They require each customer’s application and statements to be attached to the current chat and prohibit substituting another customer’s documents or earlier chat results. If an input is missing, ask for it. The instructions also retain the original controls: no external research, use calculation tools, cite source pages, identify exceptions and generate a confidential PDF. This training demonstration recommends only; the credit manager decides.</a:t>
            </a:r>
          </a:p>
          <a:p xmlns:a="http://schemas.openxmlformats.org/drawingml/2006/main">
            <a:r>
              <a:t/>
            </a:r>
          </a:p>
          <a:p xmlns:a="http://schemas.openxmlformats.org/drawingml/2006/main">
            <a:r>
              <a:t>Corrected ChatGPT run: https://chatgpt.com/g/g-p-6ad8b88e73f8819182661b4e46dbebb4-build-2-credit-application-review-walkthrough/c/6ad8c544-1e18-83eb-b470-3cd96ee9b8a1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Tier A requires current ratio at least 1.50, debt to net worth at most 1.00, annual net income greater than zero and at least five years in business. Tier B requires current ratio at least 1.20, debt to net worth at most 2.00, annual net income zero or greater and at least two years in business. All four tests must pass. Missing inputs trigger a pending review. If neither tier qualifies on complete inputs, the policy recommends prepayment and no unsecured credit. Source: 01_Mock_Credit_Policy.pdf, page 1.</a:t>
            </a:r>
          </a:p>
          <a:p xmlns:a="http://schemas.openxmlformats.org/drawingml/2006/main">
            <a:r>
              <a:t/>
            </a:r>
          </a:p>
          <a:p xmlns:a="http://schemas.openxmlformats.org/drawingml/2006/main">
            <a:r>
              <a:t>Corrected ChatGPT run: https://chatgpt.com/g/g-p-6ad8b88e73f8819182661b4e46dbebb4-build-2-credit-application-review-walkthrough/c/6ad8c544-1e18-83eb-b470-3cd96ee9b8a1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fictional application is DEMO-TESLA-001, dated 19 October 2026. It identifies Tesla, Inc., the fictional supplier, a simulated finance contact and an applicant declaration. The case supplies its required contact and declaration information. Bank and trade references are expressly unnecessary under this exercise's policy. No real customer contact or verification took place. Source: 02_Mock_Tesla_Credit_Application.pdf, page 1.</a:t>
            </a:r>
          </a:p>
          <a:p xmlns:a="http://schemas.openxmlformats.org/drawingml/2006/main">
            <a:r>
              <a:t/>
            </a:r>
          </a:p>
          <a:p xmlns:a="http://schemas.openxmlformats.org/drawingml/2006/main">
            <a:r>
              <a:t>Document placement: attach this application in the current customer’s chat. It is not a reusable project Source. Replace it with the next customer’s own application for a new review.</a:t>
            </a:r>
          </a:p>
          <a:p xmlns:a="http://schemas.openxmlformats.org/drawingml/2006/main">
            <a:r>
              <a:t/>
            </a:r>
          </a:p>
          <a:p xmlns:a="http://schemas.openxmlformats.org/drawingml/2006/main">
            <a:r>
              <a:t>Corrected ChatGPT run: https://chatgpt.com/g/g-p-6ad8b88e73f8819182661b4e46dbebb4-build-2-credit-application-review-walkthrough/c/6ad8c544-1e18-83eb-b470-3cd96ee9b8a1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balance sheet is dated 31 December 2025, within 15 months of the application date, 19 October 2026. Calendar arithmetic gives an age of 292 days. FY2024 figures are comparatives and are excluded from policy tests. Current assets are 24,000, current liabilities 18,000, total liabilities 45,000 and equity 30,000, all in USD millions. FY2025 after-tax net income is 4,000 USD millions. The statements are synthetic and unaudited, which this demo policy allows if disclosed. Sources: financials pages 1–2, application page 1, policy page 1.</a:t>
            </a:r>
          </a:p>
          <a:p xmlns:a="http://schemas.openxmlformats.org/drawingml/2006/main">
            <a:r>
              <a:t/>
            </a:r>
          </a:p>
          <a:p xmlns:a="http://schemas.openxmlformats.org/drawingml/2006/main">
            <a:r>
              <a:t>Document placement: attach the financial statements in the same customer chat as the application. They are not a reusable project Source. Check the period, currency, units and exact applicant entity for each new customer.</a:t>
            </a:r>
          </a:p>
          <a:p xmlns:a="http://schemas.openxmlformats.org/drawingml/2006/main">
            <a:r>
              <a:t/>
            </a:r>
          </a:p>
          <a:p xmlns:a="http://schemas.openxmlformats.org/drawingml/2006/main">
            <a:r>
              <a:t>Corrected ChatGPT run: https://chatgpt.com/g/g-p-6ad8b88e73f8819182661b4e46dbebb4-build-2-credit-application-review-walkthrough/c/6ad8c544-1e18-83eb-b470-3cd96ee9b8a1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a new chat inside the project, use the composer’s plus control, then Add photos &amp; files and Upload from computer. Select 02_Mock_Tesla_Credit_Application.pdf and 03_Mock_Tesla_Financials.pdf. Wait until both PDF cards are ready before sending the workshop run prompt shown here. Ask ChatGPT to compare the current customer’s evidence with the reusable policy, show pass/fail checks, identify missing information, recommend a supported limit and terms, and create a confidential report. For another customer, use that customer’s files in a fresh chat.</a:t>
            </a:r>
          </a:p>
          <a:p xmlns:a="http://schemas.openxmlformats.org/drawingml/2006/main">
            <a:r>
              <a:t/>
            </a:r>
          </a:p>
          <a:p xmlns:a="http://schemas.openxmlformats.org/drawingml/2006/main">
            <a:r>
              <a:t>Corrected ChatGPT run: https://chatgpt.com/g/g-p-6ad8b88e73f8819182661b4e46dbebb4-build-2-credit-application-review-walkthrough/c/6ad8c544-1e18-83eb-b470-3cd96ee9b8a1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screenshot is from the corrected run. The application and financial statements were attached to the user’s message, while project Sources held only the prompt and policy. ChatGPT completed the review in 2 minutes 54 seconds and returned the same supported training recommendation: Tier B, USD $1,000,000, Net 30. Timing is an observed example, not a guaranteed service time. The following slides inspect the new three-page PDF generated by this corrected run.</a:t>
            </a:r>
          </a:p>
          <a:p xmlns:a="http://schemas.openxmlformats.org/drawingml/2006/main">
            <a:r>
              <a:t/>
            </a:r>
          </a:p>
          <a:p xmlns:a="http://schemas.openxmlformats.org/drawingml/2006/main">
            <a:r>
              <a:t>Corrected ChatGPT run: https://chatgpt.com/g/g-p-6ad8b88e73f8819182661b4e46dbebb4-build-2-credit-application-review-walkthrough/c/6ad8c544-1e18-83eb-b470-3cd96ee9b8a1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required information was present and readable for this fictional exercise. The legal name matched across the application and statements, the reporting scope was consistent, and the latest full year was identified. The report's completeness table cites individual source pages. No test was unable to assess. This result applies only to the supplied mock case. It does not verify a real business, contact or signature.</a:t>
            </a:r>
          </a:p>
          <a:p xmlns:a="http://schemas.openxmlformats.org/drawingml/2006/main">
            <a:r>
              <a:t/>
            </a:r>
          </a:p>
          <a:p xmlns:a="http://schemas.openxmlformats.org/drawingml/2006/main">
            <a:r>
              <a:t>Corrected ChatGPT run: https://chatgpt.com/g/g-p-6ad8b88e73f8819182661b4e46dbebb4-build-2-credit-application-review-walkthrough/c/6ad8c544-1e18-83eb-b470-3cd96ee9b8a1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ratio is 1.333333…, below Tier A's 1.50 minimum but above Tier B's 1.20 minimum. Debt to net worth is 1.50, above Tier A's 1.00 maximum but below Tier B's 2.00 maximum. Positive annual net income of 4,000 USD millions and 22 years in business pass both tiers. Tier B is the highest tier whose four conditions all pass. Positive income and business age do not offset Tier A's two failed ratios. Financial sources: page 1 for balance sheet figures, page 2 for net income. Application page 1 supplies the business age.</a:t>
            </a:r>
          </a:p>
          <a:p xmlns:a="http://schemas.openxmlformats.org/drawingml/2006/main">
            <a:r>
              <a:t/>
            </a:r>
          </a:p>
          <a:p xmlns:a="http://schemas.openxmlformats.org/drawingml/2006/main">
            <a:r>
              <a:t>Corrected ChatGPT run: https://chatgpt.com/g/g-p-6ad8b88e73f8819182661b4e46dbebb4-build-2-credit-application-review-walkthrough/c/6ad8c544-1e18-83eb-b470-3cd96ee9b8a1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Equity conversion: 30,000 × $1,000,000 = $30,000,000,000. One percent is $300,000,000. The policy formula is min($2,500,000 requested, $300,000,000 equity allowance, $1,000,000 Tier B cap) = $1,000,000. Rounding down to a whole dollar leaves that result unchanged. The common USD-million scale cancels in ratios, but dollar caps require the full-USD conversion. Policy page 2 defines the formula. Application page 1 and financials page 1 supply the inputs.</a:t>
            </a:r>
          </a:p>
          <a:p xmlns:a="http://schemas.openxmlformats.org/drawingml/2006/main">
            <a:r>
              <a:t/>
            </a:r>
          </a:p>
          <a:p xmlns:a="http://schemas.openxmlformats.org/drawingml/2006/main">
            <a:r>
              <a:t>Corrected ChatGPT run: https://chatgpt.com/g/g-p-6ad8b88e73f8819182661b4e46dbebb4-build-2-credit-application-review-walkthrough/c/6ad8c544-1e18-83eb-b470-3cd96ee9b8a1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Policy page 2 says a longer term request does not change the financial tier. The supported recommendation remains Net 30, with Net 60 referred for manual review. A full $2.5 million limit would also exceed the Tier B policy ceiling and require an exception. No exception approval was supplied or granted. The report found no missing policy inputs, stale statements, mismatched entities, conflicting units, zero denominators or non-positive equity. These findings are specific to the supplied exercise documents.</a:t>
            </a:r>
          </a:p>
          <a:p xmlns:a="http://schemas.openxmlformats.org/drawingml/2006/main">
            <a:r>
              <a:t/>
            </a:r>
          </a:p>
          <a:p xmlns:a="http://schemas.openxmlformats.org/drawingml/2006/main">
            <a:r>
              <a:t>Corrected ChatGPT run: https://chatgpt.com/g/g-p-6ad8b88e73f8819182661b4e46dbebb4-build-2-credit-application-review-walkthrough/c/6ad8c544-1e18-83eb-b470-3cd96ee9b8a1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recommendation is supported by all Tier B tests passing and the $1 million absolute cap. The report recommends standard Net 30 terms and refers the requested exception to the credit manager. The assistant did not approve credit, set a business-system limit, create an account, contact a customer or update any business system. All inputs and the resulting recommendation are fictional training material.</a:t>
            </a:r>
          </a:p>
          <a:p xmlns:a="http://schemas.openxmlformats.org/drawingml/2006/main">
            <a:r>
              <a:t/>
            </a:r>
          </a:p>
          <a:p xmlns:a="http://schemas.openxmlformats.org/drawingml/2006/main">
            <a:r>
              <a:t>Corrected ChatGPT run: https://chatgpt.com/g/g-p-6ad8b88e73f8819182661b4e46dbebb4-build-2-credit-application-review-walkthrough/c/6ad8c544-1e18-83eb-b470-3cd96ee9b8a1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corrected run’s final message summarises the mock recommendation and contains the PDF card Mock_Tesla_Confidential_Credit_Review.pdf. Click the card to preview the three-page report, then use the viewer’s Download control and choose PDF. The report’s first page covers completeness; the second shows financial tests, unit conversions, the limit calculation and terms; the third explains concerns and the recommendation. Confidential and mock-data markings appear on every page. No credit approval or business-system update took place.</a:t>
            </a:r>
          </a:p>
          <a:p xmlns:a="http://schemas.openxmlformats.org/drawingml/2006/main">
            <a:r>
              <a:t/>
            </a:r>
          </a:p>
          <a:p xmlns:a="http://schemas.openxmlformats.org/drawingml/2006/main">
            <a:r>
              <a:t>Corrected ChatGPT run: https://chatgpt.com/g/g-p-6ad8b88e73f8819182661b4e46dbebb4-build-2-credit-application-review-walkthrough/c/6ad8c544-1e18-83eb-b470-3cd96ee9b8a1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377033f00eb412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e99d29bb36144d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e6b78874f3e496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303774cdf164e9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167b2ee1cb24d9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2f8d2712b9d4f7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FFDFA2-91D0-456D-900B-0325CEDA4D8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C36CD6F-0F41-4AD3-B1B1-69F9F41082B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0BC6855-EA41-43E1-9F9E-95414848666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629BFF6-72D9-49D8-918F-EB5620F67C4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D21D40B-A675-4253-B80C-A450F3F1858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292CBBE-67E2-4907-BCF2-68AB3B1D525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A937C46-E1CC-4902-8B95-5CC70E87AEB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31BE8DE-79FD-4594-A3EB-BF6486A9252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97EDD85-8227-4EC2-A4D0-2A030495A62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899C593-3129-4789-8BDF-57C4D3EBA85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7d083c11eb248d0" /><Relationship Type="http://schemas.openxmlformats.org/officeDocument/2006/relationships/slideLayout" Target="/ppt/slideLayouts/slideLayout1.xml" Id="R850c690e4a67426e" /><Relationship Type="http://schemas.openxmlformats.org/officeDocument/2006/relationships/slideLayout" Target="/ppt/slideLayouts/slideLayout2.xml" Id="Ra6c41e8f395045c6" /><Relationship Type="http://schemas.openxmlformats.org/officeDocument/2006/relationships/slideLayout" Target="/ppt/slideLayouts/slideLayout3.xml" Id="R4799512d1fd74f15" /><Relationship Type="http://schemas.openxmlformats.org/officeDocument/2006/relationships/slideLayout" Target="/ppt/slideLayouts/slideLayout4.xml" Id="R51c4b58a49194966" /><Relationship Type="http://schemas.openxmlformats.org/officeDocument/2006/relationships/slideLayout" Target="/ppt/slideLayouts/slideLayout5.xml" Id="Rffa95ee9f10d46b8" /><Relationship Type="http://schemas.openxmlformats.org/officeDocument/2006/relationships/slideLayout" Target="/ppt/slideLayouts/slideLayout6.xml" Id="R6d5599849987401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50c690e4a67426e"/>
    <p:sldLayoutId xmlns:r="http://schemas.openxmlformats.org/officeDocument/2006/relationships" id="2147483650" r:id="Ra6c41e8f395045c6"/>
    <p:sldLayoutId xmlns:r="http://schemas.openxmlformats.org/officeDocument/2006/relationships" id="2147483651" r:id="R4799512d1fd74f15"/>
    <p:sldLayoutId xmlns:r="http://schemas.openxmlformats.org/officeDocument/2006/relationships" id="2147483652" r:id="R51c4b58a49194966"/>
    <p:sldLayoutId xmlns:r="http://schemas.openxmlformats.org/officeDocument/2006/relationships" id="2147483653" r:id="Rffa95ee9f10d46b8"/>
    <p:sldLayoutId xmlns:r="http://schemas.openxmlformats.org/officeDocument/2006/relationships" id="2147483654" r:id="R6d5599849987401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02998c6e3c249e0" /><Relationship Type="http://schemas.openxmlformats.org/officeDocument/2006/relationships/image" Target="/ppt/media/image.png" Id="Rf160f086f0af4b0f" /><Relationship Type="http://schemas.openxmlformats.org/officeDocument/2006/relationships/notesSlide" Target="/ppt/notesSlides/notesSlide1.xml" Id="R67f21bb74b01404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5a3609c21854e76" /><Relationship Type="http://schemas.openxmlformats.org/officeDocument/2006/relationships/image" Target="/ppt/media/image2.png" Id="R72207aa9eda84bb2" /><Relationship Type="http://schemas.openxmlformats.org/officeDocument/2006/relationships/notesSlide" Target="/ppt/notesSlides/notesSlide2.xml" Id="Rbf279a75e7f54d8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a71f910fbf5491b" /><Relationship Type="http://schemas.openxmlformats.org/officeDocument/2006/relationships/image" Target="/ppt/media/image3.png" Id="R99a05ee5040e47f9" /><Relationship Type="http://schemas.openxmlformats.org/officeDocument/2006/relationships/notesSlide" Target="/ppt/notesSlides/notesSlide3.xml" Id="R4784e40b91734aa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2f3f88ead0c451b" /><Relationship Type="http://schemas.openxmlformats.org/officeDocument/2006/relationships/image" Target="/ppt/media/image4.png" Id="Rf403ced0d41d496e" /><Relationship Type="http://schemas.openxmlformats.org/officeDocument/2006/relationships/notesSlide" Target="/ppt/notesSlides/notesSlide4.xml" Id="R34d92bcf35174fa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6d9d5cb1de942af" /><Relationship Type="http://schemas.openxmlformats.org/officeDocument/2006/relationships/image" Target="/ppt/media/image5.png" Id="Rb51d927bbe5e4037" /><Relationship Type="http://schemas.openxmlformats.org/officeDocument/2006/relationships/notesSlide" Target="/ppt/notesSlides/notesSlide5.xml" Id="R9cc1a1517dae4a7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ab1989bb1084179" /><Relationship Type="http://schemas.openxmlformats.org/officeDocument/2006/relationships/image" Target="/ppt/media/image6.png" Id="R40051b291e124d55" /><Relationship Type="http://schemas.openxmlformats.org/officeDocument/2006/relationships/notesSlide" Target="/ppt/notesSlides/notesSlide6.xml" Id="R5b05bafd3d3a4d2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a8da216e8894911" /><Relationship Type="http://schemas.openxmlformats.org/officeDocument/2006/relationships/image" Target="/ppt/media/image7.png" Id="R3ba66dbfed334d5a" /><Relationship Type="http://schemas.openxmlformats.org/officeDocument/2006/relationships/notesSlide" Target="/ppt/notesSlides/notesSlide7.xml" Id="R1128dfa48313444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e27996ceb2d4814" /><Relationship Type="http://schemas.openxmlformats.org/officeDocument/2006/relationships/image" Target="/ppt/media/image8.png" Id="R817acf849d194b49" /><Relationship Type="http://schemas.openxmlformats.org/officeDocument/2006/relationships/notesSlide" Target="/ppt/notesSlides/notesSlide8.xml" Id="R2137a46bd823421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f1eca1153b548e1" /><Relationship Type="http://schemas.openxmlformats.org/officeDocument/2006/relationships/image" Target="/ppt/media/image9.png" Id="R5c2080e075c54fb0" /><Relationship Type="http://schemas.openxmlformats.org/officeDocument/2006/relationships/notesSlide" Target="/ppt/notesSlides/notesSlide9.xml" Id="Re652dcbee78e416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a16311f2d5a48d8" /><Relationship Type="http://schemas.openxmlformats.org/officeDocument/2006/relationships/image" Target="/ppt/media/image10.png" Id="Rcfe1aa7f9c9e4d8c" /><Relationship Type="http://schemas.openxmlformats.org/officeDocument/2006/relationships/notesSlide" Target="/ppt/notesSlides/notesSlide10.xml" Id="R2afa59fb7380460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c682dc05439410f" /><Relationship Type="http://schemas.openxmlformats.org/officeDocument/2006/relationships/image" Target="/ppt/media/image11.png" Id="Re33dab15e140414c" /><Relationship Type="http://schemas.openxmlformats.org/officeDocument/2006/relationships/notesSlide" Target="/ppt/notesSlides/notesSlide11.xml" Id="R07793a602432479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61222b726b744cb" /><Relationship Type="http://schemas.openxmlformats.org/officeDocument/2006/relationships/image" Target="/ppt/media/image12.png" Id="Rc1ab0e3c71404bb4" /><Relationship Type="http://schemas.openxmlformats.org/officeDocument/2006/relationships/notesSlide" Target="/ppt/notesSlides/notesSlide12.xml" Id="R2488477676aa43d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f09420a82ff48f9" /><Relationship Type="http://schemas.openxmlformats.org/officeDocument/2006/relationships/image" Target="/ppt/media/image13.png" Id="R845c5c83634e4597" /><Relationship Type="http://schemas.openxmlformats.org/officeDocument/2006/relationships/notesSlide" Target="/ppt/notesSlides/notesSlide13.xml" Id="R20608cf9850944c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9e6610c72384b63" /><Relationship Type="http://schemas.openxmlformats.org/officeDocument/2006/relationships/image" Target="/ppt/media/image14.png" Id="Rff0a50df398944fa" /><Relationship Type="http://schemas.openxmlformats.org/officeDocument/2006/relationships/notesSlide" Target="/ppt/notesSlides/notesSlide14.xml" Id="R4bd69c92941f42f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4513d8c5f0640d2" /><Relationship Type="http://schemas.openxmlformats.org/officeDocument/2006/relationships/image" Target="/ppt/media/image15.png" Id="R147340d257854a2f" /><Relationship Type="http://schemas.openxmlformats.org/officeDocument/2006/relationships/notesSlide" Target="/ppt/notesSlides/notesSlide15.xml" Id="Raec6eade187c437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d77231129e34f0e" /><Relationship Type="http://schemas.openxmlformats.org/officeDocument/2006/relationships/image" Target="/ppt/media/image16.png" Id="Ra90e2371c45d4512" /><Relationship Type="http://schemas.openxmlformats.org/officeDocument/2006/relationships/notesSlide" Target="/ppt/notesSlides/notesSlide16.xml" Id="R5f0f888ca234436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f68c06bb81a4135" /><Relationship Type="http://schemas.openxmlformats.org/officeDocument/2006/relationships/image" Target="/ppt/media/image17.png" Id="R27dc19a1f230450c" /><Relationship Type="http://schemas.openxmlformats.org/officeDocument/2006/relationships/notesSlide" Target="/ppt/notesSlides/notesSlide17.xml" Id="R960ac93a975b46f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845112BE-CED5-4493-9C48-F35D932AAD87}"/>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defRPr>
            </a:defPPr>
            <a:lvl1pPr>
              <a:defRPr sz="1800" b="1">
                <a:solidFill>
                  <a:srgbClr val="087DDF"/>
                </a:solidFill>
              </a:defRPr>
            </a:lvl1pPr>
            <a:lvl2pPr>
              <a:defRPr sz="1800" b="1">
                <a:solidFill>
                  <a:srgbClr val="087DDF"/>
                </a:solidFill>
              </a:defRPr>
            </a:lvl2pPr>
            <a:lvl3pPr>
              <a:defRPr sz="1800" b="1">
                <a:solidFill>
                  <a:srgbClr val="087DDF"/>
                </a:solidFill>
              </a:defRPr>
            </a:lvl3pPr>
            <a:lvl4pPr>
              <a:defRPr sz="1800" b="1">
                <a:solidFill>
                  <a:srgbClr val="087DDF"/>
                </a:solidFill>
              </a:defRPr>
            </a:lvl4pPr>
            <a:lvl5pPr>
              <a:defRPr sz="1800" b="1">
                <a:solidFill>
                  <a:srgbClr val="087DDF"/>
                </a:solidFill>
              </a:defRPr>
            </a:lvl5pPr>
            <a:lvl6pPr>
              <a:defRPr sz="1800" b="1">
                <a:solidFill>
                  <a:srgbClr val="087DDF"/>
                </a:solidFill>
              </a:defRPr>
            </a:lvl6pPr>
            <a:lvl7pPr>
              <a:defRPr sz="1800" b="1">
                <a:solidFill>
                  <a:srgbClr val="087DDF"/>
                </a:solidFill>
              </a:defRPr>
            </a:lvl7pPr>
            <a:lvl8pPr>
              <a:defRPr sz="1800" b="1">
                <a:solidFill>
                  <a:srgbClr val="087DDF"/>
                </a:solidFill>
              </a:defRPr>
            </a:lvl8pPr>
            <a:lvl9pPr>
              <a:defRPr sz="1800" b="1">
                <a:solidFill>
                  <a:srgbClr val="087DDF"/>
                </a:solidFill>
              </a:defRPr>
            </a:lvl9pPr>
          </a:lstStyle>
          <a:p xmlns:a="http://schemas.openxmlformats.org/drawingml/2006/main">
            <a:pPr>
              <a:defRPr sz="1800" b="1">
                <a:solidFill>
                  <a:srgbClr val="087DDF"/>
                </a:solidFill>
              </a:defRPr>
            </a:pPr>
            <a:r>
              <a:rPr sz="1800" b="1">
                <a:solidFill>
                  <a:srgbClr val="087DDF"/>
                </a:solidFill>
              </a:rPr>
              <a:t>01</a:t>
            </a:r>
          </a:p>
        </p:txBody>
      </p:sp>
      <p:sp>
        <p:nvSpPr>
          <p:cNvPr id="3" name="Title">
            <a:extLst xmlns:a="http://schemas.openxmlformats.org/drawingml/2006/main">
              <a:ext uri="{FF2B5EF4-FFF2-40B4-BE49-F238E27FC236}">
                <a16:creationId xmlns:a16="http://schemas.microsoft.com/office/drawing/2014/main" id="{CF3CB0CA-D783-4CC5-B9DB-D42665B071D1}"/>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defRPr>
            </a:defPPr>
            <a:lvl1pPr>
              <a:defRPr sz="3300" b="1">
                <a:solidFill>
                  <a:srgbClr val="102744"/>
                </a:solidFill>
              </a:defRPr>
            </a:lvl1pPr>
            <a:lvl2pPr>
              <a:defRPr sz="3300" b="1">
                <a:solidFill>
                  <a:srgbClr val="102744"/>
                </a:solidFill>
              </a:defRPr>
            </a:lvl2pPr>
            <a:lvl3pPr>
              <a:defRPr sz="3300" b="1">
                <a:solidFill>
                  <a:srgbClr val="102744"/>
                </a:solidFill>
              </a:defRPr>
            </a:lvl3pPr>
            <a:lvl4pPr>
              <a:defRPr sz="3300" b="1">
                <a:solidFill>
                  <a:srgbClr val="102744"/>
                </a:solidFill>
              </a:defRPr>
            </a:lvl4pPr>
            <a:lvl5pPr>
              <a:defRPr sz="3300" b="1">
                <a:solidFill>
                  <a:srgbClr val="102744"/>
                </a:solidFill>
              </a:defRPr>
            </a:lvl5pPr>
            <a:lvl6pPr>
              <a:defRPr sz="3300" b="1">
                <a:solidFill>
                  <a:srgbClr val="102744"/>
                </a:solidFill>
              </a:defRPr>
            </a:lvl6pPr>
            <a:lvl7pPr>
              <a:defRPr sz="3300" b="1">
                <a:solidFill>
                  <a:srgbClr val="102744"/>
                </a:solidFill>
              </a:defRPr>
            </a:lvl7pPr>
            <a:lvl8pPr>
              <a:defRPr sz="3300" b="1">
                <a:solidFill>
                  <a:srgbClr val="102744"/>
                </a:solidFill>
              </a:defRPr>
            </a:lvl8pPr>
            <a:lvl9pPr>
              <a:defRPr sz="3300" b="1">
                <a:solidFill>
                  <a:srgbClr val="102744"/>
                </a:solidFill>
              </a:defRPr>
            </a:lvl9pPr>
          </a:lstStyle>
          <a:p xmlns:a="http://schemas.openxmlformats.org/drawingml/2006/main">
            <a:pPr>
              <a:defRPr sz="3300" b="1">
                <a:solidFill>
                  <a:srgbClr val="102744"/>
                </a:solidFill>
              </a:defRPr>
            </a:pPr>
            <a:r>
              <a:rPr sz="3300" b="1">
                <a:solidFill>
                  <a:srgbClr val="102744"/>
                </a:solidFill>
              </a:rPr>
              <a:t>The four Build 2 files</a:t>
            </a:r>
          </a:p>
        </p:txBody>
      </p:sp>
      <p:sp>
        <p:nvSpPr>
          <p:cNvPr id="4" name="Body">
            <a:extLst xmlns:a="http://schemas.openxmlformats.org/drawingml/2006/main">
              <a:ext uri="{FF2B5EF4-FFF2-40B4-BE49-F238E27FC236}">
                <a16:creationId xmlns:a16="http://schemas.microsoft.com/office/drawing/2014/main" id="{5BC6C108-E70B-4025-955E-54B3D8DFB9FB}"/>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defRPr>
            </a:defPPr>
            <a:lvl1pPr>
              <a:defRPr sz="1800" b="0">
                <a:solidFill>
                  <a:srgbClr val="25354B"/>
                </a:solidFill>
              </a:defRPr>
            </a:lvl1pPr>
            <a:lvl2pPr>
              <a:defRPr sz="1800" b="0">
                <a:solidFill>
                  <a:srgbClr val="25354B"/>
                </a:solidFill>
              </a:defRPr>
            </a:lvl2pPr>
            <a:lvl3pPr>
              <a:defRPr sz="1800" b="0">
                <a:solidFill>
                  <a:srgbClr val="25354B"/>
                </a:solidFill>
              </a:defRPr>
            </a:lvl3pPr>
            <a:lvl4pPr>
              <a:defRPr sz="1800" b="0">
                <a:solidFill>
                  <a:srgbClr val="25354B"/>
                </a:solidFill>
              </a:defRPr>
            </a:lvl4pPr>
            <a:lvl5pPr>
              <a:defRPr sz="1800" b="0">
                <a:solidFill>
                  <a:srgbClr val="25354B"/>
                </a:solidFill>
              </a:defRPr>
            </a:lvl5pPr>
            <a:lvl6pPr>
              <a:defRPr sz="1800" b="0">
                <a:solidFill>
                  <a:srgbClr val="25354B"/>
                </a:solidFill>
              </a:defRPr>
            </a:lvl6pPr>
            <a:lvl7pPr>
              <a:defRPr sz="1800" b="0">
                <a:solidFill>
                  <a:srgbClr val="25354B"/>
                </a:solidFill>
              </a:defRPr>
            </a:lvl7pPr>
            <a:lvl8pPr>
              <a:defRPr sz="1800" b="0">
                <a:solidFill>
                  <a:srgbClr val="25354B"/>
                </a:solidFill>
              </a:defRPr>
            </a:lvl8pPr>
            <a:lvl9pPr>
              <a:defRPr sz="1800" b="0">
                <a:solidFill>
                  <a:srgbClr val="25354B"/>
                </a:solidFill>
              </a:defRPr>
            </a:lvl9pPr>
          </a:lstStyle>
          <a:p xmlns:a="http://schemas.openxmlformats.org/drawingml/2006/main">
            <a:pPr>
              <a:defRPr sz="1800" b="0">
                <a:solidFill>
                  <a:srgbClr val="25354B"/>
                </a:solidFill>
              </a:defRPr>
            </a:pPr>
            <a:r>
              <a:rPr sz="1800" b="0">
                <a:solidFill>
                  <a:srgbClr val="25354B"/>
                </a:solidFill>
              </a:rPr>
              <a:t>Download the prompt and all three PDFs.</a:t>
            </a:r>
          </a:p>
          <a:p xmlns:a="http://schemas.openxmlformats.org/drawingml/2006/main">
            <a:pPr>
              <a:defRPr sz="1800" b="0">
                <a:solidFill>
                  <a:srgbClr val="25354B"/>
                </a:solidFill>
              </a:defRPr>
            </a:pPr>
            <a:r>
              <a:t/>
            </a:r>
          </a:p>
          <a:p xmlns:a="http://schemas.openxmlformats.org/drawingml/2006/main">
            <a:pPr>
              <a:defRPr sz="1800" b="0">
                <a:solidFill>
                  <a:srgbClr val="25354B"/>
                </a:solidFill>
              </a:defRPr>
            </a:pPr>
            <a:r>
              <a:rPr sz="1800" b="0">
                <a:solidFill>
                  <a:srgbClr val="25354B"/>
                </a:solidFill>
              </a:rPr>
              <a:t>Project Sources:</a:t>
            </a:r>
          </a:p>
          <a:p xmlns:a="http://schemas.openxmlformats.org/drawingml/2006/main">
            <a:pPr>
              <a:defRPr sz="1800" b="0">
                <a:solidFill>
                  <a:srgbClr val="25354B"/>
                </a:solidFill>
              </a:defRPr>
            </a:pPr>
            <a:r>
              <a:t>prompt + PDF 01 policy.</a:t>
            </a:r>
          </a:p>
          <a:p xmlns:a="http://schemas.openxmlformats.org/drawingml/2006/main">
            <a:pPr>
              <a:defRPr sz="1800" b="0">
                <a:solidFill>
                  <a:srgbClr val="25354B"/>
                </a:solidFill>
              </a:defRPr>
            </a:pPr>
            <a:r>
              <a:rPr sz="1800" b="0">
                <a:solidFill>
                  <a:srgbClr val="25354B"/>
                </a:solidFill>
              </a:rPr>
              <a:t/>
            </a:r>
          </a:p>
          <a:p xmlns:a="http://schemas.openxmlformats.org/drawingml/2006/main">
            <a:pPr>
              <a:defRPr sz="1800" b="0">
                <a:solidFill>
                  <a:srgbClr val="25354B"/>
                </a:solidFill>
              </a:defRPr>
            </a:pPr>
            <a:r>
              <a:rPr sz="1800" b="0">
                <a:solidFill>
                  <a:srgbClr val="25354B"/>
                </a:solidFill>
              </a:rPr>
              <a:t>Customer chat:</a:t>
            </a:r>
          </a:p>
          <a:p xmlns:a="http://schemas.openxmlformats.org/drawingml/2006/main">
            <a:pPr>
              <a:defRPr sz="1800" b="0">
                <a:solidFill>
                  <a:srgbClr val="25354B"/>
                </a:solidFill>
              </a:defRPr>
            </a:pPr>
            <a:r>
              <a:rPr sz="1800" b="0">
                <a:solidFill>
                  <a:srgbClr val="25354B"/>
                </a:solidFill>
              </a:rPr>
              <a:t>PDF 02 application + PDF 03 financials.</a:t>
            </a:r>
          </a:p>
        </p:txBody>
      </p:sp>
      <p:pic>
        <p:nvPicPr>
          <p:cNvPr id="5" name="">
            <a:extLst xmlns:a="http://schemas.openxmlformats.org/drawingml/2006/main">
              <a:ext uri="{FF2B5EF4-FFF2-40B4-BE49-F238E27FC236}">
                <a16:creationId xmlns:a16="http://schemas.microsoft.com/office/drawing/2014/main" id="{86F79FA3-EC9B-4C56-BB8A-39AAE5A888B3}"/>
              </a:ext>
            </a:extLst>
          </p:cNvPr>
          <p:cNvPicPr>
            <a:picLocks xmlns:a="http://schemas.openxmlformats.org/drawingml/2006/main" noChangeAspect="1"/>
          </p:cNvPicPr>
          <p:nvPr/>
        </p:nvPicPr>
        <p:blipFill>
          <a:blip xmlns:r="http://schemas.openxmlformats.org/officeDocument/2006/relationships" xmlns:a="http://schemas.openxmlformats.org/drawingml/2006/main" r:embed="Rf160f086f0af4b0f"/>
          <a:stretch xmlns:a="http://schemas.openxmlformats.org/drawingml/2006/main"/>
        </p:blipFill>
        <p:spPr>
          <a:xfrm xmlns:a="http://schemas.openxmlformats.org/drawingml/2006/main">
            <a:off x="3714750" y="2135661"/>
            <a:ext cx="7953375" cy="2967677"/>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8F4459C6-9DE6-43CD-9E87-753D827E44BF}"/>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087DDF"/>
                </a:solidFill>
              </a:defRPr>
            </a:defPPr>
            <a:lvl1pPr>
              <a:defRPr sz="1425" b="0">
                <a:solidFill>
                  <a:srgbClr val="087DDF"/>
                </a:solidFill>
              </a:defRPr>
            </a:lvl1pPr>
            <a:lvl2pPr>
              <a:defRPr sz="1425" b="0">
                <a:solidFill>
                  <a:srgbClr val="087DDF"/>
                </a:solidFill>
              </a:defRPr>
            </a:lvl2pPr>
            <a:lvl3pPr>
              <a:defRPr sz="1425" b="0">
                <a:solidFill>
                  <a:srgbClr val="087DDF"/>
                </a:solidFill>
              </a:defRPr>
            </a:lvl3pPr>
            <a:lvl4pPr>
              <a:defRPr sz="1425" b="0">
                <a:solidFill>
                  <a:srgbClr val="087DDF"/>
                </a:solidFill>
              </a:defRPr>
            </a:lvl4pPr>
            <a:lvl5pPr>
              <a:defRPr sz="1425" b="0">
                <a:solidFill>
                  <a:srgbClr val="087DDF"/>
                </a:solidFill>
              </a:defRPr>
            </a:lvl5pPr>
            <a:lvl6pPr>
              <a:defRPr sz="1425" b="0">
                <a:solidFill>
                  <a:srgbClr val="087DDF"/>
                </a:solidFill>
              </a:defRPr>
            </a:lvl6pPr>
            <a:lvl7pPr>
              <a:defRPr sz="1425" b="0">
                <a:solidFill>
                  <a:srgbClr val="087DDF"/>
                </a:solidFill>
              </a:defRPr>
            </a:lvl7pPr>
            <a:lvl8pPr>
              <a:defRPr sz="1425" b="0">
                <a:solidFill>
                  <a:srgbClr val="087DDF"/>
                </a:solidFill>
              </a:defRPr>
            </a:lvl8pPr>
            <a:lvl9pPr>
              <a:defRPr sz="1425" b="0">
                <a:solidFill>
                  <a:srgbClr val="087DDF"/>
                </a:solidFill>
              </a:defRPr>
            </a:lvl9pPr>
          </a:lstStyle>
          <a:p xmlns:a="http://schemas.openxmlformats.org/drawingml/2006/main">
            <a:pPr>
              <a:defRPr sz="1425" b="0">
                <a:solidFill>
                  <a:srgbClr val="087DDF"/>
                </a:solidFill>
              </a:defRPr>
            </a:pPr>
            <a:r>
              <a:rPr sz="1425" b="0">
                <a:solidFill>
                  <a:srgbClr val="087DDF"/>
                </a:solidFill>
              </a:rPr>
              <a:t>The prompt and policy are reusable. Customer evidence changes with every review.</a:t>
            </a:r>
          </a:p>
        </p:txBody>
      </p:sp>
      <p:sp>
        <p:nvSpPr>
          <p:cNvPr id="7" name="Footer">
            <a:extLst xmlns:a="http://schemas.openxmlformats.org/drawingml/2006/main">
              <a:ext uri="{FF2B5EF4-FFF2-40B4-BE49-F238E27FC236}">
                <a16:creationId xmlns:a16="http://schemas.microsoft.com/office/drawing/2014/main" id="{2A622AE3-C4A6-4B3B-B87F-002E92B5F5B8}"/>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defRPr>
            </a:defPPr>
            <a:lvl1pPr>
              <a:defRPr sz="1200" b="0">
                <a:solidFill>
                  <a:srgbClr val="69778B"/>
                </a:solidFill>
              </a:defRPr>
            </a:lvl1pPr>
            <a:lvl2pPr>
              <a:defRPr sz="1200" b="0">
                <a:solidFill>
                  <a:srgbClr val="69778B"/>
                </a:solidFill>
              </a:defRPr>
            </a:lvl2pPr>
            <a:lvl3pPr>
              <a:defRPr sz="1200" b="0">
                <a:solidFill>
                  <a:srgbClr val="69778B"/>
                </a:solidFill>
              </a:defRPr>
            </a:lvl3pPr>
            <a:lvl4pPr>
              <a:defRPr sz="1200" b="0">
                <a:solidFill>
                  <a:srgbClr val="69778B"/>
                </a:solidFill>
              </a:defRPr>
            </a:lvl4pPr>
            <a:lvl5pPr>
              <a:defRPr sz="1200" b="0">
                <a:solidFill>
                  <a:srgbClr val="69778B"/>
                </a:solidFill>
              </a:defRPr>
            </a:lvl5pPr>
            <a:lvl6pPr>
              <a:defRPr sz="1200" b="0">
                <a:solidFill>
                  <a:srgbClr val="69778B"/>
                </a:solidFill>
              </a:defRPr>
            </a:lvl6pPr>
            <a:lvl7pPr>
              <a:defRPr sz="1200" b="0">
                <a:solidFill>
                  <a:srgbClr val="69778B"/>
                </a:solidFill>
              </a:defRPr>
            </a:lvl7pPr>
            <a:lvl8pPr>
              <a:defRPr sz="1200" b="0">
                <a:solidFill>
                  <a:srgbClr val="69778B"/>
                </a:solidFill>
              </a:defRPr>
            </a:lvl8pPr>
            <a:lvl9pPr>
              <a:defRPr sz="1200" b="0">
                <a:solidFill>
                  <a:srgbClr val="69778B"/>
                </a:solidFill>
              </a:defRPr>
            </a:lvl9pPr>
          </a:lstStyle>
          <a:p xmlns:a="http://schemas.openxmlformats.org/drawingml/2006/main">
            <a:pPr>
              <a:defRPr sz="1200" b="0">
                <a:solidFill>
                  <a:srgbClr val="69778B"/>
                </a:solidFill>
              </a:defRPr>
            </a:pPr>
            <a:r>
              <a:rPr sz="1200" b="0">
                <a:solidFill>
                  <a:srgbClr val="69778B"/>
                </a:solidFill>
              </a:rPr>
              <a:t>Build 2   /   Fictional training data   /   21 October 2026</a:t>
            </a:r>
          </a:p>
        </p:txBody>
      </p:sp>
    </p:spTree>
    <p:extLst>
      <p:ext uri="{BB962C8B-B14F-4D97-AF65-F5344CB8AC3E}">
        <p14:creationId xmlns:p14="http://schemas.microsoft.com/office/powerpoint/2010/main" val="66468034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86ABD12E-C972-4537-9FE4-D0E934FC4197}"/>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defRPr>
            </a:defPPr>
            <a:lvl1pPr>
              <a:defRPr sz="1800" b="1">
                <a:solidFill>
                  <a:srgbClr val="087DDF"/>
                </a:solidFill>
              </a:defRPr>
            </a:lvl1pPr>
            <a:lvl2pPr>
              <a:defRPr sz="1800" b="1">
                <a:solidFill>
                  <a:srgbClr val="087DDF"/>
                </a:solidFill>
              </a:defRPr>
            </a:lvl2pPr>
            <a:lvl3pPr>
              <a:defRPr sz="1800" b="1">
                <a:solidFill>
                  <a:srgbClr val="087DDF"/>
                </a:solidFill>
              </a:defRPr>
            </a:lvl3pPr>
            <a:lvl4pPr>
              <a:defRPr sz="1800" b="1">
                <a:solidFill>
                  <a:srgbClr val="087DDF"/>
                </a:solidFill>
              </a:defRPr>
            </a:lvl4pPr>
            <a:lvl5pPr>
              <a:defRPr sz="1800" b="1">
                <a:solidFill>
                  <a:srgbClr val="087DDF"/>
                </a:solidFill>
              </a:defRPr>
            </a:lvl5pPr>
            <a:lvl6pPr>
              <a:defRPr sz="1800" b="1">
                <a:solidFill>
                  <a:srgbClr val="087DDF"/>
                </a:solidFill>
              </a:defRPr>
            </a:lvl6pPr>
            <a:lvl7pPr>
              <a:defRPr sz="1800" b="1">
                <a:solidFill>
                  <a:srgbClr val="087DDF"/>
                </a:solidFill>
              </a:defRPr>
            </a:lvl7pPr>
            <a:lvl8pPr>
              <a:defRPr sz="1800" b="1">
                <a:solidFill>
                  <a:srgbClr val="087DDF"/>
                </a:solidFill>
              </a:defRPr>
            </a:lvl8pPr>
            <a:lvl9pPr>
              <a:defRPr sz="1800" b="1">
                <a:solidFill>
                  <a:srgbClr val="087DDF"/>
                </a:solidFill>
              </a:defRPr>
            </a:lvl9pPr>
          </a:lstStyle>
          <a:p xmlns:a="http://schemas.openxmlformats.org/drawingml/2006/main">
            <a:pPr>
              <a:defRPr sz="1800" b="1">
                <a:solidFill>
                  <a:srgbClr val="087DDF"/>
                </a:solidFill>
              </a:defRPr>
            </a:pPr>
            <a:r>
              <a:rPr sz="1800" b="1">
                <a:solidFill>
                  <a:srgbClr val="087DDF"/>
                </a:solidFill>
              </a:rPr>
              <a:t>02</a:t>
            </a:r>
          </a:p>
        </p:txBody>
      </p:sp>
      <p:sp>
        <p:nvSpPr>
          <p:cNvPr id="3" name="Title">
            <a:extLst xmlns:a="http://schemas.openxmlformats.org/drawingml/2006/main">
              <a:ext uri="{FF2B5EF4-FFF2-40B4-BE49-F238E27FC236}">
                <a16:creationId xmlns:a16="http://schemas.microsoft.com/office/drawing/2014/main" id="{0D2269D3-5F63-474E-B988-6D9486CEEC08}"/>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defRPr>
            </a:defPPr>
            <a:lvl1pPr>
              <a:defRPr sz="3300" b="1">
                <a:solidFill>
                  <a:srgbClr val="102744"/>
                </a:solidFill>
              </a:defRPr>
            </a:lvl1pPr>
            <a:lvl2pPr>
              <a:defRPr sz="3300" b="1">
                <a:solidFill>
                  <a:srgbClr val="102744"/>
                </a:solidFill>
              </a:defRPr>
            </a:lvl2pPr>
            <a:lvl3pPr>
              <a:defRPr sz="3300" b="1">
                <a:solidFill>
                  <a:srgbClr val="102744"/>
                </a:solidFill>
              </a:defRPr>
            </a:lvl3pPr>
            <a:lvl4pPr>
              <a:defRPr sz="3300" b="1">
                <a:solidFill>
                  <a:srgbClr val="102744"/>
                </a:solidFill>
              </a:defRPr>
            </a:lvl4pPr>
            <a:lvl5pPr>
              <a:defRPr sz="3300" b="1">
                <a:solidFill>
                  <a:srgbClr val="102744"/>
                </a:solidFill>
              </a:defRPr>
            </a:lvl5pPr>
            <a:lvl6pPr>
              <a:defRPr sz="3300" b="1">
                <a:solidFill>
                  <a:srgbClr val="102744"/>
                </a:solidFill>
              </a:defRPr>
            </a:lvl6pPr>
            <a:lvl7pPr>
              <a:defRPr sz="3300" b="1">
                <a:solidFill>
                  <a:srgbClr val="102744"/>
                </a:solidFill>
              </a:defRPr>
            </a:lvl7pPr>
            <a:lvl8pPr>
              <a:defRPr sz="3300" b="1">
                <a:solidFill>
                  <a:srgbClr val="102744"/>
                </a:solidFill>
              </a:defRPr>
            </a:lvl8pPr>
            <a:lvl9pPr>
              <a:defRPr sz="3300" b="1">
                <a:solidFill>
                  <a:srgbClr val="102744"/>
                </a:solidFill>
              </a:defRPr>
            </a:lvl9pPr>
          </a:lstStyle>
          <a:p xmlns:a="http://schemas.openxmlformats.org/drawingml/2006/main">
            <a:pPr>
              <a:defRPr sz="3300" b="1">
                <a:solidFill>
                  <a:srgbClr val="102744"/>
                </a:solidFill>
              </a:defRPr>
            </a:pPr>
            <a:r>
              <a:rPr sz="3300" b="1">
                <a:solidFill>
                  <a:srgbClr val="102744"/>
                </a:solidFill>
              </a:rPr>
              <a:t>Individual file downloads</a:t>
            </a:r>
          </a:p>
        </p:txBody>
      </p:sp>
      <p:sp>
        <p:nvSpPr>
          <p:cNvPr id="4" name="Body">
            <a:extLst xmlns:a="http://schemas.openxmlformats.org/drawingml/2006/main">
              <a:ext uri="{FF2B5EF4-FFF2-40B4-BE49-F238E27FC236}">
                <a16:creationId xmlns:a16="http://schemas.microsoft.com/office/drawing/2014/main" id="{D99D5E6F-8A0E-4756-9770-E92BAC755F00}"/>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defRPr>
            </a:defPPr>
            <a:lvl1pPr>
              <a:defRPr sz="1800" b="0">
                <a:solidFill>
                  <a:srgbClr val="25354B"/>
                </a:solidFill>
              </a:defRPr>
            </a:lvl1pPr>
            <a:lvl2pPr>
              <a:defRPr sz="1800" b="0">
                <a:solidFill>
                  <a:srgbClr val="25354B"/>
                </a:solidFill>
              </a:defRPr>
            </a:lvl2pPr>
            <a:lvl3pPr>
              <a:defRPr sz="1800" b="0">
                <a:solidFill>
                  <a:srgbClr val="25354B"/>
                </a:solidFill>
              </a:defRPr>
            </a:lvl3pPr>
            <a:lvl4pPr>
              <a:defRPr sz="1800" b="0">
                <a:solidFill>
                  <a:srgbClr val="25354B"/>
                </a:solidFill>
              </a:defRPr>
            </a:lvl4pPr>
            <a:lvl5pPr>
              <a:defRPr sz="1800" b="0">
                <a:solidFill>
                  <a:srgbClr val="25354B"/>
                </a:solidFill>
              </a:defRPr>
            </a:lvl5pPr>
            <a:lvl6pPr>
              <a:defRPr sz="1800" b="0">
                <a:solidFill>
                  <a:srgbClr val="25354B"/>
                </a:solidFill>
              </a:defRPr>
            </a:lvl6pPr>
            <a:lvl7pPr>
              <a:defRPr sz="1800" b="0">
                <a:solidFill>
                  <a:srgbClr val="25354B"/>
                </a:solidFill>
              </a:defRPr>
            </a:lvl7pPr>
            <a:lvl8pPr>
              <a:defRPr sz="1800" b="0">
                <a:solidFill>
                  <a:srgbClr val="25354B"/>
                </a:solidFill>
              </a:defRPr>
            </a:lvl8pPr>
            <a:lvl9pPr>
              <a:defRPr sz="1800" b="0">
                <a:solidFill>
                  <a:srgbClr val="25354B"/>
                </a:solidFill>
              </a:defRPr>
            </a:lvl9pPr>
          </a:lstStyle>
          <a:p xmlns:a="http://schemas.openxmlformats.org/drawingml/2006/main">
            <a:pPr>
              <a:defRPr sz="1800" b="0">
                <a:solidFill>
                  <a:srgbClr val="25354B"/>
                </a:solidFill>
              </a:defRPr>
            </a:pPr>
            <a:r>
              <a:rPr sz="1800" b="0">
                <a:solidFill>
                  <a:srgbClr val="25354B"/>
                </a:solidFill>
              </a:rPr>
              <a:t>Open each file on GitHub.</a:t>
            </a:r>
          </a:p>
          <a:p xmlns:a="http://schemas.openxmlformats.org/drawingml/2006/main">
            <a:pPr>
              <a:defRPr sz="1800" b="0">
                <a:solidFill>
                  <a:srgbClr val="25354B"/>
                </a:solidFill>
              </a:defRPr>
            </a:pPr>
            <a:r>
              <a:t/>
            </a:r>
          </a:p>
          <a:p xmlns:a="http://schemas.openxmlformats.org/drawingml/2006/main">
            <a:pPr>
              <a:defRPr sz="1800" b="0">
                <a:solidFill>
                  <a:srgbClr val="25354B"/>
                </a:solidFill>
              </a:defRPr>
            </a:pPr>
            <a:r>
              <a:rPr sz="1800" b="0">
                <a:solidFill>
                  <a:srgbClr val="25354B"/>
                </a:solidFill>
              </a:rPr>
              <a:t>Click Download raw file at the right of the file controls.</a:t>
            </a:r>
          </a:p>
          <a:p xmlns:a="http://schemas.openxmlformats.org/drawingml/2006/main">
            <a:pPr>
              <a:defRPr sz="1800" b="0">
                <a:solidFill>
                  <a:srgbClr val="25354B"/>
                </a:solidFill>
              </a:defRPr>
            </a:pPr>
            <a:r>
              <a:t/>
            </a:r>
          </a:p>
          <a:p xmlns:a="http://schemas.openxmlformats.org/drawingml/2006/main">
            <a:pPr>
              <a:defRPr sz="1800" b="0">
                <a:solidFill>
                  <a:srgbClr val="25354B"/>
                </a:solidFill>
              </a:defRPr>
            </a:pPr>
            <a:r>
              <a:rPr sz="1800" b="0">
                <a:solidFill>
                  <a:srgbClr val="25354B"/>
                </a:solidFill>
              </a:rPr>
              <a:t>Repeat for all four files.</a:t>
            </a:r>
          </a:p>
          <a:p xmlns:a="http://schemas.openxmlformats.org/drawingml/2006/main">
            <a:pPr>
              <a:defRPr sz="1800" b="0">
                <a:solidFill>
                  <a:srgbClr val="25354B"/>
                </a:solidFill>
              </a:defRPr>
            </a:pPr>
            <a:r>
              <a:rPr sz="1800" b="0">
                <a:solidFill>
                  <a:srgbClr val="25354B"/>
                </a:solidFill>
              </a:rPr>
              <a:t/>
            </a:r>
          </a:p>
          <a:p xmlns:a="http://schemas.openxmlformats.org/drawingml/2006/main">
            <a:pPr>
              <a:defRPr sz="1800" b="0">
                <a:solidFill>
                  <a:srgbClr val="25354B"/>
                </a:solidFill>
              </a:defRPr>
            </a:pPr>
            <a:r>
              <a:rPr sz="1800" b="0">
                <a:solidFill>
                  <a:srgbClr val="25354B"/>
                </a:solidFill>
              </a:rPr>
              <a:t>Keep the two customer PDFs ready for the chat.</a:t>
            </a:r>
          </a:p>
        </p:txBody>
      </p:sp>
      <p:pic>
        <p:nvPicPr>
          <p:cNvPr id="5" name="">
            <a:extLst xmlns:a="http://schemas.openxmlformats.org/drawingml/2006/main">
              <a:ext uri="{FF2B5EF4-FFF2-40B4-BE49-F238E27FC236}">
                <a16:creationId xmlns:a16="http://schemas.microsoft.com/office/drawing/2014/main" id="{74593DD7-9877-4788-8226-EE08F21320F7}"/>
              </a:ext>
            </a:extLst>
          </p:cNvPr>
          <p:cNvPicPr>
            <a:picLocks xmlns:a="http://schemas.openxmlformats.org/drawingml/2006/main" noChangeAspect="1"/>
          </p:cNvPicPr>
          <p:nvPr/>
        </p:nvPicPr>
        <p:blipFill>
          <a:blip xmlns:r="http://schemas.openxmlformats.org/officeDocument/2006/relationships" xmlns:a="http://schemas.openxmlformats.org/drawingml/2006/main" r:embed="R72207aa9eda84bb2"/>
          <a:stretch xmlns:a="http://schemas.openxmlformats.org/drawingml/2006/main"/>
        </p:blipFill>
        <p:spPr>
          <a:xfrm xmlns:a="http://schemas.openxmlformats.org/drawingml/2006/main">
            <a:off x="3714750" y="2839990"/>
            <a:ext cx="7953375" cy="1559020"/>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1928E16A-FBD6-4C68-AF2D-5943F9A39AE6}"/>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087DDF"/>
                </a:solidFill>
              </a:defRPr>
            </a:defPPr>
            <a:lvl1pPr>
              <a:defRPr sz="1425" b="0">
                <a:solidFill>
                  <a:srgbClr val="087DDF"/>
                </a:solidFill>
              </a:defRPr>
            </a:lvl1pPr>
            <a:lvl2pPr>
              <a:defRPr sz="1425" b="0">
                <a:solidFill>
                  <a:srgbClr val="087DDF"/>
                </a:solidFill>
              </a:defRPr>
            </a:lvl2pPr>
            <a:lvl3pPr>
              <a:defRPr sz="1425" b="0">
                <a:solidFill>
                  <a:srgbClr val="087DDF"/>
                </a:solidFill>
              </a:defRPr>
            </a:lvl3pPr>
            <a:lvl4pPr>
              <a:defRPr sz="1425" b="0">
                <a:solidFill>
                  <a:srgbClr val="087DDF"/>
                </a:solidFill>
              </a:defRPr>
            </a:lvl4pPr>
            <a:lvl5pPr>
              <a:defRPr sz="1425" b="0">
                <a:solidFill>
                  <a:srgbClr val="087DDF"/>
                </a:solidFill>
              </a:defRPr>
            </a:lvl5pPr>
            <a:lvl6pPr>
              <a:defRPr sz="1425" b="0">
                <a:solidFill>
                  <a:srgbClr val="087DDF"/>
                </a:solidFill>
              </a:defRPr>
            </a:lvl6pPr>
            <a:lvl7pPr>
              <a:defRPr sz="1425" b="0">
                <a:solidFill>
                  <a:srgbClr val="087DDF"/>
                </a:solidFill>
              </a:defRPr>
            </a:lvl7pPr>
            <a:lvl8pPr>
              <a:defRPr sz="1425" b="0">
                <a:solidFill>
                  <a:srgbClr val="087DDF"/>
                </a:solidFill>
              </a:defRPr>
            </a:lvl8pPr>
            <a:lvl9pPr>
              <a:defRPr sz="1425" b="0">
                <a:solidFill>
                  <a:srgbClr val="087DDF"/>
                </a:solidFill>
              </a:defRPr>
            </a:lvl9pPr>
          </a:lstStyle>
          <a:p xmlns:a="http://schemas.openxmlformats.org/drawingml/2006/main">
            <a:pPr>
              <a:defRPr sz="1425" b="0">
                <a:solidFill>
                  <a:srgbClr val="087DDF"/>
                </a:solidFill>
              </a:defRPr>
            </a:pPr>
            <a:r>
              <a:rPr sz="1425" b="0">
                <a:solidFill>
                  <a:srgbClr val="087DDF"/>
                </a:solidFill>
              </a:rPr>
              <a:t>Download four files; upload only the prompt and policy to project Sources.</a:t>
            </a:r>
          </a:p>
        </p:txBody>
      </p:sp>
      <p:sp>
        <p:nvSpPr>
          <p:cNvPr id="7" name="Footer">
            <a:extLst xmlns:a="http://schemas.openxmlformats.org/drawingml/2006/main">
              <a:ext uri="{FF2B5EF4-FFF2-40B4-BE49-F238E27FC236}">
                <a16:creationId xmlns:a16="http://schemas.microsoft.com/office/drawing/2014/main" id="{281ADA68-9A6B-42D4-B5E5-AAA9BC84B567}"/>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defRPr>
            </a:defPPr>
            <a:lvl1pPr>
              <a:defRPr sz="1200" b="0">
                <a:solidFill>
                  <a:srgbClr val="69778B"/>
                </a:solidFill>
              </a:defRPr>
            </a:lvl1pPr>
            <a:lvl2pPr>
              <a:defRPr sz="1200" b="0">
                <a:solidFill>
                  <a:srgbClr val="69778B"/>
                </a:solidFill>
              </a:defRPr>
            </a:lvl2pPr>
            <a:lvl3pPr>
              <a:defRPr sz="1200" b="0">
                <a:solidFill>
                  <a:srgbClr val="69778B"/>
                </a:solidFill>
              </a:defRPr>
            </a:lvl3pPr>
            <a:lvl4pPr>
              <a:defRPr sz="1200" b="0">
                <a:solidFill>
                  <a:srgbClr val="69778B"/>
                </a:solidFill>
              </a:defRPr>
            </a:lvl4pPr>
            <a:lvl5pPr>
              <a:defRPr sz="1200" b="0">
                <a:solidFill>
                  <a:srgbClr val="69778B"/>
                </a:solidFill>
              </a:defRPr>
            </a:lvl5pPr>
            <a:lvl6pPr>
              <a:defRPr sz="1200" b="0">
                <a:solidFill>
                  <a:srgbClr val="69778B"/>
                </a:solidFill>
              </a:defRPr>
            </a:lvl6pPr>
            <a:lvl7pPr>
              <a:defRPr sz="1200" b="0">
                <a:solidFill>
                  <a:srgbClr val="69778B"/>
                </a:solidFill>
              </a:defRPr>
            </a:lvl7pPr>
            <a:lvl8pPr>
              <a:defRPr sz="1200" b="0">
                <a:solidFill>
                  <a:srgbClr val="69778B"/>
                </a:solidFill>
              </a:defRPr>
            </a:lvl8pPr>
            <a:lvl9pPr>
              <a:defRPr sz="1200" b="0">
                <a:solidFill>
                  <a:srgbClr val="69778B"/>
                </a:solidFill>
              </a:defRPr>
            </a:lvl9pPr>
          </a:lstStyle>
          <a:p xmlns:a="http://schemas.openxmlformats.org/drawingml/2006/main">
            <a:pPr>
              <a:defRPr sz="1200" b="0">
                <a:solidFill>
                  <a:srgbClr val="69778B"/>
                </a:solidFill>
              </a:defRPr>
            </a:pPr>
            <a:r>
              <a:rPr sz="1200" b="0">
                <a:solidFill>
                  <a:srgbClr val="69778B"/>
                </a:solidFill>
              </a:rPr>
              <a:t>Build 2   /   Fictional training data   /   21 October 2026</a:t>
            </a:r>
          </a:p>
        </p:txBody>
      </p:sp>
    </p:spTree>
    <p:extLst>
      <p:ext uri="{BB962C8B-B14F-4D97-AF65-F5344CB8AC3E}">
        <p14:creationId xmlns:p14="http://schemas.microsoft.com/office/powerpoint/2010/main" val="31065817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D5D6F232-B4BF-4C70-B801-20A7B22AA6B4}"/>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defRPr>
            </a:defPPr>
            <a:lvl1pPr>
              <a:defRPr sz="1800" b="1">
                <a:solidFill>
                  <a:srgbClr val="087DDF"/>
                </a:solidFill>
              </a:defRPr>
            </a:lvl1pPr>
            <a:lvl2pPr>
              <a:defRPr sz="1800" b="1">
                <a:solidFill>
                  <a:srgbClr val="087DDF"/>
                </a:solidFill>
              </a:defRPr>
            </a:lvl2pPr>
            <a:lvl3pPr>
              <a:defRPr sz="1800" b="1">
                <a:solidFill>
                  <a:srgbClr val="087DDF"/>
                </a:solidFill>
              </a:defRPr>
            </a:lvl3pPr>
            <a:lvl4pPr>
              <a:defRPr sz="1800" b="1">
                <a:solidFill>
                  <a:srgbClr val="087DDF"/>
                </a:solidFill>
              </a:defRPr>
            </a:lvl4pPr>
            <a:lvl5pPr>
              <a:defRPr sz="1800" b="1">
                <a:solidFill>
                  <a:srgbClr val="087DDF"/>
                </a:solidFill>
              </a:defRPr>
            </a:lvl5pPr>
            <a:lvl6pPr>
              <a:defRPr sz="1800" b="1">
                <a:solidFill>
                  <a:srgbClr val="087DDF"/>
                </a:solidFill>
              </a:defRPr>
            </a:lvl6pPr>
            <a:lvl7pPr>
              <a:defRPr sz="1800" b="1">
                <a:solidFill>
                  <a:srgbClr val="087DDF"/>
                </a:solidFill>
              </a:defRPr>
            </a:lvl7pPr>
            <a:lvl8pPr>
              <a:defRPr sz="1800" b="1">
                <a:solidFill>
                  <a:srgbClr val="087DDF"/>
                </a:solidFill>
              </a:defRPr>
            </a:lvl8pPr>
            <a:lvl9pPr>
              <a:defRPr sz="1800" b="1">
                <a:solidFill>
                  <a:srgbClr val="087DDF"/>
                </a:solidFill>
              </a:defRPr>
            </a:lvl9pPr>
          </a:lstStyle>
          <a:p xmlns:a="http://schemas.openxmlformats.org/drawingml/2006/main">
            <a:pPr>
              <a:defRPr sz="1800" b="1">
                <a:solidFill>
                  <a:srgbClr val="087DDF"/>
                </a:solidFill>
              </a:defRPr>
            </a:pPr>
            <a:r>
              <a:rPr sz="1800" b="1">
                <a:solidFill>
                  <a:srgbClr val="087DDF"/>
                </a:solidFill>
              </a:rPr>
              <a:t>03</a:t>
            </a:r>
          </a:p>
        </p:txBody>
      </p:sp>
      <p:sp>
        <p:nvSpPr>
          <p:cNvPr id="3" name="Title">
            <a:extLst xmlns:a="http://schemas.openxmlformats.org/drawingml/2006/main">
              <a:ext uri="{FF2B5EF4-FFF2-40B4-BE49-F238E27FC236}">
                <a16:creationId xmlns:a16="http://schemas.microsoft.com/office/drawing/2014/main" id="{0B56012A-8752-4F46-A8D5-734B2F07BF8D}"/>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defRPr>
            </a:defPPr>
            <a:lvl1pPr>
              <a:defRPr sz="3300" b="1">
                <a:solidFill>
                  <a:srgbClr val="102744"/>
                </a:solidFill>
              </a:defRPr>
            </a:lvl1pPr>
            <a:lvl2pPr>
              <a:defRPr sz="3300" b="1">
                <a:solidFill>
                  <a:srgbClr val="102744"/>
                </a:solidFill>
              </a:defRPr>
            </a:lvl2pPr>
            <a:lvl3pPr>
              <a:defRPr sz="3300" b="1">
                <a:solidFill>
                  <a:srgbClr val="102744"/>
                </a:solidFill>
              </a:defRPr>
            </a:lvl3pPr>
            <a:lvl4pPr>
              <a:defRPr sz="3300" b="1">
                <a:solidFill>
                  <a:srgbClr val="102744"/>
                </a:solidFill>
              </a:defRPr>
            </a:lvl4pPr>
            <a:lvl5pPr>
              <a:defRPr sz="3300" b="1">
                <a:solidFill>
                  <a:srgbClr val="102744"/>
                </a:solidFill>
              </a:defRPr>
            </a:lvl5pPr>
            <a:lvl6pPr>
              <a:defRPr sz="3300" b="1">
                <a:solidFill>
                  <a:srgbClr val="102744"/>
                </a:solidFill>
              </a:defRPr>
            </a:lvl6pPr>
            <a:lvl7pPr>
              <a:defRPr sz="3300" b="1">
                <a:solidFill>
                  <a:srgbClr val="102744"/>
                </a:solidFill>
              </a:defRPr>
            </a:lvl7pPr>
            <a:lvl8pPr>
              <a:defRPr sz="3300" b="1">
                <a:solidFill>
                  <a:srgbClr val="102744"/>
                </a:solidFill>
              </a:defRPr>
            </a:lvl8pPr>
            <a:lvl9pPr>
              <a:defRPr sz="3300" b="1">
                <a:solidFill>
                  <a:srgbClr val="102744"/>
                </a:solidFill>
              </a:defRPr>
            </a:lvl9pPr>
          </a:lstStyle>
          <a:p xmlns:a="http://schemas.openxmlformats.org/drawingml/2006/main">
            <a:pPr>
              <a:defRPr sz="3300" b="1">
                <a:solidFill>
                  <a:srgbClr val="102744"/>
                </a:solidFill>
              </a:defRPr>
            </a:pPr>
            <a:r>
              <a:rPr sz="3300" b="1">
                <a:solidFill>
                  <a:srgbClr val="102744"/>
                </a:solidFill>
              </a:rPr>
              <a:t>A dedicated review project</a:t>
            </a:r>
          </a:p>
        </p:txBody>
      </p:sp>
      <p:sp>
        <p:nvSpPr>
          <p:cNvPr id="4" name="Body">
            <a:extLst xmlns:a="http://schemas.openxmlformats.org/drawingml/2006/main">
              <a:ext uri="{FF2B5EF4-FFF2-40B4-BE49-F238E27FC236}">
                <a16:creationId xmlns:a16="http://schemas.microsoft.com/office/drawing/2014/main" id="{5D17A7FA-30C4-4811-8E68-B8F0CD0A6BD8}"/>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defRPr>
            </a:defPPr>
            <a:lvl1pPr>
              <a:defRPr sz="1800" b="0">
                <a:solidFill>
                  <a:srgbClr val="25354B"/>
                </a:solidFill>
              </a:defRPr>
            </a:lvl1pPr>
            <a:lvl2pPr>
              <a:defRPr sz="1800" b="0">
                <a:solidFill>
                  <a:srgbClr val="25354B"/>
                </a:solidFill>
              </a:defRPr>
            </a:lvl2pPr>
            <a:lvl3pPr>
              <a:defRPr sz="1800" b="0">
                <a:solidFill>
                  <a:srgbClr val="25354B"/>
                </a:solidFill>
              </a:defRPr>
            </a:lvl3pPr>
            <a:lvl4pPr>
              <a:defRPr sz="1800" b="0">
                <a:solidFill>
                  <a:srgbClr val="25354B"/>
                </a:solidFill>
              </a:defRPr>
            </a:lvl4pPr>
            <a:lvl5pPr>
              <a:defRPr sz="1800" b="0">
                <a:solidFill>
                  <a:srgbClr val="25354B"/>
                </a:solidFill>
              </a:defRPr>
            </a:lvl5pPr>
            <a:lvl6pPr>
              <a:defRPr sz="1800" b="0">
                <a:solidFill>
                  <a:srgbClr val="25354B"/>
                </a:solidFill>
              </a:defRPr>
            </a:lvl6pPr>
            <a:lvl7pPr>
              <a:defRPr sz="1800" b="0">
                <a:solidFill>
                  <a:srgbClr val="25354B"/>
                </a:solidFill>
              </a:defRPr>
            </a:lvl7pPr>
            <a:lvl8pPr>
              <a:defRPr sz="1800" b="0">
                <a:solidFill>
                  <a:srgbClr val="25354B"/>
                </a:solidFill>
              </a:defRPr>
            </a:lvl8pPr>
            <a:lvl9pPr>
              <a:defRPr sz="1800" b="0">
                <a:solidFill>
                  <a:srgbClr val="25354B"/>
                </a:solidFill>
              </a:defRPr>
            </a:lvl9pPr>
          </a:lstStyle>
          <a:p xmlns:a="http://schemas.openxmlformats.org/drawingml/2006/main">
            <a:pPr>
              <a:defRPr sz="1800" b="0">
                <a:solidFill>
                  <a:srgbClr val="25354B"/>
                </a:solidFill>
              </a:defRPr>
            </a:pPr>
            <a:r>
              <a:rPr sz="1800" b="0">
                <a:solidFill>
                  <a:srgbClr val="25354B"/>
                </a:solidFill>
              </a:rPr>
              <a:t>Open Projects and choose Create.</a:t>
            </a:r>
          </a:p>
          <a:p xmlns:a="http://schemas.openxmlformats.org/drawingml/2006/main">
            <a:pPr>
              <a:defRPr sz="1800" b="0">
                <a:solidFill>
                  <a:srgbClr val="25354B"/>
                </a:solidFill>
              </a:defRPr>
            </a:pPr>
            <a:r>
              <a:t/>
            </a:r>
          </a:p>
          <a:p xmlns:a="http://schemas.openxmlformats.org/drawingml/2006/main">
            <a:pPr>
              <a:defRPr sz="1800" b="0">
                <a:solidFill>
                  <a:srgbClr val="25354B"/>
                </a:solidFill>
              </a:defRPr>
            </a:pPr>
            <a:r>
              <a:rPr sz="1800" b="0">
                <a:solidFill>
                  <a:srgbClr val="25354B"/>
                </a:solidFill>
              </a:rPr>
              <a:t>Enter a clear project name, then click Create project.</a:t>
            </a:r>
          </a:p>
          <a:p xmlns:a="http://schemas.openxmlformats.org/drawingml/2006/main">
            <a:pPr>
              <a:defRPr sz="1800" b="0">
                <a:solidFill>
                  <a:srgbClr val="25354B"/>
                </a:solidFill>
              </a:defRPr>
            </a:pPr>
            <a:r>
              <a:t/>
            </a:r>
          </a:p>
          <a:p xmlns:a="http://schemas.openxmlformats.org/drawingml/2006/main">
            <a:pPr>
              <a:defRPr sz="1800" b="0">
                <a:solidFill>
                  <a:srgbClr val="25354B"/>
                </a:solidFill>
              </a:defRPr>
            </a:pPr>
            <a:r>
              <a:rPr sz="1800" b="0">
                <a:solidFill>
                  <a:srgbClr val="25354B"/>
                </a:solidFill>
              </a:rPr>
              <a:t>Reuse this project’s workflow and policy for separate customer chats.</a:t>
            </a:r>
          </a:p>
        </p:txBody>
      </p:sp>
      <p:pic>
        <p:nvPicPr>
          <p:cNvPr id="5" name="">
            <a:extLst xmlns:a="http://schemas.openxmlformats.org/drawingml/2006/main">
              <a:ext uri="{FF2B5EF4-FFF2-40B4-BE49-F238E27FC236}">
                <a16:creationId xmlns:a16="http://schemas.microsoft.com/office/drawing/2014/main" id="{91277C02-00F7-44FE-A505-B1FC0E1B0731}"/>
              </a:ext>
            </a:extLst>
          </p:cNvPr>
          <p:cNvPicPr>
            <a:picLocks xmlns:a="http://schemas.openxmlformats.org/drawingml/2006/main" noChangeAspect="1"/>
          </p:cNvPicPr>
          <p:nvPr/>
        </p:nvPicPr>
        <p:blipFill>
          <a:blip xmlns:r="http://schemas.openxmlformats.org/officeDocument/2006/relationships" xmlns:a="http://schemas.openxmlformats.org/drawingml/2006/main" r:embed="R99a05ee5040e47f9"/>
          <a:stretch xmlns:a="http://schemas.openxmlformats.org/drawingml/2006/main"/>
        </p:blipFill>
        <p:spPr>
          <a:xfrm xmlns:a="http://schemas.openxmlformats.org/drawingml/2006/main">
            <a:off x="3925138" y="1666875"/>
            <a:ext cx="7532598" cy="3905250"/>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9A88B987-891D-43B9-A0B6-0A91B0820E5A}"/>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087DDF"/>
                </a:solidFill>
              </a:defRPr>
            </a:defPPr>
            <a:lvl1pPr>
              <a:defRPr sz="1425" b="0">
                <a:solidFill>
                  <a:srgbClr val="087DDF"/>
                </a:solidFill>
              </a:defRPr>
            </a:lvl1pPr>
            <a:lvl2pPr>
              <a:defRPr sz="1425" b="0">
                <a:solidFill>
                  <a:srgbClr val="087DDF"/>
                </a:solidFill>
              </a:defRPr>
            </a:lvl2pPr>
            <a:lvl3pPr>
              <a:defRPr sz="1425" b="0">
                <a:solidFill>
                  <a:srgbClr val="087DDF"/>
                </a:solidFill>
              </a:defRPr>
            </a:lvl3pPr>
            <a:lvl4pPr>
              <a:defRPr sz="1425" b="0">
                <a:solidFill>
                  <a:srgbClr val="087DDF"/>
                </a:solidFill>
              </a:defRPr>
            </a:lvl4pPr>
            <a:lvl5pPr>
              <a:defRPr sz="1425" b="0">
                <a:solidFill>
                  <a:srgbClr val="087DDF"/>
                </a:solidFill>
              </a:defRPr>
            </a:lvl5pPr>
            <a:lvl6pPr>
              <a:defRPr sz="1425" b="0">
                <a:solidFill>
                  <a:srgbClr val="087DDF"/>
                </a:solidFill>
              </a:defRPr>
            </a:lvl6pPr>
            <a:lvl7pPr>
              <a:defRPr sz="1425" b="0">
                <a:solidFill>
                  <a:srgbClr val="087DDF"/>
                </a:solidFill>
              </a:defRPr>
            </a:lvl7pPr>
            <a:lvl8pPr>
              <a:defRPr sz="1425" b="0">
                <a:solidFill>
                  <a:srgbClr val="087DDF"/>
                </a:solidFill>
              </a:defRPr>
            </a:lvl8pPr>
            <a:lvl9pPr>
              <a:defRPr sz="1425" b="0">
                <a:solidFill>
                  <a:srgbClr val="087DDF"/>
                </a:solidFill>
              </a:defRPr>
            </a:lvl9pPr>
          </a:lstStyle>
          <a:p xmlns:a="http://schemas.openxmlformats.org/drawingml/2006/main">
            <a:pPr>
              <a:defRPr sz="1425" b="0">
                <a:solidFill>
                  <a:srgbClr val="087DDF"/>
                </a:solidFill>
              </a:defRPr>
            </a:pPr>
            <a:r>
              <a:rPr sz="1425" b="0">
                <a:solidFill>
                  <a:srgbClr val="087DDF"/>
                </a:solidFill>
              </a:rPr>
              <a:t>Project name: Build 2 — Credit Application Review Walkthrough</a:t>
            </a:r>
          </a:p>
        </p:txBody>
      </p:sp>
      <p:sp>
        <p:nvSpPr>
          <p:cNvPr id="7" name="Footer">
            <a:extLst xmlns:a="http://schemas.openxmlformats.org/drawingml/2006/main">
              <a:ext uri="{FF2B5EF4-FFF2-40B4-BE49-F238E27FC236}">
                <a16:creationId xmlns:a16="http://schemas.microsoft.com/office/drawing/2014/main" id="{52374041-BB44-4FE4-BAAB-56F1180CC7EB}"/>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defRPr>
            </a:defPPr>
            <a:lvl1pPr>
              <a:defRPr sz="1200" b="0">
                <a:solidFill>
                  <a:srgbClr val="69778B"/>
                </a:solidFill>
              </a:defRPr>
            </a:lvl1pPr>
            <a:lvl2pPr>
              <a:defRPr sz="1200" b="0">
                <a:solidFill>
                  <a:srgbClr val="69778B"/>
                </a:solidFill>
              </a:defRPr>
            </a:lvl2pPr>
            <a:lvl3pPr>
              <a:defRPr sz="1200" b="0">
                <a:solidFill>
                  <a:srgbClr val="69778B"/>
                </a:solidFill>
              </a:defRPr>
            </a:lvl3pPr>
            <a:lvl4pPr>
              <a:defRPr sz="1200" b="0">
                <a:solidFill>
                  <a:srgbClr val="69778B"/>
                </a:solidFill>
              </a:defRPr>
            </a:lvl4pPr>
            <a:lvl5pPr>
              <a:defRPr sz="1200" b="0">
                <a:solidFill>
                  <a:srgbClr val="69778B"/>
                </a:solidFill>
              </a:defRPr>
            </a:lvl5pPr>
            <a:lvl6pPr>
              <a:defRPr sz="1200" b="0">
                <a:solidFill>
                  <a:srgbClr val="69778B"/>
                </a:solidFill>
              </a:defRPr>
            </a:lvl6pPr>
            <a:lvl7pPr>
              <a:defRPr sz="1200" b="0">
                <a:solidFill>
                  <a:srgbClr val="69778B"/>
                </a:solidFill>
              </a:defRPr>
            </a:lvl7pPr>
            <a:lvl8pPr>
              <a:defRPr sz="1200" b="0">
                <a:solidFill>
                  <a:srgbClr val="69778B"/>
                </a:solidFill>
              </a:defRPr>
            </a:lvl8pPr>
            <a:lvl9pPr>
              <a:defRPr sz="1200" b="0">
                <a:solidFill>
                  <a:srgbClr val="69778B"/>
                </a:solidFill>
              </a:defRPr>
            </a:lvl9pPr>
          </a:lstStyle>
          <a:p xmlns:a="http://schemas.openxmlformats.org/drawingml/2006/main">
            <a:pPr>
              <a:defRPr sz="1200" b="0">
                <a:solidFill>
                  <a:srgbClr val="69778B"/>
                </a:solidFill>
              </a:defRPr>
            </a:pPr>
            <a:r>
              <a:rPr sz="1200" b="0">
                <a:solidFill>
                  <a:srgbClr val="69778B"/>
                </a:solidFill>
              </a:rPr>
              <a:t>Build 2   /   Fictional training data   /   21 October 2026</a:t>
            </a:r>
          </a:p>
        </p:txBody>
      </p:sp>
    </p:spTree>
    <p:extLst>
      <p:ext uri="{BB962C8B-B14F-4D97-AF65-F5344CB8AC3E}">
        <p14:creationId xmlns:p14="http://schemas.microsoft.com/office/powerpoint/2010/main" val="81600941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592C8673-0360-4495-BAE3-203022F54385}"/>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defRPr>
            </a:defPPr>
            <a:lvl1pPr>
              <a:defRPr sz="1800" b="1">
                <a:solidFill>
                  <a:srgbClr val="087DDF"/>
                </a:solidFill>
              </a:defRPr>
            </a:lvl1pPr>
            <a:lvl2pPr>
              <a:defRPr sz="1800" b="1">
                <a:solidFill>
                  <a:srgbClr val="087DDF"/>
                </a:solidFill>
              </a:defRPr>
            </a:lvl2pPr>
            <a:lvl3pPr>
              <a:defRPr sz="1800" b="1">
                <a:solidFill>
                  <a:srgbClr val="087DDF"/>
                </a:solidFill>
              </a:defRPr>
            </a:lvl3pPr>
            <a:lvl4pPr>
              <a:defRPr sz="1800" b="1">
                <a:solidFill>
                  <a:srgbClr val="087DDF"/>
                </a:solidFill>
              </a:defRPr>
            </a:lvl4pPr>
            <a:lvl5pPr>
              <a:defRPr sz="1800" b="1">
                <a:solidFill>
                  <a:srgbClr val="087DDF"/>
                </a:solidFill>
              </a:defRPr>
            </a:lvl5pPr>
            <a:lvl6pPr>
              <a:defRPr sz="1800" b="1">
                <a:solidFill>
                  <a:srgbClr val="087DDF"/>
                </a:solidFill>
              </a:defRPr>
            </a:lvl6pPr>
            <a:lvl7pPr>
              <a:defRPr sz="1800" b="1">
                <a:solidFill>
                  <a:srgbClr val="087DDF"/>
                </a:solidFill>
              </a:defRPr>
            </a:lvl7pPr>
            <a:lvl8pPr>
              <a:defRPr sz="1800" b="1">
                <a:solidFill>
                  <a:srgbClr val="087DDF"/>
                </a:solidFill>
              </a:defRPr>
            </a:lvl8pPr>
            <a:lvl9pPr>
              <a:defRPr sz="1800" b="1">
                <a:solidFill>
                  <a:srgbClr val="087DDF"/>
                </a:solidFill>
              </a:defRPr>
            </a:lvl9pPr>
          </a:lstStyle>
          <a:p xmlns:a="http://schemas.openxmlformats.org/drawingml/2006/main">
            <a:pPr>
              <a:defRPr sz="1800" b="1">
                <a:solidFill>
                  <a:srgbClr val="087DDF"/>
                </a:solidFill>
              </a:defRPr>
            </a:pPr>
            <a:r>
              <a:rPr sz="1800" b="1">
                <a:solidFill>
                  <a:srgbClr val="087DDF"/>
                </a:solidFill>
              </a:rPr>
              <a:t>04</a:t>
            </a:r>
          </a:p>
        </p:txBody>
      </p:sp>
      <p:sp>
        <p:nvSpPr>
          <p:cNvPr id="3" name="Title">
            <a:extLst xmlns:a="http://schemas.openxmlformats.org/drawingml/2006/main">
              <a:ext uri="{FF2B5EF4-FFF2-40B4-BE49-F238E27FC236}">
                <a16:creationId xmlns:a16="http://schemas.microsoft.com/office/drawing/2014/main" id="{DA2F1CD9-FA39-4415-A19C-64C1604CFC6D}"/>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defRPr>
            </a:defPPr>
            <a:lvl1pPr>
              <a:defRPr sz="3300" b="1">
                <a:solidFill>
                  <a:srgbClr val="102744"/>
                </a:solidFill>
              </a:defRPr>
            </a:lvl1pPr>
            <a:lvl2pPr>
              <a:defRPr sz="3300" b="1">
                <a:solidFill>
                  <a:srgbClr val="102744"/>
                </a:solidFill>
              </a:defRPr>
            </a:lvl2pPr>
            <a:lvl3pPr>
              <a:defRPr sz="3300" b="1">
                <a:solidFill>
                  <a:srgbClr val="102744"/>
                </a:solidFill>
              </a:defRPr>
            </a:lvl3pPr>
            <a:lvl4pPr>
              <a:defRPr sz="3300" b="1">
                <a:solidFill>
                  <a:srgbClr val="102744"/>
                </a:solidFill>
              </a:defRPr>
            </a:lvl4pPr>
            <a:lvl5pPr>
              <a:defRPr sz="3300" b="1">
                <a:solidFill>
                  <a:srgbClr val="102744"/>
                </a:solidFill>
              </a:defRPr>
            </a:lvl5pPr>
            <a:lvl6pPr>
              <a:defRPr sz="3300" b="1">
                <a:solidFill>
                  <a:srgbClr val="102744"/>
                </a:solidFill>
              </a:defRPr>
            </a:lvl6pPr>
            <a:lvl7pPr>
              <a:defRPr sz="3300" b="1">
                <a:solidFill>
                  <a:srgbClr val="102744"/>
                </a:solidFill>
              </a:defRPr>
            </a:lvl7pPr>
            <a:lvl8pPr>
              <a:defRPr sz="3300" b="1">
                <a:solidFill>
                  <a:srgbClr val="102744"/>
                </a:solidFill>
              </a:defRPr>
            </a:lvl8pPr>
            <a:lvl9pPr>
              <a:defRPr sz="3300" b="1">
                <a:solidFill>
                  <a:srgbClr val="102744"/>
                </a:solidFill>
              </a:defRPr>
            </a:lvl9pPr>
          </a:lstStyle>
          <a:p xmlns:a="http://schemas.openxmlformats.org/drawingml/2006/main">
            <a:pPr>
              <a:defRPr sz="3300" b="1">
                <a:solidFill>
                  <a:srgbClr val="102744"/>
                </a:solidFill>
              </a:defRPr>
            </a:pPr>
            <a:r>
              <a:rPr sz="3300" b="1">
                <a:solidFill>
                  <a:srgbClr val="102744"/>
                </a:solidFill>
              </a:rPr>
              <a:t>Upload the reusable sources</a:t>
            </a:r>
          </a:p>
        </p:txBody>
      </p:sp>
      <p:sp>
        <p:nvSpPr>
          <p:cNvPr id="4" name="Body">
            <a:extLst xmlns:a="http://schemas.openxmlformats.org/drawingml/2006/main">
              <a:ext uri="{FF2B5EF4-FFF2-40B4-BE49-F238E27FC236}">
                <a16:creationId xmlns:a16="http://schemas.microsoft.com/office/drawing/2014/main" id="{E931C763-C07F-4715-A55D-EDD5372D7D97}"/>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defRPr>
            </a:defPPr>
            <a:lvl1pPr>
              <a:defRPr sz="1800" b="0">
                <a:solidFill>
                  <a:srgbClr val="25354B"/>
                </a:solidFill>
              </a:defRPr>
            </a:lvl1pPr>
            <a:lvl2pPr>
              <a:defRPr sz="1800" b="0">
                <a:solidFill>
                  <a:srgbClr val="25354B"/>
                </a:solidFill>
              </a:defRPr>
            </a:lvl2pPr>
            <a:lvl3pPr>
              <a:defRPr sz="1800" b="0">
                <a:solidFill>
                  <a:srgbClr val="25354B"/>
                </a:solidFill>
              </a:defRPr>
            </a:lvl3pPr>
            <a:lvl4pPr>
              <a:defRPr sz="1800" b="0">
                <a:solidFill>
                  <a:srgbClr val="25354B"/>
                </a:solidFill>
              </a:defRPr>
            </a:lvl4pPr>
            <a:lvl5pPr>
              <a:defRPr sz="1800" b="0">
                <a:solidFill>
                  <a:srgbClr val="25354B"/>
                </a:solidFill>
              </a:defRPr>
            </a:lvl5pPr>
            <a:lvl6pPr>
              <a:defRPr sz="1800" b="0">
                <a:solidFill>
                  <a:srgbClr val="25354B"/>
                </a:solidFill>
              </a:defRPr>
            </a:lvl6pPr>
            <a:lvl7pPr>
              <a:defRPr sz="1800" b="0">
                <a:solidFill>
                  <a:srgbClr val="25354B"/>
                </a:solidFill>
              </a:defRPr>
            </a:lvl7pPr>
            <a:lvl8pPr>
              <a:defRPr sz="1800" b="0">
                <a:solidFill>
                  <a:srgbClr val="25354B"/>
                </a:solidFill>
              </a:defRPr>
            </a:lvl8pPr>
            <a:lvl9pPr>
              <a:defRPr sz="1800" b="0">
                <a:solidFill>
                  <a:srgbClr val="25354B"/>
                </a:solidFill>
              </a:defRPr>
            </a:lvl9pPr>
          </a:lstStyle>
          <a:p xmlns:a="http://schemas.openxmlformats.org/drawingml/2006/main">
            <a:pPr>
              <a:defRPr sz="1800" b="0">
                <a:solidFill>
                  <a:srgbClr val="25354B"/>
                </a:solidFill>
              </a:defRPr>
            </a:pPr>
            <a:r>
              <a:rPr sz="1800" b="0">
                <a:solidFill>
                  <a:srgbClr val="25354B"/>
                </a:solidFill>
              </a:rPr>
              <a:t>Open Sources, then Add sources.</a:t>
            </a:r>
          </a:p>
          <a:p xmlns:a="http://schemas.openxmlformats.org/drawingml/2006/main">
            <a:pPr>
              <a:defRPr sz="1800" b="0">
                <a:solidFill>
                  <a:srgbClr val="25354B"/>
                </a:solidFill>
              </a:defRPr>
            </a:pPr>
            <a:r>
              <a:t/>
            </a:r>
          </a:p>
          <a:p xmlns:a="http://schemas.openxmlformats.org/drawingml/2006/main">
            <a:pPr>
              <a:defRPr sz="1800" b="0">
                <a:solidFill>
                  <a:srgbClr val="25354B"/>
                </a:solidFill>
              </a:defRPr>
            </a:pPr>
            <a:r>
              <a:rPr sz="1800" b="0">
                <a:solidFill>
                  <a:srgbClr val="25354B"/>
                </a:solidFill>
              </a:rPr>
              <a:t>Upload Build2_Prompts.docx and PDF 01, the mock credit policy.</a:t>
            </a:r>
          </a:p>
          <a:p xmlns:a="http://schemas.openxmlformats.org/drawingml/2006/main">
            <a:pPr>
              <a:defRPr sz="1800" b="0">
                <a:solidFill>
                  <a:srgbClr val="25354B"/>
                </a:solidFill>
              </a:defRPr>
            </a:pPr>
            <a:r>
              <a:t/>
            </a:r>
          </a:p>
          <a:p xmlns:a="http://schemas.openxmlformats.org/drawingml/2006/main">
            <a:pPr>
              <a:defRPr sz="1800" b="0">
                <a:solidFill>
                  <a:srgbClr val="25354B"/>
                </a:solidFill>
              </a:defRPr>
            </a:pPr>
            <a:r>
              <a:rPr sz="1800" b="0">
                <a:solidFill>
                  <a:srgbClr val="25354B"/>
                </a:solidFill>
              </a:rPr>
              <a:t>Wait for both uploads to finish.</a:t>
            </a:r>
          </a:p>
        </p:txBody>
      </p:sp>
      <p:pic>
        <p:nvPicPr>
          <p:cNvPr id="5" name="">
            <a:extLst xmlns:a="http://schemas.openxmlformats.org/drawingml/2006/main">
              <a:ext uri="{FF2B5EF4-FFF2-40B4-BE49-F238E27FC236}">
                <a16:creationId xmlns:a16="http://schemas.microsoft.com/office/drawing/2014/main" id="{5380D129-8181-42BE-849B-593D3130C75C}"/>
              </a:ext>
            </a:extLst>
          </p:cNvPr>
          <p:cNvPicPr>
            <a:picLocks xmlns:a="http://schemas.openxmlformats.org/drawingml/2006/main" noChangeAspect="1"/>
          </p:cNvPicPr>
          <p:nvPr/>
        </p:nvPicPr>
        <p:blipFill>
          <a:blip xmlns:r="http://schemas.openxmlformats.org/officeDocument/2006/relationships" xmlns:a="http://schemas.openxmlformats.org/drawingml/2006/main" r:embed="Rf403ced0d41d496e"/>
          <a:stretch xmlns:a="http://schemas.openxmlformats.org/drawingml/2006/main"/>
        </p:blipFill>
        <p:spPr>
          <a:xfrm xmlns:a="http://schemas.openxmlformats.org/drawingml/2006/main">
            <a:off x="3714750" y="2078148"/>
            <a:ext cx="7953375" cy="3082703"/>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98ECB4C7-CB41-409F-8EF9-58CB6ABFEF23}"/>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087DDF"/>
                </a:solidFill>
              </a:defRPr>
            </a:defPPr>
            <a:lvl1pPr>
              <a:defRPr sz="1425" b="0">
                <a:solidFill>
                  <a:srgbClr val="087DDF"/>
                </a:solidFill>
              </a:defRPr>
            </a:lvl1pPr>
            <a:lvl2pPr>
              <a:defRPr sz="1425" b="0">
                <a:solidFill>
                  <a:srgbClr val="087DDF"/>
                </a:solidFill>
              </a:defRPr>
            </a:lvl2pPr>
            <a:lvl3pPr>
              <a:defRPr sz="1425" b="0">
                <a:solidFill>
                  <a:srgbClr val="087DDF"/>
                </a:solidFill>
              </a:defRPr>
            </a:lvl3pPr>
            <a:lvl4pPr>
              <a:defRPr sz="1425" b="0">
                <a:solidFill>
                  <a:srgbClr val="087DDF"/>
                </a:solidFill>
              </a:defRPr>
            </a:lvl4pPr>
            <a:lvl5pPr>
              <a:defRPr sz="1425" b="0">
                <a:solidFill>
                  <a:srgbClr val="087DDF"/>
                </a:solidFill>
              </a:defRPr>
            </a:lvl5pPr>
            <a:lvl6pPr>
              <a:defRPr sz="1425" b="0">
                <a:solidFill>
                  <a:srgbClr val="087DDF"/>
                </a:solidFill>
              </a:defRPr>
            </a:lvl6pPr>
            <a:lvl7pPr>
              <a:defRPr sz="1425" b="0">
                <a:solidFill>
                  <a:srgbClr val="087DDF"/>
                </a:solidFill>
              </a:defRPr>
            </a:lvl7pPr>
            <a:lvl8pPr>
              <a:defRPr sz="1425" b="0">
                <a:solidFill>
                  <a:srgbClr val="087DDF"/>
                </a:solidFill>
              </a:defRPr>
            </a:lvl8pPr>
            <a:lvl9pPr>
              <a:defRPr sz="1425" b="0">
                <a:solidFill>
                  <a:srgbClr val="087DDF"/>
                </a:solidFill>
              </a:defRPr>
            </a:lvl9pPr>
          </a:lstStyle>
          <a:p xmlns:a="http://schemas.openxmlformats.org/drawingml/2006/main">
            <a:pPr>
              <a:defRPr sz="1425" b="0">
                <a:solidFill>
                  <a:srgbClr val="087DDF"/>
                </a:solidFill>
              </a:defRPr>
            </a:pPr>
            <a:r>
              <a:rPr sz="1425" b="0">
                <a:solidFill>
                  <a:srgbClr val="087DDF"/>
                </a:solidFill>
              </a:rPr>
              <a:t>Only the workflow and policy belong in project Sources.</a:t>
            </a:r>
          </a:p>
        </p:txBody>
      </p:sp>
      <p:sp>
        <p:nvSpPr>
          <p:cNvPr id="7" name="Footer">
            <a:extLst xmlns:a="http://schemas.openxmlformats.org/drawingml/2006/main">
              <a:ext uri="{FF2B5EF4-FFF2-40B4-BE49-F238E27FC236}">
                <a16:creationId xmlns:a16="http://schemas.microsoft.com/office/drawing/2014/main" id="{FABBD9D4-F56C-4459-9863-A4E2EEC053A9}"/>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defRPr>
            </a:defPPr>
            <a:lvl1pPr>
              <a:defRPr sz="1200" b="0">
                <a:solidFill>
                  <a:srgbClr val="69778B"/>
                </a:solidFill>
              </a:defRPr>
            </a:lvl1pPr>
            <a:lvl2pPr>
              <a:defRPr sz="1200" b="0">
                <a:solidFill>
                  <a:srgbClr val="69778B"/>
                </a:solidFill>
              </a:defRPr>
            </a:lvl2pPr>
            <a:lvl3pPr>
              <a:defRPr sz="1200" b="0">
                <a:solidFill>
                  <a:srgbClr val="69778B"/>
                </a:solidFill>
              </a:defRPr>
            </a:lvl3pPr>
            <a:lvl4pPr>
              <a:defRPr sz="1200" b="0">
                <a:solidFill>
                  <a:srgbClr val="69778B"/>
                </a:solidFill>
              </a:defRPr>
            </a:lvl4pPr>
            <a:lvl5pPr>
              <a:defRPr sz="1200" b="0">
                <a:solidFill>
                  <a:srgbClr val="69778B"/>
                </a:solidFill>
              </a:defRPr>
            </a:lvl5pPr>
            <a:lvl6pPr>
              <a:defRPr sz="1200" b="0">
                <a:solidFill>
                  <a:srgbClr val="69778B"/>
                </a:solidFill>
              </a:defRPr>
            </a:lvl6pPr>
            <a:lvl7pPr>
              <a:defRPr sz="1200" b="0">
                <a:solidFill>
                  <a:srgbClr val="69778B"/>
                </a:solidFill>
              </a:defRPr>
            </a:lvl7pPr>
            <a:lvl8pPr>
              <a:defRPr sz="1200" b="0">
                <a:solidFill>
                  <a:srgbClr val="69778B"/>
                </a:solidFill>
              </a:defRPr>
            </a:lvl8pPr>
            <a:lvl9pPr>
              <a:defRPr sz="1200" b="0">
                <a:solidFill>
                  <a:srgbClr val="69778B"/>
                </a:solidFill>
              </a:defRPr>
            </a:lvl9pPr>
          </a:lstStyle>
          <a:p xmlns:a="http://schemas.openxmlformats.org/drawingml/2006/main">
            <a:pPr>
              <a:defRPr sz="1200" b="0">
                <a:solidFill>
                  <a:srgbClr val="69778B"/>
                </a:solidFill>
              </a:defRPr>
            </a:pPr>
            <a:r>
              <a:rPr sz="1200" b="0">
                <a:solidFill>
                  <a:srgbClr val="69778B"/>
                </a:solidFill>
              </a:rPr>
              <a:t>Build 2   /   Fictional training data   /   21 October 2026</a:t>
            </a:r>
          </a:p>
        </p:txBody>
      </p:sp>
    </p:spTree>
    <p:extLst>
      <p:ext uri="{BB962C8B-B14F-4D97-AF65-F5344CB8AC3E}">
        <p14:creationId xmlns:p14="http://schemas.microsoft.com/office/powerpoint/2010/main" val="121087457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6A5ABB57-04B9-4F5F-8793-7CF9E6381886}"/>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defRPr>
            </a:defPPr>
            <a:lvl1pPr>
              <a:defRPr sz="1800" b="1">
                <a:solidFill>
                  <a:srgbClr val="087DDF"/>
                </a:solidFill>
              </a:defRPr>
            </a:lvl1pPr>
            <a:lvl2pPr>
              <a:defRPr sz="1800" b="1">
                <a:solidFill>
                  <a:srgbClr val="087DDF"/>
                </a:solidFill>
              </a:defRPr>
            </a:lvl2pPr>
            <a:lvl3pPr>
              <a:defRPr sz="1800" b="1">
                <a:solidFill>
                  <a:srgbClr val="087DDF"/>
                </a:solidFill>
              </a:defRPr>
            </a:lvl3pPr>
            <a:lvl4pPr>
              <a:defRPr sz="1800" b="1">
                <a:solidFill>
                  <a:srgbClr val="087DDF"/>
                </a:solidFill>
              </a:defRPr>
            </a:lvl4pPr>
            <a:lvl5pPr>
              <a:defRPr sz="1800" b="1">
                <a:solidFill>
                  <a:srgbClr val="087DDF"/>
                </a:solidFill>
              </a:defRPr>
            </a:lvl5pPr>
            <a:lvl6pPr>
              <a:defRPr sz="1800" b="1">
                <a:solidFill>
                  <a:srgbClr val="087DDF"/>
                </a:solidFill>
              </a:defRPr>
            </a:lvl6pPr>
            <a:lvl7pPr>
              <a:defRPr sz="1800" b="1">
                <a:solidFill>
                  <a:srgbClr val="087DDF"/>
                </a:solidFill>
              </a:defRPr>
            </a:lvl7pPr>
            <a:lvl8pPr>
              <a:defRPr sz="1800" b="1">
                <a:solidFill>
                  <a:srgbClr val="087DDF"/>
                </a:solidFill>
              </a:defRPr>
            </a:lvl8pPr>
            <a:lvl9pPr>
              <a:defRPr sz="1800" b="1">
                <a:solidFill>
                  <a:srgbClr val="087DDF"/>
                </a:solidFill>
              </a:defRPr>
            </a:lvl9pPr>
          </a:lstStyle>
          <a:p xmlns:a="http://schemas.openxmlformats.org/drawingml/2006/main">
            <a:pPr>
              <a:defRPr sz="1800" b="1">
                <a:solidFill>
                  <a:srgbClr val="087DDF"/>
                </a:solidFill>
              </a:defRPr>
            </a:pPr>
            <a:r>
              <a:rPr sz="1800" b="1">
                <a:solidFill>
                  <a:srgbClr val="087DDF"/>
                </a:solidFill>
              </a:rPr>
              <a:t>05</a:t>
            </a:r>
          </a:p>
        </p:txBody>
      </p:sp>
      <p:sp>
        <p:nvSpPr>
          <p:cNvPr id="3" name="Title">
            <a:extLst xmlns:a="http://schemas.openxmlformats.org/drawingml/2006/main">
              <a:ext uri="{FF2B5EF4-FFF2-40B4-BE49-F238E27FC236}">
                <a16:creationId xmlns:a16="http://schemas.microsoft.com/office/drawing/2014/main" id="{53923F17-F500-4557-B164-DB86991D5EEE}"/>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defRPr>
            </a:defPPr>
            <a:lvl1pPr>
              <a:defRPr sz="3300" b="1">
                <a:solidFill>
                  <a:srgbClr val="102744"/>
                </a:solidFill>
              </a:defRPr>
            </a:lvl1pPr>
            <a:lvl2pPr>
              <a:defRPr sz="3300" b="1">
                <a:solidFill>
                  <a:srgbClr val="102744"/>
                </a:solidFill>
              </a:defRPr>
            </a:lvl2pPr>
            <a:lvl3pPr>
              <a:defRPr sz="3300" b="1">
                <a:solidFill>
                  <a:srgbClr val="102744"/>
                </a:solidFill>
              </a:defRPr>
            </a:lvl3pPr>
            <a:lvl4pPr>
              <a:defRPr sz="3300" b="1">
                <a:solidFill>
                  <a:srgbClr val="102744"/>
                </a:solidFill>
              </a:defRPr>
            </a:lvl4pPr>
            <a:lvl5pPr>
              <a:defRPr sz="3300" b="1">
                <a:solidFill>
                  <a:srgbClr val="102744"/>
                </a:solidFill>
              </a:defRPr>
            </a:lvl5pPr>
            <a:lvl6pPr>
              <a:defRPr sz="3300" b="1">
                <a:solidFill>
                  <a:srgbClr val="102744"/>
                </a:solidFill>
              </a:defRPr>
            </a:lvl6pPr>
            <a:lvl7pPr>
              <a:defRPr sz="3300" b="1">
                <a:solidFill>
                  <a:srgbClr val="102744"/>
                </a:solidFill>
              </a:defRPr>
            </a:lvl7pPr>
            <a:lvl8pPr>
              <a:defRPr sz="3300" b="1">
                <a:solidFill>
                  <a:srgbClr val="102744"/>
                </a:solidFill>
              </a:defRPr>
            </a:lvl8pPr>
            <a:lvl9pPr>
              <a:defRPr sz="3300" b="1">
                <a:solidFill>
                  <a:srgbClr val="102744"/>
                </a:solidFill>
              </a:defRPr>
            </a:lvl9pPr>
          </a:lstStyle>
          <a:p xmlns:a="http://schemas.openxmlformats.org/drawingml/2006/main">
            <a:pPr>
              <a:defRPr sz="3300" b="1">
                <a:solidFill>
                  <a:srgbClr val="102744"/>
                </a:solidFill>
              </a:defRPr>
            </a:pPr>
            <a:r>
              <a:rPr sz="3300" b="1">
                <a:solidFill>
                  <a:srgbClr val="102744"/>
                </a:solidFill>
              </a:rPr>
              <a:t>Two sources; customer files in chat</a:t>
            </a:r>
          </a:p>
        </p:txBody>
      </p:sp>
      <p:sp>
        <p:nvSpPr>
          <p:cNvPr id="4" name="Body">
            <a:extLst xmlns:a="http://schemas.openxmlformats.org/drawingml/2006/main">
              <a:ext uri="{FF2B5EF4-FFF2-40B4-BE49-F238E27FC236}">
                <a16:creationId xmlns:a16="http://schemas.microsoft.com/office/drawing/2014/main" id="{D494912B-031F-4775-97D4-250CE5A3C9A0}"/>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defRPr>
            </a:defPPr>
            <a:lvl1pPr>
              <a:defRPr sz="1800" b="0">
                <a:solidFill>
                  <a:srgbClr val="25354B"/>
                </a:solidFill>
              </a:defRPr>
            </a:lvl1pPr>
            <a:lvl2pPr>
              <a:defRPr sz="1800" b="0">
                <a:solidFill>
                  <a:srgbClr val="25354B"/>
                </a:solidFill>
              </a:defRPr>
            </a:lvl2pPr>
            <a:lvl3pPr>
              <a:defRPr sz="1800" b="0">
                <a:solidFill>
                  <a:srgbClr val="25354B"/>
                </a:solidFill>
              </a:defRPr>
            </a:lvl3pPr>
            <a:lvl4pPr>
              <a:defRPr sz="1800" b="0">
                <a:solidFill>
                  <a:srgbClr val="25354B"/>
                </a:solidFill>
              </a:defRPr>
            </a:lvl4pPr>
            <a:lvl5pPr>
              <a:defRPr sz="1800" b="0">
                <a:solidFill>
                  <a:srgbClr val="25354B"/>
                </a:solidFill>
              </a:defRPr>
            </a:lvl5pPr>
            <a:lvl6pPr>
              <a:defRPr sz="1800" b="0">
                <a:solidFill>
                  <a:srgbClr val="25354B"/>
                </a:solidFill>
              </a:defRPr>
            </a:lvl6pPr>
            <a:lvl7pPr>
              <a:defRPr sz="1800" b="0">
                <a:solidFill>
                  <a:srgbClr val="25354B"/>
                </a:solidFill>
              </a:defRPr>
            </a:lvl7pPr>
            <a:lvl8pPr>
              <a:defRPr sz="1800" b="0">
                <a:solidFill>
                  <a:srgbClr val="25354B"/>
                </a:solidFill>
              </a:defRPr>
            </a:lvl8pPr>
            <a:lvl9pPr>
              <a:defRPr sz="1800" b="0">
                <a:solidFill>
                  <a:srgbClr val="25354B"/>
                </a:solidFill>
              </a:defRPr>
            </a:lvl9pPr>
          </a:lstStyle>
          <a:p xmlns:a="http://schemas.openxmlformats.org/drawingml/2006/main">
            <a:pPr>
              <a:defRPr sz="1800" b="0">
                <a:solidFill>
                  <a:srgbClr val="25354B"/>
                </a:solidFill>
              </a:defRPr>
            </a:pPr>
            <a:r>
              <a:rPr sz="1800" b="0">
                <a:solidFill>
                  <a:srgbClr val="25354B"/>
                </a:solidFill>
              </a:rPr>
              <a:t>Check that Sources contains exactly two reusable files.</a:t>
            </a:r>
          </a:p>
          <a:p xmlns:a="http://schemas.openxmlformats.org/drawingml/2006/main">
            <a:pPr>
              <a:defRPr sz="1800" b="0">
                <a:solidFill>
                  <a:srgbClr val="25354B"/>
                </a:solidFill>
              </a:defRPr>
            </a:pPr>
            <a:r>
              <a:t/>
            </a:r>
          </a:p>
          <a:p xmlns:a="http://schemas.openxmlformats.org/drawingml/2006/main">
            <a:pPr>
              <a:defRPr sz="1800" b="0">
                <a:solidFill>
                  <a:srgbClr val="25354B"/>
                </a:solidFill>
              </a:defRPr>
            </a:pPr>
            <a:r>
              <a:rPr sz="1800" b="0">
                <a:solidFill>
                  <a:srgbClr val="25354B"/>
                </a:solidFill>
              </a:rPr>
              <a:t>Start a new chat for each customer.</a:t>
            </a:r>
          </a:p>
          <a:p xmlns:a="http://schemas.openxmlformats.org/drawingml/2006/main">
            <a:pPr>
              <a:defRPr sz="1800" b="0">
                <a:solidFill>
                  <a:srgbClr val="25354B"/>
                </a:solidFill>
              </a:defRPr>
            </a:pPr>
            <a:r>
              <a:t/>
            </a:r>
          </a:p>
          <a:p xmlns:a="http://schemas.openxmlformats.org/drawingml/2006/main">
            <a:pPr>
              <a:defRPr sz="1800" b="0">
                <a:solidFill>
                  <a:srgbClr val="25354B"/>
                </a:solidFill>
              </a:defRPr>
            </a:pPr>
            <a:r>
              <a:rPr sz="1800" b="0">
                <a:solidFill>
                  <a:srgbClr val="25354B"/>
                </a:solidFill>
              </a:rPr>
              <a:t>Attach that customer’s application and financials in the message.</a:t>
            </a:r>
          </a:p>
        </p:txBody>
      </p:sp>
      <p:pic>
        <p:nvPicPr>
          <p:cNvPr id="5" name="">
            <a:extLst xmlns:a="http://schemas.openxmlformats.org/drawingml/2006/main">
              <a:ext uri="{FF2B5EF4-FFF2-40B4-BE49-F238E27FC236}">
                <a16:creationId xmlns:a16="http://schemas.microsoft.com/office/drawing/2014/main" id="{1D864742-2124-4869-9B67-EFE64121E909}"/>
              </a:ext>
            </a:extLst>
          </p:cNvPr>
          <p:cNvPicPr>
            <a:picLocks xmlns:a="http://schemas.openxmlformats.org/drawingml/2006/main" noChangeAspect="1"/>
          </p:cNvPicPr>
          <p:nvPr/>
        </p:nvPicPr>
        <p:blipFill>
          <a:blip xmlns:r="http://schemas.openxmlformats.org/officeDocument/2006/relationships" xmlns:a="http://schemas.openxmlformats.org/drawingml/2006/main" r:embed="Rb51d927bbe5e4037"/>
          <a:stretch xmlns:a="http://schemas.openxmlformats.org/drawingml/2006/main"/>
        </p:blipFill>
        <p:spPr>
          <a:xfrm xmlns:a="http://schemas.openxmlformats.org/drawingml/2006/main">
            <a:off x="5853673" y="1666875"/>
            <a:ext cx="3675529" cy="3905250"/>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DA5AE5E6-1C51-4436-A3D9-85C4345E1190}"/>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087DDF"/>
                </a:solidFill>
              </a:defRPr>
            </a:defPPr>
            <a:lvl1pPr>
              <a:defRPr sz="1425" b="0">
                <a:solidFill>
                  <a:srgbClr val="087DDF"/>
                </a:solidFill>
              </a:defRPr>
            </a:lvl1pPr>
            <a:lvl2pPr>
              <a:defRPr sz="1425" b="0">
                <a:solidFill>
                  <a:srgbClr val="087DDF"/>
                </a:solidFill>
              </a:defRPr>
            </a:lvl2pPr>
            <a:lvl3pPr>
              <a:defRPr sz="1425" b="0">
                <a:solidFill>
                  <a:srgbClr val="087DDF"/>
                </a:solidFill>
              </a:defRPr>
            </a:lvl3pPr>
            <a:lvl4pPr>
              <a:defRPr sz="1425" b="0">
                <a:solidFill>
                  <a:srgbClr val="087DDF"/>
                </a:solidFill>
              </a:defRPr>
            </a:lvl4pPr>
            <a:lvl5pPr>
              <a:defRPr sz="1425" b="0">
                <a:solidFill>
                  <a:srgbClr val="087DDF"/>
                </a:solidFill>
              </a:defRPr>
            </a:lvl5pPr>
            <a:lvl6pPr>
              <a:defRPr sz="1425" b="0">
                <a:solidFill>
                  <a:srgbClr val="087DDF"/>
                </a:solidFill>
              </a:defRPr>
            </a:lvl6pPr>
            <a:lvl7pPr>
              <a:defRPr sz="1425" b="0">
                <a:solidFill>
                  <a:srgbClr val="087DDF"/>
                </a:solidFill>
              </a:defRPr>
            </a:lvl7pPr>
            <a:lvl8pPr>
              <a:defRPr sz="1425" b="0">
                <a:solidFill>
                  <a:srgbClr val="087DDF"/>
                </a:solidFill>
              </a:defRPr>
            </a:lvl8pPr>
            <a:lvl9pPr>
              <a:defRPr sz="1425" b="0">
                <a:solidFill>
                  <a:srgbClr val="087DDF"/>
                </a:solidFill>
              </a:defRPr>
            </a:lvl9pPr>
          </a:lstStyle>
          <a:p xmlns:a="http://schemas.openxmlformats.org/drawingml/2006/main">
            <a:pPr>
              <a:defRPr sz="1425" b="0">
                <a:solidFill>
                  <a:srgbClr val="087DDF"/>
                </a:solidFill>
              </a:defRPr>
            </a:pPr>
            <a:r>
              <a:rPr sz="1425" b="0">
                <a:solidFill>
                  <a:srgbClr val="087DDF"/>
                </a:solidFill>
              </a:rPr>
              <a:t>Top: customer PDFs in the chat. Bottom: prompt and policy in project Sources.</a:t>
            </a:r>
          </a:p>
        </p:txBody>
      </p:sp>
      <p:sp>
        <p:nvSpPr>
          <p:cNvPr id="7" name="Footer">
            <a:extLst xmlns:a="http://schemas.openxmlformats.org/drawingml/2006/main">
              <a:ext uri="{FF2B5EF4-FFF2-40B4-BE49-F238E27FC236}">
                <a16:creationId xmlns:a16="http://schemas.microsoft.com/office/drawing/2014/main" id="{C6634EDC-D2BC-4F9B-98F2-CDE3951D880D}"/>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defRPr>
            </a:defPPr>
            <a:lvl1pPr>
              <a:defRPr sz="1200" b="0">
                <a:solidFill>
                  <a:srgbClr val="69778B"/>
                </a:solidFill>
              </a:defRPr>
            </a:lvl1pPr>
            <a:lvl2pPr>
              <a:defRPr sz="1200" b="0">
                <a:solidFill>
                  <a:srgbClr val="69778B"/>
                </a:solidFill>
              </a:defRPr>
            </a:lvl2pPr>
            <a:lvl3pPr>
              <a:defRPr sz="1200" b="0">
                <a:solidFill>
                  <a:srgbClr val="69778B"/>
                </a:solidFill>
              </a:defRPr>
            </a:lvl3pPr>
            <a:lvl4pPr>
              <a:defRPr sz="1200" b="0">
                <a:solidFill>
                  <a:srgbClr val="69778B"/>
                </a:solidFill>
              </a:defRPr>
            </a:lvl4pPr>
            <a:lvl5pPr>
              <a:defRPr sz="1200" b="0">
                <a:solidFill>
                  <a:srgbClr val="69778B"/>
                </a:solidFill>
              </a:defRPr>
            </a:lvl5pPr>
            <a:lvl6pPr>
              <a:defRPr sz="1200" b="0">
                <a:solidFill>
                  <a:srgbClr val="69778B"/>
                </a:solidFill>
              </a:defRPr>
            </a:lvl6pPr>
            <a:lvl7pPr>
              <a:defRPr sz="1200" b="0">
                <a:solidFill>
                  <a:srgbClr val="69778B"/>
                </a:solidFill>
              </a:defRPr>
            </a:lvl7pPr>
            <a:lvl8pPr>
              <a:defRPr sz="1200" b="0">
                <a:solidFill>
                  <a:srgbClr val="69778B"/>
                </a:solidFill>
              </a:defRPr>
            </a:lvl8pPr>
            <a:lvl9pPr>
              <a:defRPr sz="1200" b="0">
                <a:solidFill>
                  <a:srgbClr val="69778B"/>
                </a:solidFill>
              </a:defRPr>
            </a:lvl9pPr>
          </a:lstStyle>
          <a:p xmlns:a="http://schemas.openxmlformats.org/drawingml/2006/main">
            <a:pPr>
              <a:defRPr sz="1200" b="0">
                <a:solidFill>
                  <a:srgbClr val="69778B"/>
                </a:solidFill>
              </a:defRPr>
            </a:pPr>
            <a:r>
              <a:rPr sz="1200" b="0">
                <a:solidFill>
                  <a:srgbClr val="69778B"/>
                </a:solidFill>
              </a:rPr>
              <a:t>Build 2   /   Fictional training data   /   21 October 2026</a:t>
            </a:r>
          </a:p>
        </p:txBody>
      </p:sp>
    </p:spTree>
    <p:extLst>
      <p:ext uri="{BB962C8B-B14F-4D97-AF65-F5344CB8AC3E}">
        <p14:creationId xmlns:p14="http://schemas.microsoft.com/office/powerpoint/2010/main" val="3658699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11EE562F-2998-4811-B478-625925A4D251}"/>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defRPr>
            </a:defPPr>
            <a:lvl1pPr>
              <a:defRPr sz="1800" b="1">
                <a:solidFill>
                  <a:srgbClr val="087DDF"/>
                </a:solidFill>
              </a:defRPr>
            </a:lvl1pPr>
            <a:lvl2pPr>
              <a:defRPr sz="1800" b="1">
                <a:solidFill>
                  <a:srgbClr val="087DDF"/>
                </a:solidFill>
              </a:defRPr>
            </a:lvl2pPr>
            <a:lvl3pPr>
              <a:defRPr sz="1800" b="1">
                <a:solidFill>
                  <a:srgbClr val="087DDF"/>
                </a:solidFill>
              </a:defRPr>
            </a:lvl3pPr>
            <a:lvl4pPr>
              <a:defRPr sz="1800" b="1">
                <a:solidFill>
                  <a:srgbClr val="087DDF"/>
                </a:solidFill>
              </a:defRPr>
            </a:lvl4pPr>
            <a:lvl5pPr>
              <a:defRPr sz="1800" b="1">
                <a:solidFill>
                  <a:srgbClr val="087DDF"/>
                </a:solidFill>
              </a:defRPr>
            </a:lvl5pPr>
            <a:lvl6pPr>
              <a:defRPr sz="1800" b="1">
                <a:solidFill>
                  <a:srgbClr val="087DDF"/>
                </a:solidFill>
              </a:defRPr>
            </a:lvl6pPr>
            <a:lvl7pPr>
              <a:defRPr sz="1800" b="1">
                <a:solidFill>
                  <a:srgbClr val="087DDF"/>
                </a:solidFill>
              </a:defRPr>
            </a:lvl7pPr>
            <a:lvl8pPr>
              <a:defRPr sz="1800" b="1">
                <a:solidFill>
                  <a:srgbClr val="087DDF"/>
                </a:solidFill>
              </a:defRPr>
            </a:lvl8pPr>
            <a:lvl9pPr>
              <a:defRPr sz="1800" b="1">
                <a:solidFill>
                  <a:srgbClr val="087DDF"/>
                </a:solidFill>
              </a:defRPr>
            </a:lvl9pPr>
          </a:lstStyle>
          <a:p xmlns:a="http://schemas.openxmlformats.org/drawingml/2006/main">
            <a:pPr>
              <a:defRPr sz="1800" b="1">
                <a:solidFill>
                  <a:srgbClr val="087DDF"/>
                </a:solidFill>
              </a:defRPr>
            </a:pPr>
            <a:r>
              <a:rPr sz="1800" b="1">
                <a:solidFill>
                  <a:srgbClr val="087DDF"/>
                </a:solidFill>
              </a:rPr>
              <a:t>06</a:t>
            </a:r>
          </a:p>
        </p:txBody>
      </p:sp>
      <p:sp>
        <p:nvSpPr>
          <p:cNvPr id="3" name="Title">
            <a:extLst xmlns:a="http://schemas.openxmlformats.org/drawingml/2006/main">
              <a:ext uri="{FF2B5EF4-FFF2-40B4-BE49-F238E27FC236}">
                <a16:creationId xmlns:a16="http://schemas.microsoft.com/office/drawing/2014/main" id="{3949974F-AD54-4249-8E15-9624FD4FDF8F}"/>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defRPr>
            </a:defPPr>
            <a:lvl1pPr>
              <a:defRPr sz="3300" b="1">
                <a:solidFill>
                  <a:srgbClr val="102744"/>
                </a:solidFill>
              </a:defRPr>
            </a:lvl1pPr>
            <a:lvl2pPr>
              <a:defRPr sz="3300" b="1">
                <a:solidFill>
                  <a:srgbClr val="102744"/>
                </a:solidFill>
              </a:defRPr>
            </a:lvl2pPr>
            <a:lvl3pPr>
              <a:defRPr sz="3300" b="1">
                <a:solidFill>
                  <a:srgbClr val="102744"/>
                </a:solidFill>
              </a:defRPr>
            </a:lvl3pPr>
            <a:lvl4pPr>
              <a:defRPr sz="3300" b="1">
                <a:solidFill>
                  <a:srgbClr val="102744"/>
                </a:solidFill>
              </a:defRPr>
            </a:lvl4pPr>
            <a:lvl5pPr>
              <a:defRPr sz="3300" b="1">
                <a:solidFill>
                  <a:srgbClr val="102744"/>
                </a:solidFill>
              </a:defRPr>
            </a:lvl5pPr>
            <a:lvl6pPr>
              <a:defRPr sz="3300" b="1">
                <a:solidFill>
                  <a:srgbClr val="102744"/>
                </a:solidFill>
              </a:defRPr>
            </a:lvl6pPr>
            <a:lvl7pPr>
              <a:defRPr sz="3300" b="1">
                <a:solidFill>
                  <a:srgbClr val="102744"/>
                </a:solidFill>
              </a:defRPr>
            </a:lvl7pPr>
            <a:lvl8pPr>
              <a:defRPr sz="3300" b="1">
                <a:solidFill>
                  <a:srgbClr val="102744"/>
                </a:solidFill>
              </a:defRPr>
            </a:lvl8pPr>
            <a:lvl9pPr>
              <a:defRPr sz="3300" b="1">
                <a:solidFill>
                  <a:srgbClr val="102744"/>
                </a:solidFill>
              </a:defRPr>
            </a:lvl9pPr>
          </a:lstStyle>
          <a:p xmlns:a="http://schemas.openxmlformats.org/drawingml/2006/main">
            <a:pPr>
              <a:defRPr sz="3300" b="1">
                <a:solidFill>
                  <a:srgbClr val="102744"/>
                </a:solidFill>
              </a:defRPr>
            </a:pPr>
            <a:r>
              <a:rPr sz="3300" b="1">
                <a:solidFill>
                  <a:srgbClr val="102744"/>
                </a:solidFill>
              </a:rPr>
              <a:t>Project instructions</a:t>
            </a:r>
          </a:p>
        </p:txBody>
      </p:sp>
      <p:sp>
        <p:nvSpPr>
          <p:cNvPr id="4" name="Body">
            <a:extLst xmlns:a="http://schemas.openxmlformats.org/drawingml/2006/main">
              <a:ext uri="{FF2B5EF4-FFF2-40B4-BE49-F238E27FC236}">
                <a16:creationId xmlns:a16="http://schemas.microsoft.com/office/drawing/2014/main" id="{A7EACFA3-5F0D-4D4E-B471-69BD4EFA80D9}"/>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defRPr>
            </a:defPPr>
            <a:lvl1pPr>
              <a:defRPr sz="1800" b="0">
                <a:solidFill>
                  <a:srgbClr val="25354B"/>
                </a:solidFill>
              </a:defRPr>
            </a:lvl1pPr>
            <a:lvl2pPr>
              <a:defRPr sz="1800" b="0">
                <a:solidFill>
                  <a:srgbClr val="25354B"/>
                </a:solidFill>
              </a:defRPr>
            </a:lvl2pPr>
            <a:lvl3pPr>
              <a:defRPr sz="1800" b="0">
                <a:solidFill>
                  <a:srgbClr val="25354B"/>
                </a:solidFill>
              </a:defRPr>
            </a:lvl3pPr>
            <a:lvl4pPr>
              <a:defRPr sz="1800" b="0">
                <a:solidFill>
                  <a:srgbClr val="25354B"/>
                </a:solidFill>
              </a:defRPr>
            </a:lvl4pPr>
            <a:lvl5pPr>
              <a:defRPr sz="1800" b="0">
                <a:solidFill>
                  <a:srgbClr val="25354B"/>
                </a:solidFill>
              </a:defRPr>
            </a:lvl5pPr>
            <a:lvl6pPr>
              <a:defRPr sz="1800" b="0">
                <a:solidFill>
                  <a:srgbClr val="25354B"/>
                </a:solidFill>
              </a:defRPr>
            </a:lvl6pPr>
            <a:lvl7pPr>
              <a:defRPr sz="1800" b="0">
                <a:solidFill>
                  <a:srgbClr val="25354B"/>
                </a:solidFill>
              </a:defRPr>
            </a:lvl7pPr>
            <a:lvl8pPr>
              <a:defRPr sz="1800" b="0">
                <a:solidFill>
                  <a:srgbClr val="25354B"/>
                </a:solidFill>
              </a:defRPr>
            </a:lvl8pPr>
            <a:lvl9pPr>
              <a:defRPr sz="1800" b="0">
                <a:solidFill>
                  <a:srgbClr val="25354B"/>
                </a:solidFill>
              </a:defRPr>
            </a:lvl9pPr>
          </a:lstStyle>
          <a:p xmlns:a="http://schemas.openxmlformats.org/drawingml/2006/main">
            <a:pPr>
              <a:defRPr sz="1800" b="0">
                <a:solidFill>
                  <a:srgbClr val="25354B"/>
                </a:solidFill>
              </a:defRPr>
            </a:pPr>
            <a:r>
              <a:rPr sz="1800" b="0">
                <a:solidFill>
                  <a:srgbClr val="25354B"/>
                </a:solidFill>
              </a:rPr>
              <a:t>Open Project settings.</a:t>
            </a:r>
          </a:p>
          <a:p xmlns:a="http://schemas.openxmlformats.org/drawingml/2006/main">
            <a:pPr>
              <a:defRPr sz="1800" b="0">
                <a:solidFill>
                  <a:srgbClr val="25354B"/>
                </a:solidFill>
              </a:defRPr>
            </a:pPr>
            <a:r>
              <a:t/>
            </a:r>
          </a:p>
          <a:p xmlns:a="http://schemas.openxmlformats.org/drawingml/2006/main">
            <a:pPr>
              <a:defRPr sz="1800" b="0">
                <a:solidFill>
                  <a:srgbClr val="25354B"/>
                </a:solidFill>
              </a:defRPr>
            </a:pPr>
            <a:r>
              <a:rPr sz="1800" b="0">
                <a:solidFill>
                  <a:srgbClr val="25354B"/>
                </a:solidFill>
              </a:rPr>
              <a:t>Tell ChatGPT to follow the prompt and policy.</a:t>
            </a:r>
          </a:p>
          <a:p xmlns:a="http://schemas.openxmlformats.org/drawingml/2006/main">
            <a:pPr>
              <a:defRPr sz="1800" b="0">
                <a:solidFill>
                  <a:srgbClr val="25354B"/>
                </a:solidFill>
              </a:defRPr>
            </a:pPr>
            <a:r>
              <a:t/>
            </a:r>
          </a:p>
          <a:p xmlns:a="http://schemas.openxmlformats.org/drawingml/2006/main">
            <a:pPr>
              <a:defRPr sz="1800" b="0">
                <a:solidFill>
                  <a:srgbClr val="25354B"/>
                </a:solidFill>
              </a:defRPr>
            </a:pPr>
            <a:r>
              <a:rPr sz="1800" b="0">
                <a:solidFill>
                  <a:srgbClr val="25354B"/>
                </a:solidFill>
              </a:rPr>
              <a:t>Require the customer documents attached to the current chat.</a:t>
            </a:r>
          </a:p>
          <a:p xmlns:a="http://schemas.openxmlformats.org/drawingml/2006/main">
            <a:pPr>
              <a:defRPr sz="1800" b="0">
                <a:solidFill>
                  <a:srgbClr val="25354B"/>
                </a:solidFill>
              </a:defRPr>
            </a:pPr>
            <a:r>
              <a:rPr sz="1800" b="0">
                <a:solidFill>
                  <a:srgbClr val="25354B"/>
                </a:solidFill>
              </a:rPr>
              <a:t/>
            </a:r>
          </a:p>
          <a:p xmlns:a="http://schemas.openxmlformats.org/drawingml/2006/main">
            <a:pPr>
              <a:defRPr sz="1800" b="0">
                <a:solidFill>
                  <a:srgbClr val="25354B"/>
                </a:solidFill>
              </a:defRPr>
            </a:pPr>
            <a:r>
              <a:rPr sz="1800" b="0">
                <a:solidFill>
                  <a:srgbClr val="25354B"/>
                </a:solidFill>
              </a:rPr>
              <a:t>Save the instructions.</a:t>
            </a:r>
          </a:p>
        </p:txBody>
      </p:sp>
      <p:pic>
        <p:nvPicPr>
          <p:cNvPr id="5" name="">
            <a:extLst xmlns:a="http://schemas.openxmlformats.org/drawingml/2006/main">
              <a:ext uri="{FF2B5EF4-FFF2-40B4-BE49-F238E27FC236}">
                <a16:creationId xmlns:a16="http://schemas.microsoft.com/office/drawing/2014/main" id="{08B97C93-7676-40AD-AE5D-8460A06E4231}"/>
              </a:ext>
            </a:extLst>
          </p:cNvPr>
          <p:cNvPicPr>
            <a:picLocks xmlns:a="http://schemas.openxmlformats.org/drawingml/2006/main" noChangeAspect="1"/>
          </p:cNvPicPr>
          <p:nvPr/>
        </p:nvPicPr>
        <p:blipFill>
          <a:blip xmlns:r="http://schemas.openxmlformats.org/officeDocument/2006/relationships" xmlns:a="http://schemas.openxmlformats.org/drawingml/2006/main" r:embed="R40051b291e124d55"/>
          <a:stretch xmlns:a="http://schemas.openxmlformats.org/drawingml/2006/main"/>
        </p:blipFill>
        <p:spPr>
          <a:xfrm xmlns:a="http://schemas.openxmlformats.org/drawingml/2006/main">
            <a:off x="3966986" y="1666875"/>
            <a:ext cx="7448903" cy="3905250"/>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D13F5C07-9BD3-465C-BC9D-FAF4DD6F7E87}"/>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087DDF"/>
                </a:solidFill>
              </a:defRPr>
            </a:defPPr>
            <a:lvl1pPr>
              <a:defRPr sz="1425" b="0">
                <a:solidFill>
                  <a:srgbClr val="087DDF"/>
                </a:solidFill>
              </a:defRPr>
            </a:lvl1pPr>
            <a:lvl2pPr>
              <a:defRPr sz="1425" b="0">
                <a:solidFill>
                  <a:srgbClr val="087DDF"/>
                </a:solidFill>
              </a:defRPr>
            </a:lvl2pPr>
            <a:lvl3pPr>
              <a:defRPr sz="1425" b="0">
                <a:solidFill>
                  <a:srgbClr val="087DDF"/>
                </a:solidFill>
              </a:defRPr>
            </a:lvl3pPr>
            <a:lvl4pPr>
              <a:defRPr sz="1425" b="0">
                <a:solidFill>
                  <a:srgbClr val="087DDF"/>
                </a:solidFill>
              </a:defRPr>
            </a:lvl4pPr>
            <a:lvl5pPr>
              <a:defRPr sz="1425" b="0">
                <a:solidFill>
                  <a:srgbClr val="087DDF"/>
                </a:solidFill>
              </a:defRPr>
            </a:lvl5pPr>
            <a:lvl6pPr>
              <a:defRPr sz="1425" b="0">
                <a:solidFill>
                  <a:srgbClr val="087DDF"/>
                </a:solidFill>
              </a:defRPr>
            </a:lvl6pPr>
            <a:lvl7pPr>
              <a:defRPr sz="1425" b="0">
                <a:solidFill>
                  <a:srgbClr val="087DDF"/>
                </a:solidFill>
              </a:defRPr>
            </a:lvl7pPr>
            <a:lvl8pPr>
              <a:defRPr sz="1425" b="0">
                <a:solidFill>
                  <a:srgbClr val="087DDF"/>
                </a:solidFill>
              </a:defRPr>
            </a:lvl8pPr>
            <a:lvl9pPr>
              <a:defRPr sz="1425" b="0">
                <a:solidFill>
                  <a:srgbClr val="087DDF"/>
                </a:solidFill>
              </a:defRPr>
            </a:lvl9pPr>
          </a:lstStyle>
          <a:p xmlns:a="http://schemas.openxmlformats.org/drawingml/2006/main">
            <a:pPr>
              <a:defRPr sz="1425" b="0">
                <a:solidFill>
                  <a:srgbClr val="087DDF"/>
                </a:solidFill>
              </a:defRPr>
            </a:pPr>
            <a:r>
              <a:rPr sz="1425" b="0">
                <a:solidFill>
                  <a:srgbClr val="087DDF"/>
                </a:solidFill>
              </a:rPr>
              <a:t>Use the current chat’s customer evidence; ask if either document is missing.</a:t>
            </a:r>
          </a:p>
        </p:txBody>
      </p:sp>
      <p:sp>
        <p:nvSpPr>
          <p:cNvPr id="7" name="Footer">
            <a:extLst xmlns:a="http://schemas.openxmlformats.org/drawingml/2006/main">
              <a:ext uri="{FF2B5EF4-FFF2-40B4-BE49-F238E27FC236}">
                <a16:creationId xmlns:a16="http://schemas.microsoft.com/office/drawing/2014/main" id="{301172B2-1962-441C-BEB3-AE900F364128}"/>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defRPr>
            </a:defPPr>
            <a:lvl1pPr>
              <a:defRPr sz="1200" b="0">
                <a:solidFill>
                  <a:srgbClr val="69778B"/>
                </a:solidFill>
              </a:defRPr>
            </a:lvl1pPr>
            <a:lvl2pPr>
              <a:defRPr sz="1200" b="0">
                <a:solidFill>
                  <a:srgbClr val="69778B"/>
                </a:solidFill>
              </a:defRPr>
            </a:lvl2pPr>
            <a:lvl3pPr>
              <a:defRPr sz="1200" b="0">
                <a:solidFill>
                  <a:srgbClr val="69778B"/>
                </a:solidFill>
              </a:defRPr>
            </a:lvl3pPr>
            <a:lvl4pPr>
              <a:defRPr sz="1200" b="0">
                <a:solidFill>
                  <a:srgbClr val="69778B"/>
                </a:solidFill>
              </a:defRPr>
            </a:lvl4pPr>
            <a:lvl5pPr>
              <a:defRPr sz="1200" b="0">
                <a:solidFill>
                  <a:srgbClr val="69778B"/>
                </a:solidFill>
              </a:defRPr>
            </a:lvl5pPr>
            <a:lvl6pPr>
              <a:defRPr sz="1200" b="0">
                <a:solidFill>
                  <a:srgbClr val="69778B"/>
                </a:solidFill>
              </a:defRPr>
            </a:lvl6pPr>
            <a:lvl7pPr>
              <a:defRPr sz="1200" b="0">
                <a:solidFill>
                  <a:srgbClr val="69778B"/>
                </a:solidFill>
              </a:defRPr>
            </a:lvl7pPr>
            <a:lvl8pPr>
              <a:defRPr sz="1200" b="0">
                <a:solidFill>
                  <a:srgbClr val="69778B"/>
                </a:solidFill>
              </a:defRPr>
            </a:lvl8pPr>
            <a:lvl9pPr>
              <a:defRPr sz="1200" b="0">
                <a:solidFill>
                  <a:srgbClr val="69778B"/>
                </a:solidFill>
              </a:defRPr>
            </a:lvl9pPr>
          </a:lstStyle>
          <a:p xmlns:a="http://schemas.openxmlformats.org/drawingml/2006/main">
            <a:pPr>
              <a:defRPr sz="1200" b="0">
                <a:solidFill>
                  <a:srgbClr val="69778B"/>
                </a:solidFill>
              </a:defRPr>
            </a:pPr>
            <a:r>
              <a:rPr sz="1200" b="0">
                <a:solidFill>
                  <a:srgbClr val="69778B"/>
                </a:solidFill>
              </a:rPr>
              <a:t>Build 2   /   Fictional training data   /   21 October 2026</a:t>
            </a:r>
          </a:p>
        </p:txBody>
      </p:sp>
    </p:spTree>
    <p:extLst>
      <p:ext uri="{BB962C8B-B14F-4D97-AF65-F5344CB8AC3E}">
        <p14:creationId xmlns:p14="http://schemas.microsoft.com/office/powerpoint/2010/main" val="2185384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9D896B8D-D247-4825-8B11-B0AA4F66D3F5}"/>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defRPr>
            </a:defPPr>
            <a:lvl1pPr>
              <a:defRPr sz="1800" b="1">
                <a:solidFill>
                  <a:srgbClr val="087DDF"/>
                </a:solidFill>
              </a:defRPr>
            </a:lvl1pPr>
            <a:lvl2pPr>
              <a:defRPr sz="1800" b="1">
                <a:solidFill>
                  <a:srgbClr val="087DDF"/>
                </a:solidFill>
              </a:defRPr>
            </a:lvl2pPr>
            <a:lvl3pPr>
              <a:defRPr sz="1800" b="1">
                <a:solidFill>
                  <a:srgbClr val="087DDF"/>
                </a:solidFill>
              </a:defRPr>
            </a:lvl3pPr>
            <a:lvl4pPr>
              <a:defRPr sz="1800" b="1">
                <a:solidFill>
                  <a:srgbClr val="087DDF"/>
                </a:solidFill>
              </a:defRPr>
            </a:lvl4pPr>
            <a:lvl5pPr>
              <a:defRPr sz="1800" b="1">
                <a:solidFill>
                  <a:srgbClr val="087DDF"/>
                </a:solidFill>
              </a:defRPr>
            </a:lvl5pPr>
            <a:lvl6pPr>
              <a:defRPr sz="1800" b="1">
                <a:solidFill>
                  <a:srgbClr val="087DDF"/>
                </a:solidFill>
              </a:defRPr>
            </a:lvl6pPr>
            <a:lvl7pPr>
              <a:defRPr sz="1800" b="1">
                <a:solidFill>
                  <a:srgbClr val="087DDF"/>
                </a:solidFill>
              </a:defRPr>
            </a:lvl7pPr>
            <a:lvl8pPr>
              <a:defRPr sz="1800" b="1">
                <a:solidFill>
                  <a:srgbClr val="087DDF"/>
                </a:solidFill>
              </a:defRPr>
            </a:lvl8pPr>
            <a:lvl9pPr>
              <a:defRPr sz="1800" b="1">
                <a:solidFill>
                  <a:srgbClr val="087DDF"/>
                </a:solidFill>
              </a:defRPr>
            </a:lvl9pPr>
          </a:lstStyle>
          <a:p xmlns:a="http://schemas.openxmlformats.org/drawingml/2006/main">
            <a:pPr>
              <a:defRPr sz="1800" b="1">
                <a:solidFill>
                  <a:srgbClr val="087DDF"/>
                </a:solidFill>
              </a:defRPr>
            </a:pPr>
            <a:r>
              <a:rPr sz="1800" b="1">
                <a:solidFill>
                  <a:srgbClr val="087DDF"/>
                </a:solidFill>
              </a:rPr>
              <a:t>07</a:t>
            </a:r>
          </a:p>
        </p:txBody>
      </p:sp>
      <p:sp>
        <p:nvSpPr>
          <p:cNvPr id="3" name="Title">
            <a:extLst xmlns:a="http://schemas.openxmlformats.org/drawingml/2006/main">
              <a:ext uri="{FF2B5EF4-FFF2-40B4-BE49-F238E27FC236}">
                <a16:creationId xmlns:a16="http://schemas.microsoft.com/office/drawing/2014/main" id="{D3241B36-0965-4F15-A022-B1A499B40572}"/>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defRPr>
            </a:defPPr>
            <a:lvl1pPr>
              <a:defRPr sz="3300" b="1">
                <a:solidFill>
                  <a:srgbClr val="102744"/>
                </a:solidFill>
              </a:defRPr>
            </a:lvl1pPr>
            <a:lvl2pPr>
              <a:defRPr sz="3300" b="1">
                <a:solidFill>
                  <a:srgbClr val="102744"/>
                </a:solidFill>
              </a:defRPr>
            </a:lvl2pPr>
            <a:lvl3pPr>
              <a:defRPr sz="3300" b="1">
                <a:solidFill>
                  <a:srgbClr val="102744"/>
                </a:solidFill>
              </a:defRPr>
            </a:lvl3pPr>
            <a:lvl4pPr>
              <a:defRPr sz="3300" b="1">
                <a:solidFill>
                  <a:srgbClr val="102744"/>
                </a:solidFill>
              </a:defRPr>
            </a:lvl4pPr>
            <a:lvl5pPr>
              <a:defRPr sz="3300" b="1">
                <a:solidFill>
                  <a:srgbClr val="102744"/>
                </a:solidFill>
              </a:defRPr>
            </a:lvl5pPr>
            <a:lvl6pPr>
              <a:defRPr sz="3300" b="1">
                <a:solidFill>
                  <a:srgbClr val="102744"/>
                </a:solidFill>
              </a:defRPr>
            </a:lvl6pPr>
            <a:lvl7pPr>
              <a:defRPr sz="3300" b="1">
                <a:solidFill>
                  <a:srgbClr val="102744"/>
                </a:solidFill>
              </a:defRPr>
            </a:lvl7pPr>
            <a:lvl8pPr>
              <a:defRPr sz="3300" b="1">
                <a:solidFill>
                  <a:srgbClr val="102744"/>
                </a:solidFill>
              </a:defRPr>
            </a:lvl8pPr>
            <a:lvl9pPr>
              <a:defRPr sz="3300" b="1">
                <a:solidFill>
                  <a:srgbClr val="102744"/>
                </a:solidFill>
              </a:defRPr>
            </a:lvl9pPr>
          </a:lstStyle>
          <a:p xmlns:a="http://schemas.openxmlformats.org/drawingml/2006/main">
            <a:pPr>
              <a:defRPr sz="3300" b="1">
                <a:solidFill>
                  <a:srgbClr val="102744"/>
                </a:solidFill>
              </a:defRPr>
            </a:pPr>
            <a:r>
              <a:rPr sz="3300" b="1">
                <a:solidFill>
                  <a:srgbClr val="102744"/>
                </a:solidFill>
              </a:rPr>
              <a:t>The policy defines the tests</a:t>
            </a:r>
          </a:p>
        </p:txBody>
      </p:sp>
      <p:sp>
        <p:nvSpPr>
          <p:cNvPr id="4" name="Body">
            <a:extLst xmlns:a="http://schemas.openxmlformats.org/drawingml/2006/main">
              <a:ext uri="{FF2B5EF4-FFF2-40B4-BE49-F238E27FC236}">
                <a16:creationId xmlns:a16="http://schemas.microsoft.com/office/drawing/2014/main" id="{F6BA0C5A-E4A7-44F4-BEBE-B2A516836972}"/>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defRPr>
            </a:defPPr>
            <a:lvl1pPr>
              <a:defRPr sz="1800" b="0">
                <a:solidFill>
                  <a:srgbClr val="25354B"/>
                </a:solidFill>
              </a:defRPr>
            </a:lvl1pPr>
            <a:lvl2pPr>
              <a:defRPr sz="1800" b="0">
                <a:solidFill>
                  <a:srgbClr val="25354B"/>
                </a:solidFill>
              </a:defRPr>
            </a:lvl2pPr>
            <a:lvl3pPr>
              <a:defRPr sz="1800" b="0">
                <a:solidFill>
                  <a:srgbClr val="25354B"/>
                </a:solidFill>
              </a:defRPr>
            </a:lvl3pPr>
            <a:lvl4pPr>
              <a:defRPr sz="1800" b="0">
                <a:solidFill>
                  <a:srgbClr val="25354B"/>
                </a:solidFill>
              </a:defRPr>
            </a:lvl4pPr>
            <a:lvl5pPr>
              <a:defRPr sz="1800" b="0">
                <a:solidFill>
                  <a:srgbClr val="25354B"/>
                </a:solidFill>
              </a:defRPr>
            </a:lvl5pPr>
            <a:lvl6pPr>
              <a:defRPr sz="1800" b="0">
                <a:solidFill>
                  <a:srgbClr val="25354B"/>
                </a:solidFill>
              </a:defRPr>
            </a:lvl6pPr>
            <a:lvl7pPr>
              <a:defRPr sz="1800" b="0">
                <a:solidFill>
                  <a:srgbClr val="25354B"/>
                </a:solidFill>
              </a:defRPr>
            </a:lvl7pPr>
            <a:lvl8pPr>
              <a:defRPr sz="1800" b="0">
                <a:solidFill>
                  <a:srgbClr val="25354B"/>
                </a:solidFill>
              </a:defRPr>
            </a:lvl8pPr>
            <a:lvl9pPr>
              <a:defRPr sz="1800" b="0">
                <a:solidFill>
                  <a:srgbClr val="25354B"/>
                </a:solidFill>
              </a:defRPr>
            </a:lvl9pPr>
          </a:lstStyle>
          <a:p xmlns:a="http://schemas.openxmlformats.org/drawingml/2006/main">
            <a:pPr>
              <a:defRPr sz="1800" b="0">
                <a:solidFill>
                  <a:srgbClr val="25354B"/>
                </a:solidFill>
              </a:defRPr>
            </a:pPr>
            <a:r>
              <a:rPr sz="1800" b="0">
                <a:solidFill>
                  <a:srgbClr val="25354B"/>
                </a:solidFill>
              </a:rPr>
              <a:t>The policy offers Tier A and Tier B.</a:t>
            </a:r>
          </a:p>
          <a:p xmlns:a="http://schemas.openxmlformats.org/drawingml/2006/main">
            <a:pPr>
              <a:defRPr sz="1800" b="0">
                <a:solidFill>
                  <a:srgbClr val="25354B"/>
                </a:solidFill>
              </a:defRPr>
            </a:pPr>
            <a:r>
              <a:t/>
            </a:r>
          </a:p>
          <a:p xmlns:a="http://schemas.openxmlformats.org/drawingml/2006/main">
            <a:pPr>
              <a:defRPr sz="1800" b="0">
                <a:solidFill>
                  <a:srgbClr val="25354B"/>
                </a:solidFill>
              </a:defRPr>
            </a:pPr>
            <a:r>
              <a:rPr sz="1800" b="0">
                <a:solidFill>
                  <a:srgbClr val="25354B"/>
                </a:solidFill>
              </a:rPr>
              <a:t>Every test must pass for a tier.</a:t>
            </a:r>
          </a:p>
          <a:p xmlns:a="http://schemas.openxmlformats.org/drawingml/2006/main">
            <a:pPr>
              <a:defRPr sz="1800" b="0">
                <a:solidFill>
                  <a:srgbClr val="25354B"/>
                </a:solidFill>
              </a:defRPr>
            </a:pPr>
            <a:r>
              <a:t/>
            </a:r>
          </a:p>
          <a:p xmlns:a="http://schemas.openxmlformats.org/drawingml/2006/main">
            <a:pPr>
              <a:defRPr sz="1800" b="0">
                <a:solidFill>
                  <a:srgbClr val="25354B"/>
                </a:solidFill>
              </a:defRPr>
            </a:pPr>
            <a:r>
              <a:rPr sz="1800" b="0">
                <a:solidFill>
                  <a:srgbClr val="25354B"/>
                </a:solidFill>
              </a:rPr>
              <a:t>ChatGPT must use the stated thresholds, then select the highest qualifying tier.</a:t>
            </a:r>
          </a:p>
          <a:p xmlns:a="http://schemas.openxmlformats.org/drawingml/2006/main">
            <a:pPr>
              <a:defRPr sz="1800" b="0">
                <a:solidFill>
                  <a:srgbClr val="25354B"/>
                </a:solidFill>
              </a:defRPr>
            </a:pPr>
            <a:r>
              <a:t/>
            </a:r>
          </a:p>
          <a:p xmlns:a="http://schemas.openxmlformats.org/drawingml/2006/main">
            <a:pPr>
              <a:defRPr sz="1800" b="0">
                <a:solidFill>
                  <a:srgbClr val="25354B"/>
                </a:solidFill>
              </a:defRPr>
            </a:pPr>
            <a:r>
              <a:rPr sz="1800" b="0">
                <a:solidFill>
                  <a:srgbClr val="25354B"/>
                </a:solidFill>
              </a:rPr>
              <a:t>Both tiers use Net 30.</a:t>
            </a:r>
          </a:p>
        </p:txBody>
      </p:sp>
      <p:pic>
        <p:nvPicPr>
          <p:cNvPr id="5" name="">
            <a:extLst xmlns:a="http://schemas.openxmlformats.org/drawingml/2006/main">
              <a:ext uri="{FF2B5EF4-FFF2-40B4-BE49-F238E27FC236}">
                <a16:creationId xmlns:a16="http://schemas.microsoft.com/office/drawing/2014/main" id="{6C170FB1-283F-4CEF-88E7-0CAB4886DA2E}"/>
              </a:ext>
            </a:extLst>
          </p:cNvPr>
          <p:cNvPicPr>
            <a:picLocks xmlns:a="http://schemas.openxmlformats.org/drawingml/2006/main" noChangeAspect="1"/>
          </p:cNvPicPr>
          <p:nvPr/>
        </p:nvPicPr>
        <p:blipFill>
          <a:blip xmlns:r="http://schemas.openxmlformats.org/officeDocument/2006/relationships" xmlns:a="http://schemas.openxmlformats.org/drawingml/2006/main" r:embed="R3ba66dbfed334d5a"/>
          <a:stretch xmlns:a="http://schemas.openxmlformats.org/drawingml/2006/main"/>
        </p:blipFill>
        <p:spPr>
          <a:xfrm xmlns:a="http://schemas.openxmlformats.org/drawingml/2006/main">
            <a:off x="4206373" y="1666875"/>
            <a:ext cx="6970130" cy="3905250"/>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7893427C-ABAA-47D1-85C0-B4FC7D70F577}"/>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087DDF"/>
                </a:solidFill>
              </a:defRPr>
            </a:defPPr>
            <a:lvl1pPr>
              <a:defRPr sz="1425" b="0">
                <a:solidFill>
                  <a:srgbClr val="087DDF"/>
                </a:solidFill>
              </a:defRPr>
            </a:lvl1pPr>
            <a:lvl2pPr>
              <a:defRPr sz="1425" b="0">
                <a:solidFill>
                  <a:srgbClr val="087DDF"/>
                </a:solidFill>
              </a:defRPr>
            </a:lvl2pPr>
            <a:lvl3pPr>
              <a:defRPr sz="1425" b="0">
                <a:solidFill>
                  <a:srgbClr val="087DDF"/>
                </a:solidFill>
              </a:defRPr>
            </a:lvl3pPr>
            <a:lvl4pPr>
              <a:defRPr sz="1425" b="0">
                <a:solidFill>
                  <a:srgbClr val="087DDF"/>
                </a:solidFill>
              </a:defRPr>
            </a:lvl4pPr>
            <a:lvl5pPr>
              <a:defRPr sz="1425" b="0">
                <a:solidFill>
                  <a:srgbClr val="087DDF"/>
                </a:solidFill>
              </a:defRPr>
            </a:lvl5pPr>
            <a:lvl6pPr>
              <a:defRPr sz="1425" b="0">
                <a:solidFill>
                  <a:srgbClr val="087DDF"/>
                </a:solidFill>
              </a:defRPr>
            </a:lvl6pPr>
            <a:lvl7pPr>
              <a:defRPr sz="1425" b="0">
                <a:solidFill>
                  <a:srgbClr val="087DDF"/>
                </a:solidFill>
              </a:defRPr>
            </a:lvl7pPr>
            <a:lvl8pPr>
              <a:defRPr sz="1425" b="0">
                <a:solidFill>
                  <a:srgbClr val="087DDF"/>
                </a:solidFill>
              </a:defRPr>
            </a:lvl8pPr>
            <a:lvl9pPr>
              <a:defRPr sz="1425" b="0">
                <a:solidFill>
                  <a:srgbClr val="087DDF"/>
                </a:solidFill>
              </a:defRPr>
            </a:lvl9pPr>
          </a:lstStyle>
          <a:p xmlns:a="http://schemas.openxmlformats.org/drawingml/2006/main">
            <a:pPr>
              <a:defRPr sz="1425" b="0">
                <a:solidFill>
                  <a:srgbClr val="087DDF"/>
                </a:solidFill>
              </a:defRPr>
            </a:pPr>
            <a:r>
              <a:rPr sz="1425" b="0">
                <a:solidFill>
                  <a:srgbClr val="087DDF"/>
                </a:solidFill>
              </a:rPr>
              <a:t>Source: mock credit policy, page 1.</a:t>
            </a:r>
          </a:p>
        </p:txBody>
      </p:sp>
      <p:sp>
        <p:nvSpPr>
          <p:cNvPr id="7" name="Footer">
            <a:extLst xmlns:a="http://schemas.openxmlformats.org/drawingml/2006/main">
              <a:ext uri="{FF2B5EF4-FFF2-40B4-BE49-F238E27FC236}">
                <a16:creationId xmlns:a16="http://schemas.microsoft.com/office/drawing/2014/main" id="{3AC63AE9-FC14-4CD9-94F9-BB24028A098B}"/>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defRPr>
            </a:defPPr>
            <a:lvl1pPr>
              <a:defRPr sz="1200" b="0">
                <a:solidFill>
                  <a:srgbClr val="69778B"/>
                </a:solidFill>
              </a:defRPr>
            </a:lvl1pPr>
            <a:lvl2pPr>
              <a:defRPr sz="1200" b="0">
                <a:solidFill>
                  <a:srgbClr val="69778B"/>
                </a:solidFill>
              </a:defRPr>
            </a:lvl2pPr>
            <a:lvl3pPr>
              <a:defRPr sz="1200" b="0">
                <a:solidFill>
                  <a:srgbClr val="69778B"/>
                </a:solidFill>
              </a:defRPr>
            </a:lvl3pPr>
            <a:lvl4pPr>
              <a:defRPr sz="1200" b="0">
                <a:solidFill>
                  <a:srgbClr val="69778B"/>
                </a:solidFill>
              </a:defRPr>
            </a:lvl4pPr>
            <a:lvl5pPr>
              <a:defRPr sz="1200" b="0">
                <a:solidFill>
                  <a:srgbClr val="69778B"/>
                </a:solidFill>
              </a:defRPr>
            </a:lvl5pPr>
            <a:lvl6pPr>
              <a:defRPr sz="1200" b="0">
                <a:solidFill>
                  <a:srgbClr val="69778B"/>
                </a:solidFill>
              </a:defRPr>
            </a:lvl6pPr>
            <a:lvl7pPr>
              <a:defRPr sz="1200" b="0">
                <a:solidFill>
                  <a:srgbClr val="69778B"/>
                </a:solidFill>
              </a:defRPr>
            </a:lvl7pPr>
            <a:lvl8pPr>
              <a:defRPr sz="1200" b="0">
                <a:solidFill>
                  <a:srgbClr val="69778B"/>
                </a:solidFill>
              </a:defRPr>
            </a:lvl8pPr>
            <a:lvl9pPr>
              <a:defRPr sz="1200" b="0">
                <a:solidFill>
                  <a:srgbClr val="69778B"/>
                </a:solidFill>
              </a:defRPr>
            </a:lvl9pPr>
          </a:lstStyle>
          <a:p xmlns:a="http://schemas.openxmlformats.org/drawingml/2006/main">
            <a:pPr>
              <a:defRPr sz="1200" b="0">
                <a:solidFill>
                  <a:srgbClr val="69778B"/>
                </a:solidFill>
              </a:defRPr>
            </a:pPr>
            <a:r>
              <a:rPr sz="1200" b="0">
                <a:solidFill>
                  <a:srgbClr val="69778B"/>
                </a:solidFill>
              </a:rPr>
              <a:t>Build 2   /   Fictional training data   /   21 October 2026</a:t>
            </a:r>
          </a:p>
        </p:txBody>
      </p:sp>
    </p:spTree>
    <p:extLst>
      <p:ext uri="{BB962C8B-B14F-4D97-AF65-F5344CB8AC3E}">
        <p14:creationId xmlns:p14="http://schemas.microsoft.com/office/powerpoint/2010/main" val="113880051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58F3073A-AB0A-4B71-A7F1-B349B3887E1E}"/>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defRPr>
            </a:defPPr>
            <a:lvl1pPr>
              <a:defRPr sz="1800" b="1">
                <a:solidFill>
                  <a:srgbClr val="087DDF"/>
                </a:solidFill>
              </a:defRPr>
            </a:lvl1pPr>
            <a:lvl2pPr>
              <a:defRPr sz="1800" b="1">
                <a:solidFill>
                  <a:srgbClr val="087DDF"/>
                </a:solidFill>
              </a:defRPr>
            </a:lvl2pPr>
            <a:lvl3pPr>
              <a:defRPr sz="1800" b="1">
                <a:solidFill>
                  <a:srgbClr val="087DDF"/>
                </a:solidFill>
              </a:defRPr>
            </a:lvl3pPr>
            <a:lvl4pPr>
              <a:defRPr sz="1800" b="1">
                <a:solidFill>
                  <a:srgbClr val="087DDF"/>
                </a:solidFill>
              </a:defRPr>
            </a:lvl4pPr>
            <a:lvl5pPr>
              <a:defRPr sz="1800" b="1">
                <a:solidFill>
                  <a:srgbClr val="087DDF"/>
                </a:solidFill>
              </a:defRPr>
            </a:lvl5pPr>
            <a:lvl6pPr>
              <a:defRPr sz="1800" b="1">
                <a:solidFill>
                  <a:srgbClr val="087DDF"/>
                </a:solidFill>
              </a:defRPr>
            </a:lvl6pPr>
            <a:lvl7pPr>
              <a:defRPr sz="1800" b="1">
                <a:solidFill>
                  <a:srgbClr val="087DDF"/>
                </a:solidFill>
              </a:defRPr>
            </a:lvl7pPr>
            <a:lvl8pPr>
              <a:defRPr sz="1800" b="1">
                <a:solidFill>
                  <a:srgbClr val="087DDF"/>
                </a:solidFill>
              </a:defRPr>
            </a:lvl8pPr>
            <a:lvl9pPr>
              <a:defRPr sz="1800" b="1">
                <a:solidFill>
                  <a:srgbClr val="087DDF"/>
                </a:solidFill>
              </a:defRPr>
            </a:lvl9pPr>
          </a:lstStyle>
          <a:p xmlns:a="http://schemas.openxmlformats.org/drawingml/2006/main">
            <a:pPr>
              <a:defRPr sz="1800" b="1">
                <a:solidFill>
                  <a:srgbClr val="087DDF"/>
                </a:solidFill>
              </a:defRPr>
            </a:pPr>
            <a:r>
              <a:rPr sz="1800" b="1">
                <a:solidFill>
                  <a:srgbClr val="087DDF"/>
                </a:solidFill>
              </a:rPr>
              <a:t>08</a:t>
            </a:r>
          </a:p>
        </p:txBody>
      </p:sp>
      <p:sp>
        <p:nvSpPr>
          <p:cNvPr id="3" name="Title">
            <a:extLst xmlns:a="http://schemas.openxmlformats.org/drawingml/2006/main">
              <a:ext uri="{FF2B5EF4-FFF2-40B4-BE49-F238E27FC236}">
                <a16:creationId xmlns:a16="http://schemas.microsoft.com/office/drawing/2014/main" id="{83E942AA-4499-4444-93A2-24CC13744D51}"/>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defRPr>
            </a:defPPr>
            <a:lvl1pPr>
              <a:defRPr sz="3300" b="1">
                <a:solidFill>
                  <a:srgbClr val="102744"/>
                </a:solidFill>
              </a:defRPr>
            </a:lvl1pPr>
            <a:lvl2pPr>
              <a:defRPr sz="3300" b="1">
                <a:solidFill>
                  <a:srgbClr val="102744"/>
                </a:solidFill>
              </a:defRPr>
            </a:lvl2pPr>
            <a:lvl3pPr>
              <a:defRPr sz="3300" b="1">
                <a:solidFill>
                  <a:srgbClr val="102744"/>
                </a:solidFill>
              </a:defRPr>
            </a:lvl3pPr>
            <a:lvl4pPr>
              <a:defRPr sz="3300" b="1">
                <a:solidFill>
                  <a:srgbClr val="102744"/>
                </a:solidFill>
              </a:defRPr>
            </a:lvl4pPr>
            <a:lvl5pPr>
              <a:defRPr sz="3300" b="1">
                <a:solidFill>
                  <a:srgbClr val="102744"/>
                </a:solidFill>
              </a:defRPr>
            </a:lvl5pPr>
            <a:lvl6pPr>
              <a:defRPr sz="3300" b="1">
                <a:solidFill>
                  <a:srgbClr val="102744"/>
                </a:solidFill>
              </a:defRPr>
            </a:lvl6pPr>
            <a:lvl7pPr>
              <a:defRPr sz="3300" b="1">
                <a:solidFill>
                  <a:srgbClr val="102744"/>
                </a:solidFill>
              </a:defRPr>
            </a:lvl7pPr>
            <a:lvl8pPr>
              <a:defRPr sz="3300" b="1">
                <a:solidFill>
                  <a:srgbClr val="102744"/>
                </a:solidFill>
              </a:defRPr>
            </a:lvl8pPr>
            <a:lvl9pPr>
              <a:defRPr sz="3300" b="1">
                <a:solidFill>
                  <a:srgbClr val="102744"/>
                </a:solidFill>
              </a:defRPr>
            </a:lvl9pPr>
          </a:lstStyle>
          <a:p xmlns:a="http://schemas.openxmlformats.org/drawingml/2006/main">
            <a:pPr>
              <a:defRPr sz="3300" b="1">
                <a:solidFill>
                  <a:srgbClr val="102744"/>
                </a:solidFill>
              </a:defRPr>
            </a:pPr>
            <a:r>
              <a:rPr sz="3300" b="1">
                <a:solidFill>
                  <a:srgbClr val="102744"/>
                </a:solidFill>
              </a:rPr>
              <a:t>The applicant’s request</a:t>
            </a:r>
          </a:p>
        </p:txBody>
      </p:sp>
      <p:sp>
        <p:nvSpPr>
          <p:cNvPr id="4" name="Body">
            <a:extLst xmlns:a="http://schemas.openxmlformats.org/drawingml/2006/main">
              <a:ext uri="{FF2B5EF4-FFF2-40B4-BE49-F238E27FC236}">
                <a16:creationId xmlns:a16="http://schemas.microsoft.com/office/drawing/2014/main" id="{329D1C08-A1C8-4ABF-9435-FDF8081AC355}"/>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defRPr>
            </a:defPPr>
            <a:lvl1pPr>
              <a:defRPr sz="1800" b="0">
                <a:solidFill>
                  <a:srgbClr val="25354B"/>
                </a:solidFill>
              </a:defRPr>
            </a:lvl1pPr>
            <a:lvl2pPr>
              <a:defRPr sz="1800" b="0">
                <a:solidFill>
                  <a:srgbClr val="25354B"/>
                </a:solidFill>
              </a:defRPr>
            </a:lvl2pPr>
            <a:lvl3pPr>
              <a:defRPr sz="1800" b="0">
                <a:solidFill>
                  <a:srgbClr val="25354B"/>
                </a:solidFill>
              </a:defRPr>
            </a:lvl3pPr>
            <a:lvl4pPr>
              <a:defRPr sz="1800" b="0">
                <a:solidFill>
                  <a:srgbClr val="25354B"/>
                </a:solidFill>
              </a:defRPr>
            </a:lvl4pPr>
            <a:lvl5pPr>
              <a:defRPr sz="1800" b="0">
                <a:solidFill>
                  <a:srgbClr val="25354B"/>
                </a:solidFill>
              </a:defRPr>
            </a:lvl5pPr>
            <a:lvl6pPr>
              <a:defRPr sz="1800" b="0">
                <a:solidFill>
                  <a:srgbClr val="25354B"/>
                </a:solidFill>
              </a:defRPr>
            </a:lvl6pPr>
            <a:lvl7pPr>
              <a:defRPr sz="1800" b="0">
                <a:solidFill>
                  <a:srgbClr val="25354B"/>
                </a:solidFill>
              </a:defRPr>
            </a:lvl7pPr>
            <a:lvl8pPr>
              <a:defRPr sz="1800" b="0">
                <a:solidFill>
                  <a:srgbClr val="25354B"/>
                </a:solidFill>
              </a:defRPr>
            </a:lvl8pPr>
            <a:lvl9pPr>
              <a:defRPr sz="1800" b="0">
                <a:solidFill>
                  <a:srgbClr val="25354B"/>
                </a:solidFill>
              </a:defRPr>
            </a:lvl9pPr>
          </a:lstStyle>
          <a:p xmlns:a="http://schemas.openxmlformats.org/drawingml/2006/main">
            <a:pPr>
              <a:defRPr sz="1800" b="0">
                <a:solidFill>
                  <a:srgbClr val="25354B"/>
                </a:solidFill>
              </a:defRPr>
            </a:pPr>
            <a:r>
              <a:rPr sz="1800" b="0">
                <a:solidFill>
                  <a:srgbClr val="25354B"/>
                </a:solidFill>
              </a:rPr>
              <a:t>The mock application states:</a:t>
            </a:r>
          </a:p>
          <a:p xmlns:a="http://schemas.openxmlformats.org/drawingml/2006/main">
            <a:pPr>
              <a:defRPr sz="1800" b="0">
                <a:solidFill>
                  <a:srgbClr val="25354B"/>
                </a:solidFill>
              </a:defRPr>
            </a:pPr>
            <a:r>
              <a:t/>
            </a:r>
          </a:p>
          <a:p xmlns:a="http://schemas.openxmlformats.org/drawingml/2006/main">
            <a:pPr>
              <a:defRPr sz="1800" b="0">
                <a:solidFill>
                  <a:srgbClr val="25354B"/>
                </a:solidFill>
              </a:defRPr>
            </a:pPr>
            <a:r>
              <a:rPr sz="1800" b="0">
                <a:solidFill>
                  <a:srgbClr val="25354B"/>
                </a:solidFill>
              </a:rPr>
              <a:t>USD $2,500,000 requested credit.</a:t>
            </a:r>
          </a:p>
          <a:p xmlns:a="http://schemas.openxmlformats.org/drawingml/2006/main">
            <a:pPr>
              <a:defRPr sz="1800" b="0">
                <a:solidFill>
                  <a:srgbClr val="25354B"/>
                </a:solidFill>
              </a:defRPr>
            </a:pPr>
            <a:r>
              <a:t/>
            </a:r>
          </a:p>
          <a:p xmlns:a="http://schemas.openxmlformats.org/drawingml/2006/main">
            <a:pPr>
              <a:defRPr sz="1800" b="0">
                <a:solidFill>
                  <a:srgbClr val="25354B"/>
                </a:solidFill>
              </a:defRPr>
            </a:pPr>
            <a:r>
              <a:rPr sz="1800" b="0">
                <a:solidFill>
                  <a:srgbClr val="25354B"/>
                </a:solidFill>
              </a:rPr>
              <a:t>Net 60 payment terms.</a:t>
            </a:r>
          </a:p>
          <a:p xmlns:a="http://schemas.openxmlformats.org/drawingml/2006/main">
            <a:pPr>
              <a:defRPr sz="1800" b="0">
                <a:solidFill>
                  <a:srgbClr val="25354B"/>
                </a:solidFill>
              </a:defRPr>
            </a:pPr>
            <a:r>
              <a:t/>
            </a:r>
          </a:p>
          <a:p xmlns:a="http://schemas.openxmlformats.org/drawingml/2006/main">
            <a:pPr>
              <a:defRPr sz="1800" b="0">
                <a:solidFill>
                  <a:srgbClr val="25354B"/>
                </a:solidFill>
              </a:defRPr>
            </a:pPr>
            <a:r>
              <a:rPr sz="1800" b="0">
                <a:solidFill>
                  <a:srgbClr val="25354B"/>
                </a:solidFill>
              </a:rPr>
              <a:t>22 years in business.</a:t>
            </a:r>
          </a:p>
          <a:p xmlns:a="http://schemas.openxmlformats.org/drawingml/2006/main">
            <a:pPr>
              <a:defRPr sz="1800" b="0">
                <a:solidFill>
                  <a:srgbClr val="25354B"/>
                </a:solidFill>
              </a:defRPr>
            </a:pPr>
            <a:r>
              <a:t/>
            </a:r>
          </a:p>
          <a:p xmlns:a="http://schemas.openxmlformats.org/drawingml/2006/main">
            <a:pPr>
              <a:defRPr sz="1800" b="0">
                <a:solidFill>
                  <a:srgbClr val="25354B"/>
                </a:solidFill>
              </a:defRPr>
            </a:pPr>
            <a:r>
              <a:rPr sz="1800" b="0">
                <a:solidFill>
                  <a:srgbClr val="25354B"/>
                </a:solidFill>
              </a:rPr>
              <a:t>These are the figures to compare with the policy.</a:t>
            </a:r>
          </a:p>
        </p:txBody>
      </p:sp>
      <p:pic>
        <p:nvPicPr>
          <p:cNvPr id="5" name="">
            <a:extLst xmlns:a="http://schemas.openxmlformats.org/drawingml/2006/main">
              <a:ext uri="{FF2B5EF4-FFF2-40B4-BE49-F238E27FC236}">
                <a16:creationId xmlns:a16="http://schemas.microsoft.com/office/drawing/2014/main" id="{AC621A06-3B20-475E-90DC-970F386309AE}"/>
              </a:ext>
            </a:extLst>
          </p:cNvPr>
          <p:cNvPicPr>
            <a:picLocks xmlns:a="http://schemas.openxmlformats.org/drawingml/2006/main" noChangeAspect="1"/>
          </p:cNvPicPr>
          <p:nvPr/>
        </p:nvPicPr>
        <p:blipFill>
          <a:blip xmlns:r="http://schemas.openxmlformats.org/officeDocument/2006/relationships" xmlns:a="http://schemas.openxmlformats.org/drawingml/2006/main" r:embed="R817acf849d194b49"/>
          <a:stretch xmlns:a="http://schemas.openxmlformats.org/drawingml/2006/main"/>
        </p:blipFill>
        <p:spPr>
          <a:xfrm xmlns:a="http://schemas.openxmlformats.org/drawingml/2006/main">
            <a:off x="3714750" y="1829130"/>
            <a:ext cx="7953375" cy="3580740"/>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73CD7F86-B618-4051-AEA9-915CEBE97BF2}"/>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087DDF"/>
                </a:solidFill>
              </a:defRPr>
            </a:defPPr>
            <a:lvl1pPr>
              <a:defRPr sz="1425" b="0">
                <a:solidFill>
                  <a:srgbClr val="087DDF"/>
                </a:solidFill>
              </a:defRPr>
            </a:lvl1pPr>
            <a:lvl2pPr>
              <a:defRPr sz="1425" b="0">
                <a:solidFill>
                  <a:srgbClr val="087DDF"/>
                </a:solidFill>
              </a:defRPr>
            </a:lvl2pPr>
            <a:lvl3pPr>
              <a:defRPr sz="1425" b="0">
                <a:solidFill>
                  <a:srgbClr val="087DDF"/>
                </a:solidFill>
              </a:defRPr>
            </a:lvl3pPr>
            <a:lvl4pPr>
              <a:defRPr sz="1425" b="0">
                <a:solidFill>
                  <a:srgbClr val="087DDF"/>
                </a:solidFill>
              </a:defRPr>
            </a:lvl4pPr>
            <a:lvl5pPr>
              <a:defRPr sz="1425" b="0">
                <a:solidFill>
                  <a:srgbClr val="087DDF"/>
                </a:solidFill>
              </a:defRPr>
            </a:lvl5pPr>
            <a:lvl6pPr>
              <a:defRPr sz="1425" b="0">
                <a:solidFill>
                  <a:srgbClr val="087DDF"/>
                </a:solidFill>
              </a:defRPr>
            </a:lvl6pPr>
            <a:lvl7pPr>
              <a:defRPr sz="1425" b="0">
                <a:solidFill>
                  <a:srgbClr val="087DDF"/>
                </a:solidFill>
              </a:defRPr>
            </a:lvl7pPr>
            <a:lvl8pPr>
              <a:defRPr sz="1425" b="0">
                <a:solidFill>
                  <a:srgbClr val="087DDF"/>
                </a:solidFill>
              </a:defRPr>
            </a:lvl8pPr>
            <a:lvl9pPr>
              <a:defRPr sz="1425" b="0">
                <a:solidFill>
                  <a:srgbClr val="087DDF"/>
                </a:solidFill>
              </a:defRPr>
            </a:lvl9pPr>
          </a:lstStyle>
          <a:p xmlns:a="http://schemas.openxmlformats.org/drawingml/2006/main">
            <a:pPr>
              <a:defRPr sz="1425" b="0">
                <a:solidFill>
                  <a:srgbClr val="087DDF"/>
                </a:solidFill>
              </a:defRPr>
            </a:pPr>
            <a:r>
              <a:rPr sz="1425" b="0">
                <a:solidFill>
                  <a:srgbClr val="087DDF"/>
                </a:solidFill>
              </a:rPr>
              <a:t>PDF 02 is this customer’s application. Attach it in the customer chat.</a:t>
            </a:r>
          </a:p>
        </p:txBody>
      </p:sp>
      <p:sp>
        <p:nvSpPr>
          <p:cNvPr id="7" name="Footer">
            <a:extLst xmlns:a="http://schemas.openxmlformats.org/drawingml/2006/main">
              <a:ext uri="{FF2B5EF4-FFF2-40B4-BE49-F238E27FC236}">
                <a16:creationId xmlns:a16="http://schemas.microsoft.com/office/drawing/2014/main" id="{719DF8C3-7500-4FDC-BB42-18F95FFABCC5}"/>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defRPr>
            </a:defPPr>
            <a:lvl1pPr>
              <a:defRPr sz="1200" b="0">
                <a:solidFill>
                  <a:srgbClr val="69778B"/>
                </a:solidFill>
              </a:defRPr>
            </a:lvl1pPr>
            <a:lvl2pPr>
              <a:defRPr sz="1200" b="0">
                <a:solidFill>
                  <a:srgbClr val="69778B"/>
                </a:solidFill>
              </a:defRPr>
            </a:lvl2pPr>
            <a:lvl3pPr>
              <a:defRPr sz="1200" b="0">
                <a:solidFill>
                  <a:srgbClr val="69778B"/>
                </a:solidFill>
              </a:defRPr>
            </a:lvl3pPr>
            <a:lvl4pPr>
              <a:defRPr sz="1200" b="0">
                <a:solidFill>
                  <a:srgbClr val="69778B"/>
                </a:solidFill>
              </a:defRPr>
            </a:lvl4pPr>
            <a:lvl5pPr>
              <a:defRPr sz="1200" b="0">
                <a:solidFill>
                  <a:srgbClr val="69778B"/>
                </a:solidFill>
              </a:defRPr>
            </a:lvl5pPr>
            <a:lvl6pPr>
              <a:defRPr sz="1200" b="0">
                <a:solidFill>
                  <a:srgbClr val="69778B"/>
                </a:solidFill>
              </a:defRPr>
            </a:lvl6pPr>
            <a:lvl7pPr>
              <a:defRPr sz="1200" b="0">
                <a:solidFill>
                  <a:srgbClr val="69778B"/>
                </a:solidFill>
              </a:defRPr>
            </a:lvl7pPr>
            <a:lvl8pPr>
              <a:defRPr sz="1200" b="0">
                <a:solidFill>
                  <a:srgbClr val="69778B"/>
                </a:solidFill>
              </a:defRPr>
            </a:lvl8pPr>
            <a:lvl9pPr>
              <a:defRPr sz="1200" b="0">
                <a:solidFill>
                  <a:srgbClr val="69778B"/>
                </a:solidFill>
              </a:defRPr>
            </a:lvl9pPr>
          </a:lstStyle>
          <a:p xmlns:a="http://schemas.openxmlformats.org/drawingml/2006/main">
            <a:pPr>
              <a:defRPr sz="1200" b="0">
                <a:solidFill>
                  <a:srgbClr val="69778B"/>
                </a:solidFill>
              </a:defRPr>
            </a:pPr>
            <a:r>
              <a:rPr sz="1200" b="0">
                <a:solidFill>
                  <a:srgbClr val="69778B"/>
                </a:solidFill>
              </a:rPr>
              <a:t>Build 2   /   Fictional training data   /   21 October 2026</a:t>
            </a:r>
          </a:p>
        </p:txBody>
      </p:sp>
    </p:spTree>
    <p:extLst>
      <p:ext uri="{BB962C8B-B14F-4D97-AF65-F5344CB8AC3E}">
        <p14:creationId xmlns:p14="http://schemas.microsoft.com/office/powerpoint/2010/main" val="139048015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AE7E30AD-A84E-410B-84E6-6D1359D24458}"/>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defRPr>
            </a:defPPr>
            <a:lvl1pPr>
              <a:defRPr sz="1800" b="1">
                <a:solidFill>
                  <a:srgbClr val="087DDF"/>
                </a:solidFill>
              </a:defRPr>
            </a:lvl1pPr>
            <a:lvl2pPr>
              <a:defRPr sz="1800" b="1">
                <a:solidFill>
                  <a:srgbClr val="087DDF"/>
                </a:solidFill>
              </a:defRPr>
            </a:lvl2pPr>
            <a:lvl3pPr>
              <a:defRPr sz="1800" b="1">
                <a:solidFill>
                  <a:srgbClr val="087DDF"/>
                </a:solidFill>
              </a:defRPr>
            </a:lvl3pPr>
            <a:lvl4pPr>
              <a:defRPr sz="1800" b="1">
                <a:solidFill>
                  <a:srgbClr val="087DDF"/>
                </a:solidFill>
              </a:defRPr>
            </a:lvl4pPr>
            <a:lvl5pPr>
              <a:defRPr sz="1800" b="1">
                <a:solidFill>
                  <a:srgbClr val="087DDF"/>
                </a:solidFill>
              </a:defRPr>
            </a:lvl5pPr>
            <a:lvl6pPr>
              <a:defRPr sz="1800" b="1">
                <a:solidFill>
                  <a:srgbClr val="087DDF"/>
                </a:solidFill>
              </a:defRPr>
            </a:lvl6pPr>
            <a:lvl7pPr>
              <a:defRPr sz="1800" b="1">
                <a:solidFill>
                  <a:srgbClr val="087DDF"/>
                </a:solidFill>
              </a:defRPr>
            </a:lvl7pPr>
            <a:lvl8pPr>
              <a:defRPr sz="1800" b="1">
                <a:solidFill>
                  <a:srgbClr val="087DDF"/>
                </a:solidFill>
              </a:defRPr>
            </a:lvl8pPr>
            <a:lvl9pPr>
              <a:defRPr sz="1800" b="1">
                <a:solidFill>
                  <a:srgbClr val="087DDF"/>
                </a:solidFill>
              </a:defRPr>
            </a:lvl9pPr>
          </a:lstStyle>
          <a:p xmlns:a="http://schemas.openxmlformats.org/drawingml/2006/main">
            <a:pPr>
              <a:defRPr sz="1800" b="1">
                <a:solidFill>
                  <a:srgbClr val="087DDF"/>
                </a:solidFill>
              </a:defRPr>
            </a:pPr>
            <a:r>
              <a:rPr sz="1800" b="1">
                <a:solidFill>
                  <a:srgbClr val="087DDF"/>
                </a:solidFill>
              </a:rPr>
              <a:t>09</a:t>
            </a:r>
          </a:p>
        </p:txBody>
      </p:sp>
      <p:sp>
        <p:nvSpPr>
          <p:cNvPr id="3" name="Title">
            <a:extLst xmlns:a="http://schemas.openxmlformats.org/drawingml/2006/main">
              <a:ext uri="{FF2B5EF4-FFF2-40B4-BE49-F238E27FC236}">
                <a16:creationId xmlns:a16="http://schemas.microsoft.com/office/drawing/2014/main" id="{A767FB59-392A-4675-9874-E21F70EEC970}"/>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defRPr>
            </a:defPPr>
            <a:lvl1pPr>
              <a:defRPr sz="3300" b="1">
                <a:solidFill>
                  <a:srgbClr val="102744"/>
                </a:solidFill>
              </a:defRPr>
            </a:lvl1pPr>
            <a:lvl2pPr>
              <a:defRPr sz="3300" b="1">
                <a:solidFill>
                  <a:srgbClr val="102744"/>
                </a:solidFill>
              </a:defRPr>
            </a:lvl2pPr>
            <a:lvl3pPr>
              <a:defRPr sz="3300" b="1">
                <a:solidFill>
                  <a:srgbClr val="102744"/>
                </a:solidFill>
              </a:defRPr>
            </a:lvl3pPr>
            <a:lvl4pPr>
              <a:defRPr sz="3300" b="1">
                <a:solidFill>
                  <a:srgbClr val="102744"/>
                </a:solidFill>
              </a:defRPr>
            </a:lvl4pPr>
            <a:lvl5pPr>
              <a:defRPr sz="3300" b="1">
                <a:solidFill>
                  <a:srgbClr val="102744"/>
                </a:solidFill>
              </a:defRPr>
            </a:lvl5pPr>
            <a:lvl6pPr>
              <a:defRPr sz="3300" b="1">
                <a:solidFill>
                  <a:srgbClr val="102744"/>
                </a:solidFill>
              </a:defRPr>
            </a:lvl6pPr>
            <a:lvl7pPr>
              <a:defRPr sz="3300" b="1">
                <a:solidFill>
                  <a:srgbClr val="102744"/>
                </a:solidFill>
              </a:defRPr>
            </a:lvl7pPr>
            <a:lvl8pPr>
              <a:defRPr sz="3300" b="1">
                <a:solidFill>
                  <a:srgbClr val="102744"/>
                </a:solidFill>
              </a:defRPr>
            </a:lvl8pPr>
            <a:lvl9pPr>
              <a:defRPr sz="3300" b="1">
                <a:solidFill>
                  <a:srgbClr val="102744"/>
                </a:solidFill>
              </a:defRPr>
            </a:lvl9pPr>
          </a:lstStyle>
          <a:p xmlns:a="http://schemas.openxmlformats.org/drawingml/2006/main">
            <a:pPr>
              <a:defRPr sz="3300" b="1">
                <a:solidFill>
                  <a:srgbClr val="102744"/>
                </a:solidFill>
              </a:defRPr>
            </a:pPr>
            <a:r>
              <a:rPr sz="3300" b="1">
                <a:solidFill>
                  <a:srgbClr val="102744"/>
                </a:solidFill>
              </a:rPr>
              <a:t>The reporting year and units</a:t>
            </a:r>
          </a:p>
        </p:txBody>
      </p:sp>
      <p:sp>
        <p:nvSpPr>
          <p:cNvPr id="4" name="Body">
            <a:extLst xmlns:a="http://schemas.openxmlformats.org/drawingml/2006/main">
              <a:ext uri="{FF2B5EF4-FFF2-40B4-BE49-F238E27FC236}">
                <a16:creationId xmlns:a16="http://schemas.microsoft.com/office/drawing/2014/main" id="{E42E9076-CB17-4329-BE0F-4E803380D482}"/>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defRPr>
            </a:defPPr>
            <a:lvl1pPr>
              <a:defRPr sz="1800" b="0">
                <a:solidFill>
                  <a:srgbClr val="25354B"/>
                </a:solidFill>
              </a:defRPr>
            </a:lvl1pPr>
            <a:lvl2pPr>
              <a:defRPr sz="1800" b="0">
                <a:solidFill>
                  <a:srgbClr val="25354B"/>
                </a:solidFill>
              </a:defRPr>
            </a:lvl2pPr>
            <a:lvl3pPr>
              <a:defRPr sz="1800" b="0">
                <a:solidFill>
                  <a:srgbClr val="25354B"/>
                </a:solidFill>
              </a:defRPr>
            </a:lvl3pPr>
            <a:lvl4pPr>
              <a:defRPr sz="1800" b="0">
                <a:solidFill>
                  <a:srgbClr val="25354B"/>
                </a:solidFill>
              </a:defRPr>
            </a:lvl4pPr>
            <a:lvl5pPr>
              <a:defRPr sz="1800" b="0">
                <a:solidFill>
                  <a:srgbClr val="25354B"/>
                </a:solidFill>
              </a:defRPr>
            </a:lvl5pPr>
            <a:lvl6pPr>
              <a:defRPr sz="1800" b="0">
                <a:solidFill>
                  <a:srgbClr val="25354B"/>
                </a:solidFill>
              </a:defRPr>
            </a:lvl6pPr>
            <a:lvl7pPr>
              <a:defRPr sz="1800" b="0">
                <a:solidFill>
                  <a:srgbClr val="25354B"/>
                </a:solidFill>
              </a:defRPr>
            </a:lvl7pPr>
            <a:lvl8pPr>
              <a:defRPr sz="1800" b="0">
                <a:solidFill>
                  <a:srgbClr val="25354B"/>
                </a:solidFill>
              </a:defRPr>
            </a:lvl8pPr>
            <a:lvl9pPr>
              <a:defRPr sz="1800" b="0">
                <a:solidFill>
                  <a:srgbClr val="25354B"/>
                </a:solidFill>
              </a:defRPr>
            </a:lvl9pPr>
          </a:lstStyle>
          <a:p xmlns:a="http://schemas.openxmlformats.org/drawingml/2006/main">
            <a:pPr>
              <a:defRPr sz="1800" b="0">
                <a:solidFill>
                  <a:srgbClr val="25354B"/>
                </a:solidFill>
              </a:defRPr>
            </a:pPr>
            <a:r>
              <a:rPr sz="1800" b="0">
                <a:solidFill>
                  <a:srgbClr val="25354B"/>
                </a:solidFill>
              </a:rPr>
              <a:t>Use FY2025, the latest full year.</a:t>
            </a:r>
          </a:p>
          <a:p xmlns:a="http://schemas.openxmlformats.org/drawingml/2006/main">
            <a:pPr>
              <a:defRPr sz="1800" b="0">
                <a:solidFill>
                  <a:srgbClr val="25354B"/>
                </a:solidFill>
              </a:defRPr>
            </a:pPr>
            <a:r>
              <a:t/>
            </a:r>
          </a:p>
          <a:p xmlns:a="http://schemas.openxmlformats.org/drawingml/2006/main">
            <a:pPr>
              <a:defRPr sz="1800" b="0">
                <a:solidFill>
                  <a:srgbClr val="25354B"/>
                </a:solidFill>
              </a:defRPr>
            </a:pPr>
            <a:r>
              <a:rPr sz="1800" b="0">
                <a:solidFill>
                  <a:srgbClr val="25354B"/>
                </a:solidFill>
              </a:rPr>
              <a:t>The statements use USD millions.</a:t>
            </a:r>
          </a:p>
          <a:p xmlns:a="http://schemas.openxmlformats.org/drawingml/2006/main">
            <a:pPr>
              <a:defRPr sz="1800" b="0">
                <a:solidFill>
                  <a:srgbClr val="25354B"/>
                </a:solidFill>
              </a:defRPr>
            </a:pPr>
            <a:r>
              <a:t/>
            </a:r>
          </a:p>
          <a:p xmlns:a="http://schemas.openxmlformats.org/drawingml/2006/main">
            <a:pPr>
              <a:defRPr sz="1800" b="0">
                <a:solidFill>
                  <a:srgbClr val="25354B"/>
                </a:solidFill>
              </a:defRPr>
            </a:pPr>
            <a:r>
              <a:rPr sz="1800" b="0">
                <a:solidFill>
                  <a:srgbClr val="25354B"/>
                </a:solidFill>
              </a:rPr>
              <a:t>Check that the applicant and statement entities match.</a:t>
            </a:r>
          </a:p>
          <a:p xmlns:a="http://schemas.openxmlformats.org/drawingml/2006/main">
            <a:pPr>
              <a:defRPr sz="1800" b="0">
                <a:solidFill>
                  <a:srgbClr val="25354B"/>
                </a:solidFill>
              </a:defRPr>
            </a:pPr>
            <a:r>
              <a:t/>
            </a:r>
          </a:p>
          <a:p xmlns:a="http://schemas.openxmlformats.org/drawingml/2006/main">
            <a:pPr>
              <a:defRPr sz="1800" b="0">
                <a:solidFill>
                  <a:srgbClr val="25354B"/>
                </a:solidFill>
              </a:defRPr>
            </a:pPr>
            <a:r>
              <a:rPr sz="1800" b="0">
                <a:solidFill>
                  <a:srgbClr val="25354B"/>
                </a:solidFill>
              </a:rPr>
              <a:t>Convert figures to full USD before calculating a dollar limit.</a:t>
            </a:r>
          </a:p>
        </p:txBody>
      </p:sp>
      <p:pic>
        <p:nvPicPr>
          <p:cNvPr id="5" name="">
            <a:extLst xmlns:a="http://schemas.openxmlformats.org/drawingml/2006/main">
              <a:ext uri="{FF2B5EF4-FFF2-40B4-BE49-F238E27FC236}">
                <a16:creationId xmlns:a16="http://schemas.microsoft.com/office/drawing/2014/main" id="{47DAC43F-8055-4218-A6BC-B8D942DAA2DF}"/>
              </a:ext>
            </a:extLst>
          </p:cNvPr>
          <p:cNvPicPr>
            <a:picLocks xmlns:a="http://schemas.openxmlformats.org/drawingml/2006/main" noChangeAspect="1"/>
          </p:cNvPicPr>
          <p:nvPr/>
        </p:nvPicPr>
        <p:blipFill>
          <a:blip xmlns:r="http://schemas.openxmlformats.org/officeDocument/2006/relationships" xmlns:a="http://schemas.openxmlformats.org/drawingml/2006/main" r:embed="R5c2080e075c54fb0"/>
          <a:stretch xmlns:a="http://schemas.openxmlformats.org/drawingml/2006/main"/>
        </p:blipFill>
        <p:spPr>
          <a:xfrm xmlns:a="http://schemas.openxmlformats.org/drawingml/2006/main">
            <a:off x="5113973" y="1666875"/>
            <a:ext cx="5154930" cy="3905250"/>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D051D1B1-4A8C-4693-A3B3-3786538F8990}"/>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087DDF"/>
                </a:solidFill>
              </a:defRPr>
            </a:defPPr>
            <a:lvl1pPr>
              <a:defRPr sz="1425" b="0">
                <a:solidFill>
                  <a:srgbClr val="087DDF"/>
                </a:solidFill>
              </a:defRPr>
            </a:lvl1pPr>
            <a:lvl2pPr>
              <a:defRPr sz="1425" b="0">
                <a:solidFill>
                  <a:srgbClr val="087DDF"/>
                </a:solidFill>
              </a:defRPr>
            </a:lvl2pPr>
            <a:lvl3pPr>
              <a:defRPr sz="1425" b="0">
                <a:solidFill>
                  <a:srgbClr val="087DDF"/>
                </a:solidFill>
              </a:defRPr>
            </a:lvl3pPr>
            <a:lvl4pPr>
              <a:defRPr sz="1425" b="0">
                <a:solidFill>
                  <a:srgbClr val="087DDF"/>
                </a:solidFill>
              </a:defRPr>
            </a:lvl4pPr>
            <a:lvl5pPr>
              <a:defRPr sz="1425" b="0">
                <a:solidFill>
                  <a:srgbClr val="087DDF"/>
                </a:solidFill>
              </a:defRPr>
            </a:lvl5pPr>
            <a:lvl6pPr>
              <a:defRPr sz="1425" b="0">
                <a:solidFill>
                  <a:srgbClr val="087DDF"/>
                </a:solidFill>
              </a:defRPr>
            </a:lvl6pPr>
            <a:lvl7pPr>
              <a:defRPr sz="1425" b="0">
                <a:solidFill>
                  <a:srgbClr val="087DDF"/>
                </a:solidFill>
              </a:defRPr>
            </a:lvl7pPr>
            <a:lvl8pPr>
              <a:defRPr sz="1425" b="0">
                <a:solidFill>
                  <a:srgbClr val="087DDF"/>
                </a:solidFill>
              </a:defRPr>
            </a:lvl8pPr>
            <a:lvl9pPr>
              <a:defRPr sz="1425" b="0">
                <a:solidFill>
                  <a:srgbClr val="087DDF"/>
                </a:solidFill>
              </a:defRPr>
            </a:lvl9pPr>
          </a:lstStyle>
          <a:p xmlns:a="http://schemas.openxmlformats.org/drawingml/2006/main">
            <a:pPr>
              <a:defRPr sz="1425" b="0">
                <a:solidFill>
                  <a:srgbClr val="087DDF"/>
                </a:solidFill>
              </a:defRPr>
            </a:pPr>
            <a:r>
              <a:rPr sz="1425" b="0">
                <a:solidFill>
                  <a:srgbClr val="087DDF"/>
                </a:solidFill>
              </a:rPr>
              <a:t>PDF 03 goes in the customer chat. 30,000 USD millions equals $30bn.</a:t>
            </a:r>
          </a:p>
        </p:txBody>
      </p:sp>
      <p:sp>
        <p:nvSpPr>
          <p:cNvPr id="7" name="Footer">
            <a:extLst xmlns:a="http://schemas.openxmlformats.org/drawingml/2006/main">
              <a:ext uri="{FF2B5EF4-FFF2-40B4-BE49-F238E27FC236}">
                <a16:creationId xmlns:a16="http://schemas.microsoft.com/office/drawing/2014/main" id="{8BEC7877-9874-4693-A68F-2E4A693ED8B0}"/>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defRPr>
            </a:defPPr>
            <a:lvl1pPr>
              <a:defRPr sz="1200" b="0">
                <a:solidFill>
                  <a:srgbClr val="69778B"/>
                </a:solidFill>
              </a:defRPr>
            </a:lvl1pPr>
            <a:lvl2pPr>
              <a:defRPr sz="1200" b="0">
                <a:solidFill>
                  <a:srgbClr val="69778B"/>
                </a:solidFill>
              </a:defRPr>
            </a:lvl2pPr>
            <a:lvl3pPr>
              <a:defRPr sz="1200" b="0">
                <a:solidFill>
                  <a:srgbClr val="69778B"/>
                </a:solidFill>
              </a:defRPr>
            </a:lvl3pPr>
            <a:lvl4pPr>
              <a:defRPr sz="1200" b="0">
                <a:solidFill>
                  <a:srgbClr val="69778B"/>
                </a:solidFill>
              </a:defRPr>
            </a:lvl4pPr>
            <a:lvl5pPr>
              <a:defRPr sz="1200" b="0">
                <a:solidFill>
                  <a:srgbClr val="69778B"/>
                </a:solidFill>
              </a:defRPr>
            </a:lvl5pPr>
            <a:lvl6pPr>
              <a:defRPr sz="1200" b="0">
                <a:solidFill>
                  <a:srgbClr val="69778B"/>
                </a:solidFill>
              </a:defRPr>
            </a:lvl6pPr>
            <a:lvl7pPr>
              <a:defRPr sz="1200" b="0">
                <a:solidFill>
                  <a:srgbClr val="69778B"/>
                </a:solidFill>
              </a:defRPr>
            </a:lvl7pPr>
            <a:lvl8pPr>
              <a:defRPr sz="1200" b="0">
                <a:solidFill>
                  <a:srgbClr val="69778B"/>
                </a:solidFill>
              </a:defRPr>
            </a:lvl8pPr>
            <a:lvl9pPr>
              <a:defRPr sz="1200" b="0">
                <a:solidFill>
                  <a:srgbClr val="69778B"/>
                </a:solidFill>
              </a:defRPr>
            </a:lvl9pPr>
          </a:lstStyle>
          <a:p xmlns:a="http://schemas.openxmlformats.org/drawingml/2006/main">
            <a:pPr>
              <a:defRPr sz="1200" b="0">
                <a:solidFill>
                  <a:srgbClr val="69778B"/>
                </a:solidFill>
              </a:defRPr>
            </a:pPr>
            <a:r>
              <a:rPr sz="1200" b="0">
                <a:solidFill>
                  <a:srgbClr val="69778B"/>
                </a:solidFill>
              </a:rPr>
              <a:t>Build 2   /   Fictional training data   /   21 October 2026</a:t>
            </a:r>
          </a:p>
        </p:txBody>
      </p:sp>
    </p:spTree>
    <p:extLst>
      <p:ext uri="{BB962C8B-B14F-4D97-AF65-F5344CB8AC3E}">
        <p14:creationId xmlns:p14="http://schemas.microsoft.com/office/powerpoint/2010/main" val="39284481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98A7091B-7E20-4EB5-9431-2AAF9F0EFAAC}"/>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defRPr>
            </a:defPPr>
            <a:lvl1pPr>
              <a:defRPr sz="1800" b="1">
                <a:solidFill>
                  <a:srgbClr val="087DDF"/>
                </a:solidFill>
              </a:defRPr>
            </a:lvl1pPr>
            <a:lvl2pPr>
              <a:defRPr sz="1800" b="1">
                <a:solidFill>
                  <a:srgbClr val="087DDF"/>
                </a:solidFill>
              </a:defRPr>
            </a:lvl2pPr>
            <a:lvl3pPr>
              <a:defRPr sz="1800" b="1">
                <a:solidFill>
                  <a:srgbClr val="087DDF"/>
                </a:solidFill>
              </a:defRPr>
            </a:lvl3pPr>
            <a:lvl4pPr>
              <a:defRPr sz="1800" b="1">
                <a:solidFill>
                  <a:srgbClr val="087DDF"/>
                </a:solidFill>
              </a:defRPr>
            </a:lvl4pPr>
            <a:lvl5pPr>
              <a:defRPr sz="1800" b="1">
                <a:solidFill>
                  <a:srgbClr val="087DDF"/>
                </a:solidFill>
              </a:defRPr>
            </a:lvl5pPr>
            <a:lvl6pPr>
              <a:defRPr sz="1800" b="1">
                <a:solidFill>
                  <a:srgbClr val="087DDF"/>
                </a:solidFill>
              </a:defRPr>
            </a:lvl6pPr>
            <a:lvl7pPr>
              <a:defRPr sz="1800" b="1">
                <a:solidFill>
                  <a:srgbClr val="087DDF"/>
                </a:solidFill>
              </a:defRPr>
            </a:lvl7pPr>
            <a:lvl8pPr>
              <a:defRPr sz="1800" b="1">
                <a:solidFill>
                  <a:srgbClr val="087DDF"/>
                </a:solidFill>
              </a:defRPr>
            </a:lvl8pPr>
            <a:lvl9pPr>
              <a:defRPr sz="1800" b="1">
                <a:solidFill>
                  <a:srgbClr val="087DDF"/>
                </a:solidFill>
              </a:defRPr>
            </a:lvl9pPr>
          </a:lstStyle>
          <a:p xmlns:a="http://schemas.openxmlformats.org/drawingml/2006/main">
            <a:pPr>
              <a:defRPr sz="1800" b="1">
                <a:solidFill>
                  <a:srgbClr val="087DDF"/>
                </a:solidFill>
              </a:defRPr>
            </a:pPr>
            <a:r>
              <a:rPr sz="1800" b="1">
                <a:solidFill>
                  <a:srgbClr val="087DDF"/>
                </a:solidFill>
              </a:rPr>
              <a:t>10</a:t>
            </a:r>
          </a:p>
        </p:txBody>
      </p:sp>
      <p:sp>
        <p:nvSpPr>
          <p:cNvPr id="3" name="Title">
            <a:extLst xmlns:a="http://schemas.openxmlformats.org/drawingml/2006/main">
              <a:ext uri="{FF2B5EF4-FFF2-40B4-BE49-F238E27FC236}">
                <a16:creationId xmlns:a16="http://schemas.microsoft.com/office/drawing/2014/main" id="{646FA142-D59F-44CD-95FE-6BAE480AE778}"/>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defRPr>
            </a:defPPr>
            <a:lvl1pPr>
              <a:defRPr sz="3300" b="1">
                <a:solidFill>
                  <a:srgbClr val="102744"/>
                </a:solidFill>
              </a:defRPr>
            </a:lvl1pPr>
            <a:lvl2pPr>
              <a:defRPr sz="3300" b="1">
                <a:solidFill>
                  <a:srgbClr val="102744"/>
                </a:solidFill>
              </a:defRPr>
            </a:lvl2pPr>
            <a:lvl3pPr>
              <a:defRPr sz="3300" b="1">
                <a:solidFill>
                  <a:srgbClr val="102744"/>
                </a:solidFill>
              </a:defRPr>
            </a:lvl3pPr>
            <a:lvl4pPr>
              <a:defRPr sz="3300" b="1">
                <a:solidFill>
                  <a:srgbClr val="102744"/>
                </a:solidFill>
              </a:defRPr>
            </a:lvl4pPr>
            <a:lvl5pPr>
              <a:defRPr sz="3300" b="1">
                <a:solidFill>
                  <a:srgbClr val="102744"/>
                </a:solidFill>
              </a:defRPr>
            </a:lvl5pPr>
            <a:lvl6pPr>
              <a:defRPr sz="3300" b="1">
                <a:solidFill>
                  <a:srgbClr val="102744"/>
                </a:solidFill>
              </a:defRPr>
            </a:lvl6pPr>
            <a:lvl7pPr>
              <a:defRPr sz="3300" b="1">
                <a:solidFill>
                  <a:srgbClr val="102744"/>
                </a:solidFill>
              </a:defRPr>
            </a:lvl7pPr>
            <a:lvl8pPr>
              <a:defRPr sz="3300" b="1">
                <a:solidFill>
                  <a:srgbClr val="102744"/>
                </a:solidFill>
              </a:defRPr>
            </a:lvl8pPr>
            <a:lvl9pPr>
              <a:defRPr sz="3300" b="1">
                <a:solidFill>
                  <a:srgbClr val="102744"/>
                </a:solidFill>
              </a:defRPr>
            </a:lvl9pPr>
          </a:lstStyle>
          <a:p xmlns:a="http://schemas.openxmlformats.org/drawingml/2006/main">
            <a:pPr>
              <a:defRPr sz="3300" b="1">
                <a:solidFill>
                  <a:srgbClr val="102744"/>
                </a:solidFill>
              </a:defRPr>
            </a:pPr>
            <a:r>
              <a:rPr sz="3300" b="1">
                <a:solidFill>
                  <a:srgbClr val="102744"/>
                </a:solidFill>
              </a:rPr>
              <a:t>Attach customer documents and run</a:t>
            </a:r>
          </a:p>
        </p:txBody>
      </p:sp>
      <p:sp>
        <p:nvSpPr>
          <p:cNvPr id="4" name="Body">
            <a:extLst xmlns:a="http://schemas.openxmlformats.org/drawingml/2006/main">
              <a:ext uri="{FF2B5EF4-FFF2-40B4-BE49-F238E27FC236}">
                <a16:creationId xmlns:a16="http://schemas.microsoft.com/office/drawing/2014/main" id="{A524B813-96A2-4246-B513-90C2C0B3F5D6}"/>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defRPr>
            </a:defPPr>
            <a:lvl1pPr>
              <a:defRPr sz="1800" b="0">
                <a:solidFill>
                  <a:srgbClr val="25354B"/>
                </a:solidFill>
              </a:defRPr>
            </a:lvl1pPr>
            <a:lvl2pPr>
              <a:defRPr sz="1800" b="0">
                <a:solidFill>
                  <a:srgbClr val="25354B"/>
                </a:solidFill>
              </a:defRPr>
            </a:lvl2pPr>
            <a:lvl3pPr>
              <a:defRPr sz="1800" b="0">
                <a:solidFill>
                  <a:srgbClr val="25354B"/>
                </a:solidFill>
              </a:defRPr>
            </a:lvl3pPr>
            <a:lvl4pPr>
              <a:defRPr sz="1800" b="0">
                <a:solidFill>
                  <a:srgbClr val="25354B"/>
                </a:solidFill>
              </a:defRPr>
            </a:lvl4pPr>
            <a:lvl5pPr>
              <a:defRPr sz="1800" b="0">
                <a:solidFill>
                  <a:srgbClr val="25354B"/>
                </a:solidFill>
              </a:defRPr>
            </a:lvl5pPr>
            <a:lvl6pPr>
              <a:defRPr sz="1800" b="0">
                <a:solidFill>
                  <a:srgbClr val="25354B"/>
                </a:solidFill>
              </a:defRPr>
            </a:lvl6pPr>
            <a:lvl7pPr>
              <a:defRPr sz="1800" b="0">
                <a:solidFill>
                  <a:srgbClr val="25354B"/>
                </a:solidFill>
              </a:defRPr>
            </a:lvl7pPr>
            <a:lvl8pPr>
              <a:defRPr sz="1800" b="0">
                <a:solidFill>
                  <a:srgbClr val="25354B"/>
                </a:solidFill>
              </a:defRPr>
            </a:lvl8pPr>
            <a:lvl9pPr>
              <a:defRPr sz="1800" b="0">
                <a:solidFill>
                  <a:srgbClr val="25354B"/>
                </a:solidFill>
              </a:defRPr>
            </a:lvl9pPr>
          </a:lstStyle>
          <a:p xmlns:a="http://schemas.openxmlformats.org/drawingml/2006/main">
            <a:pPr>
              <a:defRPr sz="1800" b="0">
                <a:solidFill>
                  <a:srgbClr val="25354B"/>
                </a:solidFill>
              </a:defRPr>
            </a:pPr>
            <a:r>
              <a:rPr sz="1800" b="0">
                <a:solidFill>
                  <a:srgbClr val="25354B"/>
                </a:solidFill>
              </a:rPr>
              <a:t>Start a new customer chat.</a:t>
            </a:r>
          </a:p>
          <a:p xmlns:a="http://schemas.openxmlformats.org/drawingml/2006/main">
            <a:pPr>
              <a:defRPr sz="1800" b="0">
                <a:solidFill>
                  <a:srgbClr val="25354B"/>
                </a:solidFill>
              </a:defRPr>
            </a:pPr>
            <a:r>
              <a:t/>
            </a:r>
          </a:p>
          <a:p xmlns:a="http://schemas.openxmlformats.org/drawingml/2006/main">
            <a:pPr>
              <a:defRPr sz="1800" b="0">
                <a:solidFill>
                  <a:srgbClr val="25354B"/>
                </a:solidFill>
              </a:defRPr>
            </a:pPr>
            <a:r>
              <a:rPr sz="1800" b="0">
                <a:solidFill>
                  <a:srgbClr val="25354B"/>
                </a:solidFill>
              </a:rPr>
              <a:t>Use + to attach PDF 02 and PDF 03.</a:t>
            </a:r>
          </a:p>
          <a:p xmlns:a="http://schemas.openxmlformats.org/drawingml/2006/main">
            <a:pPr>
              <a:defRPr sz="1800" b="0">
                <a:solidFill>
                  <a:srgbClr val="25354B"/>
                </a:solidFill>
              </a:defRPr>
            </a:pPr>
            <a:r>
              <a:t/>
            </a:r>
          </a:p>
          <a:p xmlns:a="http://schemas.openxmlformats.org/drawingml/2006/main">
            <a:pPr>
              <a:defRPr sz="1800" b="0">
                <a:solidFill>
                  <a:srgbClr val="25354B"/>
                </a:solidFill>
              </a:defRPr>
            </a:pPr>
            <a:r>
              <a:rPr sz="1800" b="0">
                <a:solidFill>
                  <a:srgbClr val="25354B"/>
                </a:solidFill>
              </a:rPr>
              <a:t>Paste the workshop review prompt and click Send.</a:t>
            </a:r>
          </a:p>
          <a:p xmlns:a="http://schemas.openxmlformats.org/drawingml/2006/main">
            <a:pPr>
              <a:defRPr sz="1800" b="0">
                <a:solidFill>
                  <a:srgbClr val="25354B"/>
                </a:solidFill>
              </a:defRPr>
            </a:pPr>
            <a:r>
              <a:rPr sz="1800" b="0">
                <a:solidFill>
                  <a:srgbClr val="25354B"/>
                </a:solidFill>
              </a:rPr>
              <a:t/>
            </a:r>
          </a:p>
          <a:p xmlns:a="http://schemas.openxmlformats.org/drawingml/2006/main">
            <a:pPr>
              <a:defRPr sz="1800" b="0">
                <a:solidFill>
                  <a:srgbClr val="25354B"/>
                </a:solidFill>
              </a:defRPr>
            </a:pPr>
            <a:r>
              <a:rPr sz="1800" b="0">
                <a:solidFill>
                  <a:srgbClr val="25354B"/>
                </a:solidFill>
              </a:rPr>
              <a:t>Keep the policy in project Sources.</a:t>
            </a:r>
          </a:p>
        </p:txBody>
      </p:sp>
      <p:pic>
        <p:nvPicPr>
          <p:cNvPr id="5" name="">
            <a:extLst xmlns:a="http://schemas.openxmlformats.org/drawingml/2006/main">
              <a:ext uri="{FF2B5EF4-FFF2-40B4-BE49-F238E27FC236}">
                <a16:creationId xmlns:a16="http://schemas.microsoft.com/office/drawing/2014/main" id="{F56D64B1-281C-455E-9EBE-0B2C61C99CA5}"/>
              </a:ext>
            </a:extLst>
          </p:cNvPr>
          <p:cNvPicPr>
            <a:picLocks xmlns:a="http://schemas.openxmlformats.org/drawingml/2006/main" noChangeAspect="1"/>
          </p:cNvPicPr>
          <p:nvPr/>
        </p:nvPicPr>
        <p:blipFill>
          <a:blip xmlns:r="http://schemas.openxmlformats.org/officeDocument/2006/relationships" xmlns:a="http://schemas.openxmlformats.org/drawingml/2006/main" r:embed="Rcfe1aa7f9c9e4d8c"/>
          <a:stretch xmlns:a="http://schemas.openxmlformats.org/drawingml/2006/main"/>
        </p:blipFill>
        <p:spPr>
          <a:xfrm xmlns:a="http://schemas.openxmlformats.org/drawingml/2006/main">
            <a:off x="4437063" y="1666875"/>
            <a:ext cx="6508750" cy="3905250"/>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696DEAEA-3288-4FA3-A6DE-F3440B725F73}"/>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087DDF"/>
                </a:solidFill>
              </a:defRPr>
            </a:defPPr>
            <a:lvl1pPr>
              <a:defRPr sz="1425" b="0">
                <a:solidFill>
                  <a:srgbClr val="087DDF"/>
                </a:solidFill>
              </a:defRPr>
            </a:lvl1pPr>
            <a:lvl2pPr>
              <a:defRPr sz="1425" b="0">
                <a:solidFill>
                  <a:srgbClr val="087DDF"/>
                </a:solidFill>
              </a:defRPr>
            </a:lvl2pPr>
            <a:lvl3pPr>
              <a:defRPr sz="1425" b="0">
                <a:solidFill>
                  <a:srgbClr val="087DDF"/>
                </a:solidFill>
              </a:defRPr>
            </a:lvl3pPr>
            <a:lvl4pPr>
              <a:defRPr sz="1425" b="0">
                <a:solidFill>
                  <a:srgbClr val="087DDF"/>
                </a:solidFill>
              </a:defRPr>
            </a:lvl4pPr>
            <a:lvl5pPr>
              <a:defRPr sz="1425" b="0">
                <a:solidFill>
                  <a:srgbClr val="087DDF"/>
                </a:solidFill>
              </a:defRPr>
            </a:lvl5pPr>
            <a:lvl6pPr>
              <a:defRPr sz="1425" b="0">
                <a:solidFill>
                  <a:srgbClr val="087DDF"/>
                </a:solidFill>
              </a:defRPr>
            </a:lvl6pPr>
            <a:lvl7pPr>
              <a:defRPr sz="1425" b="0">
                <a:solidFill>
                  <a:srgbClr val="087DDF"/>
                </a:solidFill>
              </a:defRPr>
            </a:lvl7pPr>
            <a:lvl8pPr>
              <a:defRPr sz="1425" b="0">
                <a:solidFill>
                  <a:srgbClr val="087DDF"/>
                </a:solidFill>
              </a:defRPr>
            </a:lvl8pPr>
            <a:lvl9pPr>
              <a:defRPr sz="1425" b="0">
                <a:solidFill>
                  <a:srgbClr val="087DDF"/>
                </a:solidFill>
              </a:defRPr>
            </a:lvl9pPr>
          </a:lstStyle>
          <a:p xmlns:a="http://schemas.openxmlformats.org/drawingml/2006/main">
            <a:pPr>
              <a:defRPr sz="1425" b="0">
                <a:solidFill>
                  <a:srgbClr val="087DDF"/>
                </a:solidFill>
              </a:defRPr>
            </a:pPr>
            <a:r>
              <a:rPr sz="1425" b="0">
                <a:solidFill>
                  <a:srgbClr val="087DDF"/>
                </a:solidFill>
              </a:rPr>
              <a:t>The two customer PDFs accompany the request in this chat.</a:t>
            </a:r>
          </a:p>
        </p:txBody>
      </p:sp>
      <p:sp>
        <p:nvSpPr>
          <p:cNvPr id="7" name="Footer">
            <a:extLst xmlns:a="http://schemas.openxmlformats.org/drawingml/2006/main">
              <a:ext uri="{FF2B5EF4-FFF2-40B4-BE49-F238E27FC236}">
                <a16:creationId xmlns:a16="http://schemas.microsoft.com/office/drawing/2014/main" id="{3730C034-EEBD-4FD3-B203-FA7E622F8A7F}"/>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defRPr>
            </a:defPPr>
            <a:lvl1pPr>
              <a:defRPr sz="1200" b="0">
                <a:solidFill>
                  <a:srgbClr val="69778B"/>
                </a:solidFill>
              </a:defRPr>
            </a:lvl1pPr>
            <a:lvl2pPr>
              <a:defRPr sz="1200" b="0">
                <a:solidFill>
                  <a:srgbClr val="69778B"/>
                </a:solidFill>
              </a:defRPr>
            </a:lvl2pPr>
            <a:lvl3pPr>
              <a:defRPr sz="1200" b="0">
                <a:solidFill>
                  <a:srgbClr val="69778B"/>
                </a:solidFill>
              </a:defRPr>
            </a:lvl3pPr>
            <a:lvl4pPr>
              <a:defRPr sz="1200" b="0">
                <a:solidFill>
                  <a:srgbClr val="69778B"/>
                </a:solidFill>
              </a:defRPr>
            </a:lvl4pPr>
            <a:lvl5pPr>
              <a:defRPr sz="1200" b="0">
                <a:solidFill>
                  <a:srgbClr val="69778B"/>
                </a:solidFill>
              </a:defRPr>
            </a:lvl5pPr>
            <a:lvl6pPr>
              <a:defRPr sz="1200" b="0">
                <a:solidFill>
                  <a:srgbClr val="69778B"/>
                </a:solidFill>
              </a:defRPr>
            </a:lvl6pPr>
            <a:lvl7pPr>
              <a:defRPr sz="1200" b="0">
                <a:solidFill>
                  <a:srgbClr val="69778B"/>
                </a:solidFill>
              </a:defRPr>
            </a:lvl7pPr>
            <a:lvl8pPr>
              <a:defRPr sz="1200" b="0">
                <a:solidFill>
                  <a:srgbClr val="69778B"/>
                </a:solidFill>
              </a:defRPr>
            </a:lvl8pPr>
            <a:lvl9pPr>
              <a:defRPr sz="1200" b="0">
                <a:solidFill>
                  <a:srgbClr val="69778B"/>
                </a:solidFill>
              </a:defRPr>
            </a:lvl9pPr>
          </a:lstStyle>
          <a:p xmlns:a="http://schemas.openxmlformats.org/drawingml/2006/main">
            <a:pPr>
              <a:defRPr sz="1200" b="0">
                <a:solidFill>
                  <a:srgbClr val="69778B"/>
                </a:solidFill>
              </a:defRPr>
            </a:pPr>
            <a:r>
              <a:rPr sz="1200" b="0">
                <a:solidFill>
                  <a:srgbClr val="69778B"/>
                </a:solidFill>
              </a:rPr>
              <a:t>Build 2   /   Fictional training data   /   21 October 2026</a:t>
            </a:r>
          </a:p>
        </p:txBody>
      </p:sp>
    </p:spTree>
    <p:extLst>
      <p:ext uri="{BB962C8B-B14F-4D97-AF65-F5344CB8AC3E}">
        <p14:creationId xmlns:p14="http://schemas.microsoft.com/office/powerpoint/2010/main" val="191549630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B8547D41-FF9B-4D4B-B603-64F5EC8D0E66}"/>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defRPr>
            </a:defPPr>
            <a:lvl1pPr>
              <a:defRPr sz="1800" b="1">
                <a:solidFill>
                  <a:srgbClr val="087DDF"/>
                </a:solidFill>
              </a:defRPr>
            </a:lvl1pPr>
            <a:lvl2pPr>
              <a:defRPr sz="1800" b="1">
                <a:solidFill>
                  <a:srgbClr val="087DDF"/>
                </a:solidFill>
              </a:defRPr>
            </a:lvl2pPr>
            <a:lvl3pPr>
              <a:defRPr sz="1800" b="1">
                <a:solidFill>
                  <a:srgbClr val="087DDF"/>
                </a:solidFill>
              </a:defRPr>
            </a:lvl3pPr>
            <a:lvl4pPr>
              <a:defRPr sz="1800" b="1">
                <a:solidFill>
                  <a:srgbClr val="087DDF"/>
                </a:solidFill>
              </a:defRPr>
            </a:lvl4pPr>
            <a:lvl5pPr>
              <a:defRPr sz="1800" b="1">
                <a:solidFill>
                  <a:srgbClr val="087DDF"/>
                </a:solidFill>
              </a:defRPr>
            </a:lvl5pPr>
            <a:lvl6pPr>
              <a:defRPr sz="1800" b="1">
                <a:solidFill>
                  <a:srgbClr val="087DDF"/>
                </a:solidFill>
              </a:defRPr>
            </a:lvl6pPr>
            <a:lvl7pPr>
              <a:defRPr sz="1800" b="1">
                <a:solidFill>
                  <a:srgbClr val="087DDF"/>
                </a:solidFill>
              </a:defRPr>
            </a:lvl7pPr>
            <a:lvl8pPr>
              <a:defRPr sz="1800" b="1">
                <a:solidFill>
                  <a:srgbClr val="087DDF"/>
                </a:solidFill>
              </a:defRPr>
            </a:lvl8pPr>
            <a:lvl9pPr>
              <a:defRPr sz="1800" b="1">
                <a:solidFill>
                  <a:srgbClr val="087DDF"/>
                </a:solidFill>
              </a:defRPr>
            </a:lvl9pPr>
          </a:lstStyle>
          <a:p xmlns:a="http://schemas.openxmlformats.org/drawingml/2006/main">
            <a:pPr>
              <a:defRPr sz="1800" b="1">
                <a:solidFill>
                  <a:srgbClr val="087DDF"/>
                </a:solidFill>
              </a:defRPr>
            </a:pPr>
            <a:r>
              <a:rPr sz="1800" b="1">
                <a:solidFill>
                  <a:srgbClr val="087DDF"/>
                </a:solidFill>
              </a:rPr>
              <a:t>11</a:t>
            </a:r>
          </a:p>
        </p:txBody>
      </p:sp>
      <p:sp>
        <p:nvSpPr>
          <p:cNvPr id="3" name="Title">
            <a:extLst xmlns:a="http://schemas.openxmlformats.org/drawingml/2006/main">
              <a:ext uri="{FF2B5EF4-FFF2-40B4-BE49-F238E27FC236}">
                <a16:creationId xmlns:a16="http://schemas.microsoft.com/office/drawing/2014/main" id="{5182093C-0530-4BC2-937E-64AAD7885E25}"/>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defRPr>
            </a:defPPr>
            <a:lvl1pPr>
              <a:defRPr sz="3300" b="1">
                <a:solidFill>
                  <a:srgbClr val="102744"/>
                </a:solidFill>
              </a:defRPr>
            </a:lvl1pPr>
            <a:lvl2pPr>
              <a:defRPr sz="3300" b="1">
                <a:solidFill>
                  <a:srgbClr val="102744"/>
                </a:solidFill>
              </a:defRPr>
            </a:lvl2pPr>
            <a:lvl3pPr>
              <a:defRPr sz="3300" b="1">
                <a:solidFill>
                  <a:srgbClr val="102744"/>
                </a:solidFill>
              </a:defRPr>
            </a:lvl3pPr>
            <a:lvl4pPr>
              <a:defRPr sz="3300" b="1">
                <a:solidFill>
                  <a:srgbClr val="102744"/>
                </a:solidFill>
              </a:defRPr>
            </a:lvl4pPr>
            <a:lvl5pPr>
              <a:defRPr sz="3300" b="1">
                <a:solidFill>
                  <a:srgbClr val="102744"/>
                </a:solidFill>
              </a:defRPr>
            </a:lvl5pPr>
            <a:lvl6pPr>
              <a:defRPr sz="3300" b="1">
                <a:solidFill>
                  <a:srgbClr val="102744"/>
                </a:solidFill>
              </a:defRPr>
            </a:lvl6pPr>
            <a:lvl7pPr>
              <a:defRPr sz="3300" b="1">
                <a:solidFill>
                  <a:srgbClr val="102744"/>
                </a:solidFill>
              </a:defRPr>
            </a:lvl7pPr>
            <a:lvl8pPr>
              <a:defRPr sz="3300" b="1">
                <a:solidFill>
                  <a:srgbClr val="102744"/>
                </a:solidFill>
              </a:defRPr>
            </a:lvl8pPr>
            <a:lvl9pPr>
              <a:defRPr sz="3300" b="1">
                <a:solidFill>
                  <a:srgbClr val="102744"/>
                </a:solidFill>
              </a:defRPr>
            </a:lvl9pPr>
          </a:lstStyle>
          <a:p xmlns:a="http://schemas.openxmlformats.org/drawingml/2006/main">
            <a:pPr>
              <a:defRPr sz="3300" b="1">
                <a:solidFill>
                  <a:srgbClr val="102744"/>
                </a:solidFill>
              </a:defRPr>
            </a:pPr>
            <a:r>
              <a:rPr sz="3300" b="1">
                <a:solidFill>
                  <a:srgbClr val="102744"/>
                </a:solidFill>
              </a:rPr>
              <a:t>The completed policy review</a:t>
            </a:r>
          </a:p>
        </p:txBody>
      </p:sp>
      <p:sp>
        <p:nvSpPr>
          <p:cNvPr id="4" name="Body">
            <a:extLst xmlns:a="http://schemas.openxmlformats.org/drawingml/2006/main">
              <a:ext uri="{FF2B5EF4-FFF2-40B4-BE49-F238E27FC236}">
                <a16:creationId xmlns:a16="http://schemas.microsoft.com/office/drawing/2014/main" id="{B87FCA2E-0694-45E1-8792-9605525FEF04}"/>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defRPr>
            </a:defPPr>
            <a:lvl1pPr>
              <a:defRPr sz="1800" b="0">
                <a:solidFill>
                  <a:srgbClr val="25354B"/>
                </a:solidFill>
              </a:defRPr>
            </a:lvl1pPr>
            <a:lvl2pPr>
              <a:defRPr sz="1800" b="0">
                <a:solidFill>
                  <a:srgbClr val="25354B"/>
                </a:solidFill>
              </a:defRPr>
            </a:lvl2pPr>
            <a:lvl3pPr>
              <a:defRPr sz="1800" b="0">
                <a:solidFill>
                  <a:srgbClr val="25354B"/>
                </a:solidFill>
              </a:defRPr>
            </a:lvl3pPr>
            <a:lvl4pPr>
              <a:defRPr sz="1800" b="0">
                <a:solidFill>
                  <a:srgbClr val="25354B"/>
                </a:solidFill>
              </a:defRPr>
            </a:lvl4pPr>
            <a:lvl5pPr>
              <a:defRPr sz="1800" b="0">
                <a:solidFill>
                  <a:srgbClr val="25354B"/>
                </a:solidFill>
              </a:defRPr>
            </a:lvl5pPr>
            <a:lvl6pPr>
              <a:defRPr sz="1800" b="0">
                <a:solidFill>
                  <a:srgbClr val="25354B"/>
                </a:solidFill>
              </a:defRPr>
            </a:lvl6pPr>
            <a:lvl7pPr>
              <a:defRPr sz="1800" b="0">
                <a:solidFill>
                  <a:srgbClr val="25354B"/>
                </a:solidFill>
              </a:defRPr>
            </a:lvl7pPr>
            <a:lvl8pPr>
              <a:defRPr sz="1800" b="0">
                <a:solidFill>
                  <a:srgbClr val="25354B"/>
                </a:solidFill>
              </a:defRPr>
            </a:lvl8pPr>
            <a:lvl9pPr>
              <a:defRPr sz="1800" b="0">
                <a:solidFill>
                  <a:srgbClr val="25354B"/>
                </a:solidFill>
              </a:defRPr>
            </a:lvl9pPr>
          </a:lstStyle>
          <a:p xmlns:a="http://schemas.openxmlformats.org/drawingml/2006/main">
            <a:pPr>
              <a:defRPr sz="1800" b="0">
                <a:solidFill>
                  <a:srgbClr val="25354B"/>
                </a:solidFill>
              </a:defRPr>
            </a:pPr>
            <a:r>
              <a:rPr sz="1800" b="0">
                <a:solidFill>
                  <a:srgbClr val="25354B"/>
                </a:solidFill>
              </a:rPr>
              <a:t>ChatGPT reads the reusable workflow and policy.</a:t>
            </a:r>
          </a:p>
          <a:p xmlns:a="http://schemas.openxmlformats.org/drawingml/2006/main">
            <a:pPr>
              <a:defRPr sz="1800" b="0">
                <a:solidFill>
                  <a:srgbClr val="25354B"/>
                </a:solidFill>
              </a:defRPr>
            </a:pPr>
            <a:r>
              <a:t/>
            </a:r>
          </a:p>
          <a:p xmlns:a="http://schemas.openxmlformats.org/drawingml/2006/main">
            <a:pPr>
              <a:defRPr sz="1800" b="0">
                <a:solidFill>
                  <a:srgbClr val="25354B"/>
                </a:solidFill>
              </a:defRPr>
            </a:pPr>
            <a:r>
              <a:rPr sz="1800" b="0">
                <a:solidFill>
                  <a:srgbClr val="25354B"/>
                </a:solidFill>
              </a:rPr>
              <a:t>It reviews the customer files attached to this chat and calculates the policy tests.</a:t>
            </a:r>
          </a:p>
          <a:p xmlns:a="http://schemas.openxmlformats.org/drawingml/2006/main">
            <a:pPr>
              <a:defRPr sz="1800" b="0">
                <a:solidFill>
                  <a:srgbClr val="25354B"/>
                </a:solidFill>
              </a:defRPr>
            </a:pPr>
            <a:r>
              <a:t/>
            </a:r>
          </a:p>
          <a:p xmlns:a="http://schemas.openxmlformats.org/drawingml/2006/main">
            <a:pPr>
              <a:defRPr sz="1800" b="0">
                <a:solidFill>
                  <a:srgbClr val="25354B"/>
                </a:solidFill>
              </a:defRPr>
            </a:pPr>
            <a:r>
              <a:rPr sz="1800" b="0">
                <a:solidFill>
                  <a:srgbClr val="25354B"/>
                </a:solidFill>
              </a:rPr>
              <a:t>The corrected run completed in 2m 54s.</a:t>
            </a:r>
          </a:p>
        </p:txBody>
      </p:sp>
      <p:pic>
        <p:nvPicPr>
          <p:cNvPr id="5" name="">
            <a:extLst xmlns:a="http://schemas.openxmlformats.org/drawingml/2006/main">
              <a:ext uri="{FF2B5EF4-FFF2-40B4-BE49-F238E27FC236}">
                <a16:creationId xmlns:a16="http://schemas.microsoft.com/office/drawing/2014/main" id="{163CCA78-8F72-475F-AE1B-214B887701F0}"/>
              </a:ext>
            </a:extLst>
          </p:cNvPr>
          <p:cNvPicPr>
            <a:picLocks xmlns:a="http://schemas.openxmlformats.org/drawingml/2006/main" noChangeAspect="1"/>
          </p:cNvPicPr>
          <p:nvPr/>
        </p:nvPicPr>
        <p:blipFill>
          <a:blip xmlns:r="http://schemas.openxmlformats.org/officeDocument/2006/relationships" xmlns:a="http://schemas.openxmlformats.org/drawingml/2006/main" r:embed="Re33dab15e140414c"/>
          <a:stretch xmlns:a="http://schemas.openxmlformats.org/drawingml/2006/main"/>
        </p:blipFill>
        <p:spPr>
          <a:xfrm xmlns:a="http://schemas.openxmlformats.org/drawingml/2006/main">
            <a:off x="3714750" y="1897947"/>
            <a:ext cx="7953375" cy="3443107"/>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52595F2D-9807-4E36-BF5C-D0BEDC0912D5}"/>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087DDF"/>
                </a:solidFill>
              </a:defRPr>
            </a:defPPr>
            <a:lvl1pPr>
              <a:defRPr sz="1425" b="0">
                <a:solidFill>
                  <a:srgbClr val="087DDF"/>
                </a:solidFill>
              </a:defRPr>
            </a:lvl1pPr>
            <a:lvl2pPr>
              <a:defRPr sz="1425" b="0">
                <a:solidFill>
                  <a:srgbClr val="087DDF"/>
                </a:solidFill>
              </a:defRPr>
            </a:lvl2pPr>
            <a:lvl3pPr>
              <a:defRPr sz="1425" b="0">
                <a:solidFill>
                  <a:srgbClr val="087DDF"/>
                </a:solidFill>
              </a:defRPr>
            </a:lvl3pPr>
            <a:lvl4pPr>
              <a:defRPr sz="1425" b="0">
                <a:solidFill>
                  <a:srgbClr val="087DDF"/>
                </a:solidFill>
              </a:defRPr>
            </a:lvl4pPr>
            <a:lvl5pPr>
              <a:defRPr sz="1425" b="0">
                <a:solidFill>
                  <a:srgbClr val="087DDF"/>
                </a:solidFill>
              </a:defRPr>
            </a:lvl5pPr>
            <a:lvl6pPr>
              <a:defRPr sz="1425" b="0">
                <a:solidFill>
                  <a:srgbClr val="087DDF"/>
                </a:solidFill>
              </a:defRPr>
            </a:lvl6pPr>
            <a:lvl7pPr>
              <a:defRPr sz="1425" b="0">
                <a:solidFill>
                  <a:srgbClr val="087DDF"/>
                </a:solidFill>
              </a:defRPr>
            </a:lvl7pPr>
            <a:lvl8pPr>
              <a:defRPr sz="1425" b="0">
                <a:solidFill>
                  <a:srgbClr val="087DDF"/>
                </a:solidFill>
              </a:defRPr>
            </a:lvl8pPr>
            <a:lvl9pPr>
              <a:defRPr sz="1425" b="0">
                <a:solidFill>
                  <a:srgbClr val="087DDF"/>
                </a:solidFill>
              </a:defRPr>
            </a:lvl9pPr>
          </a:lstStyle>
          <a:p xmlns:a="http://schemas.openxmlformats.org/drawingml/2006/main">
            <a:pPr>
              <a:defRPr sz="1425" b="0">
                <a:solidFill>
                  <a:srgbClr val="087DDF"/>
                </a:solidFill>
              </a:defRPr>
            </a:pPr>
            <a:r>
              <a:rPr sz="1425" b="0">
                <a:solidFill>
                  <a:srgbClr val="087DDF"/>
                </a:solidFill>
              </a:rPr>
              <a:t>The review was rerun with the application and financials attached to the chat.</a:t>
            </a:r>
          </a:p>
        </p:txBody>
      </p:sp>
      <p:sp>
        <p:nvSpPr>
          <p:cNvPr id="7" name="Footer">
            <a:extLst xmlns:a="http://schemas.openxmlformats.org/drawingml/2006/main">
              <a:ext uri="{FF2B5EF4-FFF2-40B4-BE49-F238E27FC236}">
                <a16:creationId xmlns:a16="http://schemas.microsoft.com/office/drawing/2014/main" id="{A0C08D5A-483F-481A-A555-90AB827F852B}"/>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defRPr>
            </a:defPPr>
            <a:lvl1pPr>
              <a:defRPr sz="1200" b="0">
                <a:solidFill>
                  <a:srgbClr val="69778B"/>
                </a:solidFill>
              </a:defRPr>
            </a:lvl1pPr>
            <a:lvl2pPr>
              <a:defRPr sz="1200" b="0">
                <a:solidFill>
                  <a:srgbClr val="69778B"/>
                </a:solidFill>
              </a:defRPr>
            </a:lvl2pPr>
            <a:lvl3pPr>
              <a:defRPr sz="1200" b="0">
                <a:solidFill>
                  <a:srgbClr val="69778B"/>
                </a:solidFill>
              </a:defRPr>
            </a:lvl3pPr>
            <a:lvl4pPr>
              <a:defRPr sz="1200" b="0">
                <a:solidFill>
                  <a:srgbClr val="69778B"/>
                </a:solidFill>
              </a:defRPr>
            </a:lvl4pPr>
            <a:lvl5pPr>
              <a:defRPr sz="1200" b="0">
                <a:solidFill>
                  <a:srgbClr val="69778B"/>
                </a:solidFill>
              </a:defRPr>
            </a:lvl5pPr>
            <a:lvl6pPr>
              <a:defRPr sz="1200" b="0">
                <a:solidFill>
                  <a:srgbClr val="69778B"/>
                </a:solidFill>
              </a:defRPr>
            </a:lvl6pPr>
            <a:lvl7pPr>
              <a:defRPr sz="1200" b="0">
                <a:solidFill>
                  <a:srgbClr val="69778B"/>
                </a:solidFill>
              </a:defRPr>
            </a:lvl7pPr>
            <a:lvl8pPr>
              <a:defRPr sz="1200" b="0">
                <a:solidFill>
                  <a:srgbClr val="69778B"/>
                </a:solidFill>
              </a:defRPr>
            </a:lvl8pPr>
            <a:lvl9pPr>
              <a:defRPr sz="1200" b="0">
                <a:solidFill>
                  <a:srgbClr val="69778B"/>
                </a:solidFill>
              </a:defRPr>
            </a:lvl9pPr>
          </a:lstStyle>
          <a:p xmlns:a="http://schemas.openxmlformats.org/drawingml/2006/main">
            <a:pPr>
              <a:defRPr sz="1200" b="0">
                <a:solidFill>
                  <a:srgbClr val="69778B"/>
                </a:solidFill>
              </a:defRPr>
            </a:pPr>
            <a:r>
              <a:rPr sz="1200" b="0">
                <a:solidFill>
                  <a:srgbClr val="69778B"/>
                </a:solidFill>
              </a:rPr>
              <a:t>Build 2   /   Fictional training data   /   21 October 2026</a:t>
            </a:r>
          </a:p>
        </p:txBody>
      </p:sp>
    </p:spTree>
    <p:extLst>
      <p:ext uri="{BB962C8B-B14F-4D97-AF65-F5344CB8AC3E}">
        <p14:creationId xmlns:p14="http://schemas.microsoft.com/office/powerpoint/2010/main" val="65420762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AF676D58-E32D-4645-A7AD-58A02C100D17}"/>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defRPr>
            </a:defPPr>
            <a:lvl1pPr>
              <a:defRPr sz="1800" b="1">
                <a:solidFill>
                  <a:srgbClr val="087DDF"/>
                </a:solidFill>
              </a:defRPr>
            </a:lvl1pPr>
            <a:lvl2pPr>
              <a:defRPr sz="1800" b="1">
                <a:solidFill>
                  <a:srgbClr val="087DDF"/>
                </a:solidFill>
              </a:defRPr>
            </a:lvl2pPr>
            <a:lvl3pPr>
              <a:defRPr sz="1800" b="1">
                <a:solidFill>
                  <a:srgbClr val="087DDF"/>
                </a:solidFill>
              </a:defRPr>
            </a:lvl3pPr>
            <a:lvl4pPr>
              <a:defRPr sz="1800" b="1">
                <a:solidFill>
                  <a:srgbClr val="087DDF"/>
                </a:solidFill>
              </a:defRPr>
            </a:lvl4pPr>
            <a:lvl5pPr>
              <a:defRPr sz="1800" b="1">
                <a:solidFill>
                  <a:srgbClr val="087DDF"/>
                </a:solidFill>
              </a:defRPr>
            </a:lvl5pPr>
            <a:lvl6pPr>
              <a:defRPr sz="1800" b="1">
                <a:solidFill>
                  <a:srgbClr val="087DDF"/>
                </a:solidFill>
              </a:defRPr>
            </a:lvl6pPr>
            <a:lvl7pPr>
              <a:defRPr sz="1800" b="1">
                <a:solidFill>
                  <a:srgbClr val="087DDF"/>
                </a:solidFill>
              </a:defRPr>
            </a:lvl7pPr>
            <a:lvl8pPr>
              <a:defRPr sz="1800" b="1">
                <a:solidFill>
                  <a:srgbClr val="087DDF"/>
                </a:solidFill>
              </a:defRPr>
            </a:lvl8pPr>
            <a:lvl9pPr>
              <a:defRPr sz="1800" b="1">
                <a:solidFill>
                  <a:srgbClr val="087DDF"/>
                </a:solidFill>
              </a:defRPr>
            </a:lvl9pPr>
          </a:lstStyle>
          <a:p xmlns:a="http://schemas.openxmlformats.org/drawingml/2006/main">
            <a:pPr>
              <a:defRPr sz="1800" b="1">
                <a:solidFill>
                  <a:srgbClr val="087DDF"/>
                </a:solidFill>
              </a:defRPr>
            </a:pPr>
            <a:r>
              <a:rPr sz="1800" b="1">
                <a:solidFill>
                  <a:srgbClr val="087DDF"/>
                </a:solidFill>
              </a:rPr>
              <a:t>12</a:t>
            </a:r>
          </a:p>
        </p:txBody>
      </p:sp>
      <p:sp>
        <p:nvSpPr>
          <p:cNvPr id="3" name="Title">
            <a:extLst xmlns:a="http://schemas.openxmlformats.org/drawingml/2006/main">
              <a:ext uri="{FF2B5EF4-FFF2-40B4-BE49-F238E27FC236}">
                <a16:creationId xmlns:a16="http://schemas.microsoft.com/office/drawing/2014/main" id="{7D22038B-5EE6-4C2A-94BE-4CEEAEB0BDE9}"/>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defRPr>
            </a:defPPr>
            <a:lvl1pPr>
              <a:defRPr sz="3300" b="1">
                <a:solidFill>
                  <a:srgbClr val="102744"/>
                </a:solidFill>
              </a:defRPr>
            </a:lvl1pPr>
            <a:lvl2pPr>
              <a:defRPr sz="3300" b="1">
                <a:solidFill>
                  <a:srgbClr val="102744"/>
                </a:solidFill>
              </a:defRPr>
            </a:lvl2pPr>
            <a:lvl3pPr>
              <a:defRPr sz="3300" b="1">
                <a:solidFill>
                  <a:srgbClr val="102744"/>
                </a:solidFill>
              </a:defRPr>
            </a:lvl3pPr>
            <a:lvl4pPr>
              <a:defRPr sz="3300" b="1">
                <a:solidFill>
                  <a:srgbClr val="102744"/>
                </a:solidFill>
              </a:defRPr>
            </a:lvl4pPr>
            <a:lvl5pPr>
              <a:defRPr sz="3300" b="1">
                <a:solidFill>
                  <a:srgbClr val="102744"/>
                </a:solidFill>
              </a:defRPr>
            </a:lvl5pPr>
            <a:lvl6pPr>
              <a:defRPr sz="3300" b="1">
                <a:solidFill>
                  <a:srgbClr val="102744"/>
                </a:solidFill>
              </a:defRPr>
            </a:lvl6pPr>
            <a:lvl7pPr>
              <a:defRPr sz="3300" b="1">
                <a:solidFill>
                  <a:srgbClr val="102744"/>
                </a:solidFill>
              </a:defRPr>
            </a:lvl7pPr>
            <a:lvl8pPr>
              <a:defRPr sz="3300" b="1">
                <a:solidFill>
                  <a:srgbClr val="102744"/>
                </a:solidFill>
              </a:defRPr>
            </a:lvl8pPr>
            <a:lvl9pPr>
              <a:defRPr sz="3300" b="1">
                <a:solidFill>
                  <a:srgbClr val="102744"/>
                </a:solidFill>
              </a:defRPr>
            </a:lvl9pPr>
          </a:lstStyle>
          <a:p xmlns:a="http://schemas.openxmlformats.org/drawingml/2006/main">
            <a:pPr>
              <a:defRPr sz="3300" b="1">
                <a:solidFill>
                  <a:srgbClr val="102744"/>
                </a:solidFill>
              </a:defRPr>
            </a:pPr>
            <a:r>
              <a:rPr sz="3300" b="1">
                <a:solidFill>
                  <a:srgbClr val="102744"/>
                </a:solidFill>
              </a:rPr>
              <a:t>Completeness and eligibility checks</a:t>
            </a:r>
          </a:p>
        </p:txBody>
      </p:sp>
      <p:sp>
        <p:nvSpPr>
          <p:cNvPr id="4" name="Body">
            <a:extLst xmlns:a="http://schemas.openxmlformats.org/drawingml/2006/main">
              <a:ext uri="{FF2B5EF4-FFF2-40B4-BE49-F238E27FC236}">
                <a16:creationId xmlns:a16="http://schemas.microsoft.com/office/drawing/2014/main" id="{D0DC5DF8-F4E8-492D-AA03-BADFE65CE80B}"/>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defRPr>
            </a:defPPr>
            <a:lvl1pPr>
              <a:defRPr sz="1800" b="0">
                <a:solidFill>
                  <a:srgbClr val="25354B"/>
                </a:solidFill>
              </a:defRPr>
            </a:lvl1pPr>
            <a:lvl2pPr>
              <a:defRPr sz="1800" b="0">
                <a:solidFill>
                  <a:srgbClr val="25354B"/>
                </a:solidFill>
              </a:defRPr>
            </a:lvl2pPr>
            <a:lvl3pPr>
              <a:defRPr sz="1800" b="0">
                <a:solidFill>
                  <a:srgbClr val="25354B"/>
                </a:solidFill>
              </a:defRPr>
            </a:lvl3pPr>
            <a:lvl4pPr>
              <a:defRPr sz="1800" b="0">
                <a:solidFill>
                  <a:srgbClr val="25354B"/>
                </a:solidFill>
              </a:defRPr>
            </a:lvl4pPr>
            <a:lvl5pPr>
              <a:defRPr sz="1800" b="0">
                <a:solidFill>
                  <a:srgbClr val="25354B"/>
                </a:solidFill>
              </a:defRPr>
            </a:lvl5pPr>
            <a:lvl6pPr>
              <a:defRPr sz="1800" b="0">
                <a:solidFill>
                  <a:srgbClr val="25354B"/>
                </a:solidFill>
              </a:defRPr>
            </a:lvl6pPr>
            <a:lvl7pPr>
              <a:defRPr sz="1800" b="0">
                <a:solidFill>
                  <a:srgbClr val="25354B"/>
                </a:solidFill>
              </a:defRPr>
            </a:lvl7pPr>
            <a:lvl8pPr>
              <a:defRPr sz="1800" b="0">
                <a:solidFill>
                  <a:srgbClr val="25354B"/>
                </a:solidFill>
              </a:defRPr>
            </a:lvl8pPr>
            <a:lvl9pPr>
              <a:defRPr sz="1800" b="0">
                <a:solidFill>
                  <a:srgbClr val="25354B"/>
                </a:solidFill>
              </a:defRPr>
            </a:lvl9pPr>
          </a:lstStyle>
          <a:p xmlns:a="http://schemas.openxmlformats.org/drawingml/2006/main">
            <a:pPr>
              <a:defRPr sz="1800" b="0">
                <a:solidFill>
                  <a:srgbClr val="25354B"/>
                </a:solidFill>
              </a:defRPr>
            </a:pPr>
            <a:r>
              <a:rPr sz="1800" b="0">
                <a:solidFill>
                  <a:srgbClr val="25354B"/>
                </a:solidFill>
              </a:rPr>
              <a:t>The report confirms that required inputs are present.</a:t>
            </a:r>
          </a:p>
          <a:p xmlns:a="http://schemas.openxmlformats.org/drawingml/2006/main">
            <a:pPr>
              <a:defRPr sz="1800" b="0">
                <a:solidFill>
                  <a:srgbClr val="25354B"/>
                </a:solidFill>
              </a:defRPr>
            </a:pPr>
            <a:r>
              <a:t/>
            </a:r>
          </a:p>
          <a:p xmlns:a="http://schemas.openxmlformats.org/drawingml/2006/main">
            <a:pPr>
              <a:defRPr sz="1800" b="0">
                <a:solidFill>
                  <a:srgbClr val="25354B"/>
                </a:solidFill>
              </a:defRPr>
            </a:pPr>
            <a:r>
              <a:rPr sz="1800" b="0">
                <a:solidFill>
                  <a:srgbClr val="25354B"/>
                </a:solidFill>
              </a:rPr>
              <a:t>It checks the entity, reporting period, currency and units.</a:t>
            </a:r>
          </a:p>
          <a:p xmlns:a="http://schemas.openxmlformats.org/drawingml/2006/main">
            <a:pPr>
              <a:defRPr sz="1800" b="0">
                <a:solidFill>
                  <a:srgbClr val="25354B"/>
                </a:solidFill>
              </a:defRPr>
            </a:pPr>
            <a:r>
              <a:t/>
            </a:r>
          </a:p>
          <a:p xmlns:a="http://schemas.openxmlformats.org/drawingml/2006/main">
            <a:pPr>
              <a:defRPr sz="1800" b="0">
                <a:solidFill>
                  <a:srgbClr val="25354B"/>
                </a:solidFill>
              </a:defRPr>
            </a:pPr>
            <a:r>
              <a:rPr sz="1800" b="0">
                <a:solidFill>
                  <a:srgbClr val="25354B"/>
                </a:solidFill>
              </a:rPr>
              <a:t>The statements meet the policy’s age rule, and the report discloses their unaudited status.</a:t>
            </a:r>
          </a:p>
        </p:txBody>
      </p:sp>
      <p:pic>
        <p:nvPicPr>
          <p:cNvPr id="5" name="">
            <a:extLst xmlns:a="http://schemas.openxmlformats.org/drawingml/2006/main">
              <a:ext uri="{FF2B5EF4-FFF2-40B4-BE49-F238E27FC236}">
                <a16:creationId xmlns:a16="http://schemas.microsoft.com/office/drawing/2014/main" id="{4543A172-72AD-4D96-B92C-97FC42E5107D}"/>
              </a:ext>
            </a:extLst>
          </p:cNvPr>
          <p:cNvPicPr>
            <a:picLocks xmlns:a="http://schemas.openxmlformats.org/drawingml/2006/main" noChangeAspect="1"/>
          </p:cNvPicPr>
          <p:nvPr/>
        </p:nvPicPr>
        <p:blipFill>
          <a:blip xmlns:r="http://schemas.openxmlformats.org/officeDocument/2006/relationships" xmlns:a="http://schemas.openxmlformats.org/drawingml/2006/main" r:embed="Rc1ab0e3c71404bb4"/>
          <a:stretch xmlns:a="http://schemas.openxmlformats.org/drawingml/2006/main"/>
        </p:blipFill>
        <p:spPr>
          <a:xfrm xmlns:a="http://schemas.openxmlformats.org/drawingml/2006/main">
            <a:off x="4421379" y="1666875"/>
            <a:ext cx="6540117" cy="3905250"/>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CFF99FBC-A634-46AD-9CD8-760B3F08844A}"/>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087DDF"/>
                </a:solidFill>
              </a:defRPr>
            </a:defPPr>
            <a:lvl1pPr>
              <a:defRPr sz="1425" b="0">
                <a:solidFill>
                  <a:srgbClr val="087DDF"/>
                </a:solidFill>
              </a:defRPr>
            </a:lvl1pPr>
            <a:lvl2pPr>
              <a:defRPr sz="1425" b="0">
                <a:solidFill>
                  <a:srgbClr val="087DDF"/>
                </a:solidFill>
              </a:defRPr>
            </a:lvl2pPr>
            <a:lvl3pPr>
              <a:defRPr sz="1425" b="0">
                <a:solidFill>
                  <a:srgbClr val="087DDF"/>
                </a:solidFill>
              </a:defRPr>
            </a:lvl3pPr>
            <a:lvl4pPr>
              <a:defRPr sz="1425" b="0">
                <a:solidFill>
                  <a:srgbClr val="087DDF"/>
                </a:solidFill>
              </a:defRPr>
            </a:lvl4pPr>
            <a:lvl5pPr>
              <a:defRPr sz="1425" b="0">
                <a:solidFill>
                  <a:srgbClr val="087DDF"/>
                </a:solidFill>
              </a:defRPr>
            </a:lvl5pPr>
            <a:lvl6pPr>
              <a:defRPr sz="1425" b="0">
                <a:solidFill>
                  <a:srgbClr val="087DDF"/>
                </a:solidFill>
              </a:defRPr>
            </a:lvl6pPr>
            <a:lvl7pPr>
              <a:defRPr sz="1425" b="0">
                <a:solidFill>
                  <a:srgbClr val="087DDF"/>
                </a:solidFill>
              </a:defRPr>
            </a:lvl7pPr>
            <a:lvl8pPr>
              <a:defRPr sz="1425" b="0">
                <a:solidFill>
                  <a:srgbClr val="087DDF"/>
                </a:solidFill>
              </a:defRPr>
            </a:lvl8pPr>
            <a:lvl9pPr>
              <a:defRPr sz="1425" b="0">
                <a:solidFill>
                  <a:srgbClr val="087DDF"/>
                </a:solidFill>
              </a:defRPr>
            </a:lvl9pPr>
          </a:lstStyle>
          <a:p xmlns:a="http://schemas.openxmlformats.org/drawingml/2006/main">
            <a:pPr>
              <a:defRPr sz="1425" b="0">
                <a:solidFill>
                  <a:srgbClr val="087DDF"/>
                </a:solidFill>
              </a:defRPr>
            </a:pPr>
            <a:r>
              <a:rPr sz="1425" b="0">
                <a:solidFill>
                  <a:srgbClr val="087DDF"/>
                </a:solidFill>
              </a:rPr>
              <a:t>The first report page records the customer, source basis and policy version.</a:t>
            </a:r>
          </a:p>
        </p:txBody>
      </p:sp>
      <p:sp>
        <p:nvSpPr>
          <p:cNvPr id="7" name="Footer">
            <a:extLst xmlns:a="http://schemas.openxmlformats.org/drawingml/2006/main">
              <a:ext uri="{FF2B5EF4-FFF2-40B4-BE49-F238E27FC236}">
                <a16:creationId xmlns:a16="http://schemas.microsoft.com/office/drawing/2014/main" id="{94A033EA-459D-419A-8D6C-44B6E00963B3}"/>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defRPr>
            </a:defPPr>
            <a:lvl1pPr>
              <a:defRPr sz="1200" b="0">
                <a:solidFill>
                  <a:srgbClr val="69778B"/>
                </a:solidFill>
              </a:defRPr>
            </a:lvl1pPr>
            <a:lvl2pPr>
              <a:defRPr sz="1200" b="0">
                <a:solidFill>
                  <a:srgbClr val="69778B"/>
                </a:solidFill>
              </a:defRPr>
            </a:lvl2pPr>
            <a:lvl3pPr>
              <a:defRPr sz="1200" b="0">
                <a:solidFill>
                  <a:srgbClr val="69778B"/>
                </a:solidFill>
              </a:defRPr>
            </a:lvl3pPr>
            <a:lvl4pPr>
              <a:defRPr sz="1200" b="0">
                <a:solidFill>
                  <a:srgbClr val="69778B"/>
                </a:solidFill>
              </a:defRPr>
            </a:lvl4pPr>
            <a:lvl5pPr>
              <a:defRPr sz="1200" b="0">
                <a:solidFill>
                  <a:srgbClr val="69778B"/>
                </a:solidFill>
              </a:defRPr>
            </a:lvl5pPr>
            <a:lvl6pPr>
              <a:defRPr sz="1200" b="0">
                <a:solidFill>
                  <a:srgbClr val="69778B"/>
                </a:solidFill>
              </a:defRPr>
            </a:lvl6pPr>
            <a:lvl7pPr>
              <a:defRPr sz="1200" b="0">
                <a:solidFill>
                  <a:srgbClr val="69778B"/>
                </a:solidFill>
              </a:defRPr>
            </a:lvl7pPr>
            <a:lvl8pPr>
              <a:defRPr sz="1200" b="0">
                <a:solidFill>
                  <a:srgbClr val="69778B"/>
                </a:solidFill>
              </a:defRPr>
            </a:lvl8pPr>
            <a:lvl9pPr>
              <a:defRPr sz="1200" b="0">
                <a:solidFill>
                  <a:srgbClr val="69778B"/>
                </a:solidFill>
              </a:defRPr>
            </a:lvl9pPr>
          </a:lstStyle>
          <a:p xmlns:a="http://schemas.openxmlformats.org/drawingml/2006/main">
            <a:pPr>
              <a:defRPr sz="1200" b="0">
                <a:solidFill>
                  <a:srgbClr val="69778B"/>
                </a:solidFill>
              </a:defRPr>
            </a:pPr>
            <a:r>
              <a:rPr sz="1200" b="0">
                <a:solidFill>
                  <a:srgbClr val="69778B"/>
                </a:solidFill>
              </a:rPr>
              <a:t>Build 2   /   Fictional training data   /   21 October 2026</a:t>
            </a:r>
          </a:p>
        </p:txBody>
      </p:sp>
    </p:spTree>
    <p:extLst>
      <p:ext uri="{BB962C8B-B14F-4D97-AF65-F5344CB8AC3E}">
        <p14:creationId xmlns:p14="http://schemas.microsoft.com/office/powerpoint/2010/main" val="111939409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1AF854C5-D83D-46EE-B225-96317C9C8963}"/>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defRPr>
            </a:defPPr>
            <a:lvl1pPr>
              <a:defRPr sz="1800" b="1">
                <a:solidFill>
                  <a:srgbClr val="087DDF"/>
                </a:solidFill>
              </a:defRPr>
            </a:lvl1pPr>
            <a:lvl2pPr>
              <a:defRPr sz="1800" b="1">
                <a:solidFill>
                  <a:srgbClr val="087DDF"/>
                </a:solidFill>
              </a:defRPr>
            </a:lvl2pPr>
            <a:lvl3pPr>
              <a:defRPr sz="1800" b="1">
                <a:solidFill>
                  <a:srgbClr val="087DDF"/>
                </a:solidFill>
              </a:defRPr>
            </a:lvl3pPr>
            <a:lvl4pPr>
              <a:defRPr sz="1800" b="1">
                <a:solidFill>
                  <a:srgbClr val="087DDF"/>
                </a:solidFill>
              </a:defRPr>
            </a:lvl4pPr>
            <a:lvl5pPr>
              <a:defRPr sz="1800" b="1">
                <a:solidFill>
                  <a:srgbClr val="087DDF"/>
                </a:solidFill>
              </a:defRPr>
            </a:lvl5pPr>
            <a:lvl6pPr>
              <a:defRPr sz="1800" b="1">
                <a:solidFill>
                  <a:srgbClr val="087DDF"/>
                </a:solidFill>
              </a:defRPr>
            </a:lvl6pPr>
            <a:lvl7pPr>
              <a:defRPr sz="1800" b="1">
                <a:solidFill>
                  <a:srgbClr val="087DDF"/>
                </a:solidFill>
              </a:defRPr>
            </a:lvl7pPr>
            <a:lvl8pPr>
              <a:defRPr sz="1800" b="1">
                <a:solidFill>
                  <a:srgbClr val="087DDF"/>
                </a:solidFill>
              </a:defRPr>
            </a:lvl8pPr>
            <a:lvl9pPr>
              <a:defRPr sz="1800" b="1">
                <a:solidFill>
                  <a:srgbClr val="087DDF"/>
                </a:solidFill>
              </a:defRPr>
            </a:lvl9pPr>
          </a:lstStyle>
          <a:p xmlns:a="http://schemas.openxmlformats.org/drawingml/2006/main">
            <a:pPr>
              <a:defRPr sz="1800" b="1">
                <a:solidFill>
                  <a:srgbClr val="087DDF"/>
                </a:solidFill>
              </a:defRPr>
            </a:pPr>
            <a:r>
              <a:rPr sz="1800" b="1">
                <a:solidFill>
                  <a:srgbClr val="087DDF"/>
                </a:solidFill>
              </a:rPr>
              <a:t>13</a:t>
            </a:r>
          </a:p>
        </p:txBody>
      </p:sp>
      <p:sp>
        <p:nvSpPr>
          <p:cNvPr id="3" name="Title">
            <a:extLst xmlns:a="http://schemas.openxmlformats.org/drawingml/2006/main">
              <a:ext uri="{FF2B5EF4-FFF2-40B4-BE49-F238E27FC236}">
                <a16:creationId xmlns:a16="http://schemas.microsoft.com/office/drawing/2014/main" id="{AE3EDEB4-526E-459F-8084-F7F0C9F32D08}"/>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defRPr>
            </a:defPPr>
            <a:lvl1pPr>
              <a:defRPr sz="3300" b="1">
                <a:solidFill>
                  <a:srgbClr val="102744"/>
                </a:solidFill>
              </a:defRPr>
            </a:lvl1pPr>
            <a:lvl2pPr>
              <a:defRPr sz="3300" b="1">
                <a:solidFill>
                  <a:srgbClr val="102744"/>
                </a:solidFill>
              </a:defRPr>
            </a:lvl2pPr>
            <a:lvl3pPr>
              <a:defRPr sz="3300" b="1">
                <a:solidFill>
                  <a:srgbClr val="102744"/>
                </a:solidFill>
              </a:defRPr>
            </a:lvl3pPr>
            <a:lvl4pPr>
              <a:defRPr sz="3300" b="1">
                <a:solidFill>
                  <a:srgbClr val="102744"/>
                </a:solidFill>
              </a:defRPr>
            </a:lvl4pPr>
            <a:lvl5pPr>
              <a:defRPr sz="3300" b="1">
                <a:solidFill>
                  <a:srgbClr val="102744"/>
                </a:solidFill>
              </a:defRPr>
            </a:lvl5pPr>
            <a:lvl6pPr>
              <a:defRPr sz="3300" b="1">
                <a:solidFill>
                  <a:srgbClr val="102744"/>
                </a:solidFill>
              </a:defRPr>
            </a:lvl6pPr>
            <a:lvl7pPr>
              <a:defRPr sz="3300" b="1">
                <a:solidFill>
                  <a:srgbClr val="102744"/>
                </a:solidFill>
              </a:defRPr>
            </a:lvl7pPr>
            <a:lvl8pPr>
              <a:defRPr sz="3300" b="1">
                <a:solidFill>
                  <a:srgbClr val="102744"/>
                </a:solidFill>
              </a:defRPr>
            </a:lvl8pPr>
            <a:lvl9pPr>
              <a:defRPr sz="3300" b="1">
                <a:solidFill>
                  <a:srgbClr val="102744"/>
                </a:solidFill>
              </a:defRPr>
            </a:lvl9pPr>
          </a:lstStyle>
          <a:p xmlns:a="http://schemas.openxmlformats.org/drawingml/2006/main">
            <a:pPr>
              <a:defRPr sz="3300" b="1">
                <a:solidFill>
                  <a:srgbClr val="102744"/>
                </a:solidFill>
              </a:defRPr>
            </a:pPr>
            <a:r>
              <a:rPr sz="3300" b="1">
                <a:solidFill>
                  <a:srgbClr val="102744"/>
                </a:solidFill>
              </a:rPr>
              <a:t>Why the case qualifies for Tier B</a:t>
            </a:r>
          </a:p>
        </p:txBody>
      </p:sp>
      <p:sp>
        <p:nvSpPr>
          <p:cNvPr id="4" name="Body">
            <a:extLst xmlns:a="http://schemas.openxmlformats.org/drawingml/2006/main">
              <a:ext uri="{FF2B5EF4-FFF2-40B4-BE49-F238E27FC236}">
                <a16:creationId xmlns:a16="http://schemas.microsoft.com/office/drawing/2014/main" id="{932688F1-51B9-4288-B6B7-2C6BF7C532F0}"/>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defRPr>
            </a:defPPr>
            <a:lvl1pPr>
              <a:defRPr sz="1800" b="0">
                <a:solidFill>
                  <a:srgbClr val="25354B"/>
                </a:solidFill>
              </a:defRPr>
            </a:lvl1pPr>
            <a:lvl2pPr>
              <a:defRPr sz="1800" b="0">
                <a:solidFill>
                  <a:srgbClr val="25354B"/>
                </a:solidFill>
              </a:defRPr>
            </a:lvl2pPr>
            <a:lvl3pPr>
              <a:defRPr sz="1800" b="0">
                <a:solidFill>
                  <a:srgbClr val="25354B"/>
                </a:solidFill>
              </a:defRPr>
            </a:lvl3pPr>
            <a:lvl4pPr>
              <a:defRPr sz="1800" b="0">
                <a:solidFill>
                  <a:srgbClr val="25354B"/>
                </a:solidFill>
              </a:defRPr>
            </a:lvl4pPr>
            <a:lvl5pPr>
              <a:defRPr sz="1800" b="0">
                <a:solidFill>
                  <a:srgbClr val="25354B"/>
                </a:solidFill>
              </a:defRPr>
            </a:lvl5pPr>
            <a:lvl6pPr>
              <a:defRPr sz="1800" b="0">
                <a:solidFill>
                  <a:srgbClr val="25354B"/>
                </a:solidFill>
              </a:defRPr>
            </a:lvl6pPr>
            <a:lvl7pPr>
              <a:defRPr sz="1800" b="0">
                <a:solidFill>
                  <a:srgbClr val="25354B"/>
                </a:solidFill>
              </a:defRPr>
            </a:lvl7pPr>
            <a:lvl8pPr>
              <a:defRPr sz="1800" b="0">
                <a:solidFill>
                  <a:srgbClr val="25354B"/>
                </a:solidFill>
              </a:defRPr>
            </a:lvl8pPr>
            <a:lvl9pPr>
              <a:defRPr sz="1800" b="0">
                <a:solidFill>
                  <a:srgbClr val="25354B"/>
                </a:solidFill>
              </a:defRPr>
            </a:lvl9pPr>
          </a:lstStyle>
          <a:p xmlns:a="http://schemas.openxmlformats.org/drawingml/2006/main">
            <a:pPr>
              <a:defRPr sz="1800" b="0">
                <a:solidFill>
                  <a:srgbClr val="25354B"/>
                </a:solidFill>
              </a:defRPr>
            </a:pPr>
            <a:r>
              <a:rPr sz="1800" b="0">
                <a:solidFill>
                  <a:srgbClr val="25354B"/>
                </a:solidFill>
              </a:rPr>
              <a:t>Current ratio:</a:t>
            </a:r>
          </a:p>
          <a:p xmlns:a="http://schemas.openxmlformats.org/drawingml/2006/main">
            <a:pPr>
              <a:defRPr sz="1800" b="0">
                <a:solidFill>
                  <a:srgbClr val="25354B"/>
                </a:solidFill>
              </a:defRPr>
            </a:pPr>
            <a:r>
              <a:rPr sz="1800" b="0">
                <a:solidFill>
                  <a:srgbClr val="25354B"/>
                </a:solidFill>
              </a:rPr>
              <a:t>24,000 ÷ 18,000 = 1.33.</a:t>
            </a:r>
          </a:p>
          <a:p xmlns:a="http://schemas.openxmlformats.org/drawingml/2006/main">
            <a:pPr>
              <a:defRPr sz="1800" b="0">
                <a:solidFill>
                  <a:srgbClr val="25354B"/>
                </a:solidFill>
              </a:defRPr>
            </a:pPr>
            <a:r>
              <a:t/>
            </a:r>
          </a:p>
          <a:p xmlns:a="http://schemas.openxmlformats.org/drawingml/2006/main">
            <a:pPr>
              <a:defRPr sz="1800" b="0">
                <a:solidFill>
                  <a:srgbClr val="25354B"/>
                </a:solidFill>
              </a:defRPr>
            </a:pPr>
            <a:r>
              <a:rPr sz="1800" b="0">
                <a:solidFill>
                  <a:srgbClr val="25354B"/>
                </a:solidFill>
              </a:rPr>
              <a:t>Debt to net worth:</a:t>
            </a:r>
          </a:p>
          <a:p xmlns:a="http://schemas.openxmlformats.org/drawingml/2006/main">
            <a:pPr>
              <a:defRPr sz="1800" b="0">
                <a:solidFill>
                  <a:srgbClr val="25354B"/>
                </a:solidFill>
              </a:defRPr>
            </a:pPr>
            <a:r>
              <a:rPr sz="1800" b="0">
                <a:solidFill>
                  <a:srgbClr val="25354B"/>
                </a:solidFill>
              </a:rPr>
              <a:t>45,000 ÷ 30,000 = 1.50.</a:t>
            </a:r>
          </a:p>
          <a:p xmlns:a="http://schemas.openxmlformats.org/drawingml/2006/main">
            <a:pPr>
              <a:defRPr sz="1800" b="0">
                <a:solidFill>
                  <a:srgbClr val="25354B"/>
                </a:solidFill>
              </a:defRPr>
            </a:pPr>
            <a:r>
              <a:t/>
            </a:r>
          </a:p>
          <a:p xmlns:a="http://schemas.openxmlformats.org/drawingml/2006/main">
            <a:pPr>
              <a:defRPr sz="1800" b="0">
                <a:solidFill>
                  <a:srgbClr val="25354B"/>
                </a:solidFill>
              </a:defRPr>
            </a:pPr>
            <a:r>
              <a:rPr sz="1800" b="0">
                <a:solidFill>
                  <a:srgbClr val="25354B"/>
                </a:solidFill>
              </a:rPr>
              <a:t>Both fail Tier A and pass Tier B.</a:t>
            </a:r>
          </a:p>
          <a:p xmlns:a="http://schemas.openxmlformats.org/drawingml/2006/main">
            <a:pPr>
              <a:defRPr sz="1800" b="0">
                <a:solidFill>
                  <a:srgbClr val="25354B"/>
                </a:solidFill>
              </a:defRPr>
            </a:pPr>
            <a:r>
              <a:t/>
            </a:r>
          </a:p>
          <a:p xmlns:a="http://schemas.openxmlformats.org/drawingml/2006/main">
            <a:pPr>
              <a:defRPr sz="1800" b="0">
                <a:solidFill>
                  <a:srgbClr val="25354B"/>
                </a:solidFill>
              </a:defRPr>
            </a:pPr>
            <a:r>
              <a:rPr sz="1800" b="0">
                <a:solidFill>
                  <a:srgbClr val="25354B"/>
                </a:solidFill>
              </a:rPr>
              <a:t>Profit and business age pass both tiers.</a:t>
            </a:r>
          </a:p>
        </p:txBody>
      </p:sp>
      <p:pic>
        <p:nvPicPr>
          <p:cNvPr id="5" name="">
            <a:extLst xmlns:a="http://schemas.openxmlformats.org/drawingml/2006/main">
              <a:ext uri="{FF2B5EF4-FFF2-40B4-BE49-F238E27FC236}">
                <a16:creationId xmlns:a16="http://schemas.microsoft.com/office/drawing/2014/main" id="{9C72AB93-E1F5-4019-A09C-46E2494C30E1}"/>
              </a:ext>
            </a:extLst>
          </p:cNvPr>
          <p:cNvPicPr>
            <a:picLocks xmlns:a="http://schemas.openxmlformats.org/drawingml/2006/main" noChangeAspect="1"/>
          </p:cNvPicPr>
          <p:nvPr/>
        </p:nvPicPr>
        <p:blipFill>
          <a:blip xmlns:r="http://schemas.openxmlformats.org/officeDocument/2006/relationships" xmlns:a="http://schemas.openxmlformats.org/drawingml/2006/main" r:embed="R845c5c83634e4597"/>
          <a:stretch xmlns:a="http://schemas.openxmlformats.org/drawingml/2006/main"/>
        </p:blipFill>
        <p:spPr>
          <a:xfrm xmlns:a="http://schemas.openxmlformats.org/drawingml/2006/main">
            <a:off x="3714750" y="1931554"/>
            <a:ext cx="7953375" cy="3375893"/>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1CB45DB7-58E9-48A6-9220-5CB25BAF3762}"/>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087DDF"/>
                </a:solidFill>
              </a:defRPr>
            </a:defPPr>
            <a:lvl1pPr>
              <a:defRPr sz="1425" b="0">
                <a:solidFill>
                  <a:srgbClr val="087DDF"/>
                </a:solidFill>
              </a:defRPr>
            </a:lvl1pPr>
            <a:lvl2pPr>
              <a:defRPr sz="1425" b="0">
                <a:solidFill>
                  <a:srgbClr val="087DDF"/>
                </a:solidFill>
              </a:defRPr>
            </a:lvl2pPr>
            <a:lvl3pPr>
              <a:defRPr sz="1425" b="0">
                <a:solidFill>
                  <a:srgbClr val="087DDF"/>
                </a:solidFill>
              </a:defRPr>
            </a:lvl3pPr>
            <a:lvl4pPr>
              <a:defRPr sz="1425" b="0">
                <a:solidFill>
                  <a:srgbClr val="087DDF"/>
                </a:solidFill>
              </a:defRPr>
            </a:lvl4pPr>
            <a:lvl5pPr>
              <a:defRPr sz="1425" b="0">
                <a:solidFill>
                  <a:srgbClr val="087DDF"/>
                </a:solidFill>
              </a:defRPr>
            </a:lvl5pPr>
            <a:lvl6pPr>
              <a:defRPr sz="1425" b="0">
                <a:solidFill>
                  <a:srgbClr val="087DDF"/>
                </a:solidFill>
              </a:defRPr>
            </a:lvl6pPr>
            <a:lvl7pPr>
              <a:defRPr sz="1425" b="0">
                <a:solidFill>
                  <a:srgbClr val="087DDF"/>
                </a:solidFill>
              </a:defRPr>
            </a:lvl7pPr>
            <a:lvl8pPr>
              <a:defRPr sz="1425" b="0">
                <a:solidFill>
                  <a:srgbClr val="087DDF"/>
                </a:solidFill>
              </a:defRPr>
            </a:lvl8pPr>
            <a:lvl9pPr>
              <a:defRPr sz="1425" b="0">
                <a:solidFill>
                  <a:srgbClr val="087DDF"/>
                </a:solidFill>
              </a:defRPr>
            </a:lvl9pPr>
          </a:lstStyle>
          <a:p xmlns:a="http://schemas.openxmlformats.org/drawingml/2006/main">
            <a:pPr>
              <a:defRPr sz="1425" b="0">
                <a:solidFill>
                  <a:srgbClr val="087DDF"/>
                </a:solidFill>
              </a:defRPr>
            </a:pPr>
            <a:r>
              <a:rPr sz="1425" b="0">
                <a:solidFill>
                  <a:srgbClr val="087DDF"/>
                </a:solidFill>
              </a:rPr>
              <a:t>The unrounded results determine the tier. Two decimals are for display.</a:t>
            </a:r>
          </a:p>
        </p:txBody>
      </p:sp>
      <p:sp>
        <p:nvSpPr>
          <p:cNvPr id="7" name="Footer">
            <a:extLst xmlns:a="http://schemas.openxmlformats.org/drawingml/2006/main">
              <a:ext uri="{FF2B5EF4-FFF2-40B4-BE49-F238E27FC236}">
                <a16:creationId xmlns:a16="http://schemas.microsoft.com/office/drawing/2014/main" id="{B8493EE9-5E9E-4E11-A997-9BFAF68A2D00}"/>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defRPr>
            </a:defPPr>
            <a:lvl1pPr>
              <a:defRPr sz="1200" b="0">
                <a:solidFill>
                  <a:srgbClr val="69778B"/>
                </a:solidFill>
              </a:defRPr>
            </a:lvl1pPr>
            <a:lvl2pPr>
              <a:defRPr sz="1200" b="0">
                <a:solidFill>
                  <a:srgbClr val="69778B"/>
                </a:solidFill>
              </a:defRPr>
            </a:lvl2pPr>
            <a:lvl3pPr>
              <a:defRPr sz="1200" b="0">
                <a:solidFill>
                  <a:srgbClr val="69778B"/>
                </a:solidFill>
              </a:defRPr>
            </a:lvl3pPr>
            <a:lvl4pPr>
              <a:defRPr sz="1200" b="0">
                <a:solidFill>
                  <a:srgbClr val="69778B"/>
                </a:solidFill>
              </a:defRPr>
            </a:lvl4pPr>
            <a:lvl5pPr>
              <a:defRPr sz="1200" b="0">
                <a:solidFill>
                  <a:srgbClr val="69778B"/>
                </a:solidFill>
              </a:defRPr>
            </a:lvl5pPr>
            <a:lvl6pPr>
              <a:defRPr sz="1200" b="0">
                <a:solidFill>
                  <a:srgbClr val="69778B"/>
                </a:solidFill>
              </a:defRPr>
            </a:lvl6pPr>
            <a:lvl7pPr>
              <a:defRPr sz="1200" b="0">
                <a:solidFill>
                  <a:srgbClr val="69778B"/>
                </a:solidFill>
              </a:defRPr>
            </a:lvl7pPr>
            <a:lvl8pPr>
              <a:defRPr sz="1200" b="0">
                <a:solidFill>
                  <a:srgbClr val="69778B"/>
                </a:solidFill>
              </a:defRPr>
            </a:lvl8pPr>
            <a:lvl9pPr>
              <a:defRPr sz="1200" b="0">
                <a:solidFill>
                  <a:srgbClr val="69778B"/>
                </a:solidFill>
              </a:defRPr>
            </a:lvl9pPr>
          </a:lstStyle>
          <a:p xmlns:a="http://schemas.openxmlformats.org/drawingml/2006/main">
            <a:pPr>
              <a:defRPr sz="1200" b="0">
                <a:solidFill>
                  <a:srgbClr val="69778B"/>
                </a:solidFill>
              </a:defRPr>
            </a:pPr>
            <a:r>
              <a:rPr sz="1200" b="0">
                <a:solidFill>
                  <a:srgbClr val="69778B"/>
                </a:solidFill>
              </a:rPr>
              <a:t>Build 2   /   Fictional training data   /   21 October 2026</a:t>
            </a:r>
          </a:p>
        </p:txBody>
      </p:sp>
    </p:spTree>
    <p:extLst>
      <p:ext uri="{BB962C8B-B14F-4D97-AF65-F5344CB8AC3E}">
        <p14:creationId xmlns:p14="http://schemas.microsoft.com/office/powerpoint/2010/main" val="121246600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8A155EC3-B2A2-49F0-AC8A-5B57844DEBC8}"/>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defRPr>
            </a:defPPr>
            <a:lvl1pPr>
              <a:defRPr sz="1800" b="1">
                <a:solidFill>
                  <a:srgbClr val="087DDF"/>
                </a:solidFill>
              </a:defRPr>
            </a:lvl1pPr>
            <a:lvl2pPr>
              <a:defRPr sz="1800" b="1">
                <a:solidFill>
                  <a:srgbClr val="087DDF"/>
                </a:solidFill>
              </a:defRPr>
            </a:lvl2pPr>
            <a:lvl3pPr>
              <a:defRPr sz="1800" b="1">
                <a:solidFill>
                  <a:srgbClr val="087DDF"/>
                </a:solidFill>
              </a:defRPr>
            </a:lvl3pPr>
            <a:lvl4pPr>
              <a:defRPr sz="1800" b="1">
                <a:solidFill>
                  <a:srgbClr val="087DDF"/>
                </a:solidFill>
              </a:defRPr>
            </a:lvl4pPr>
            <a:lvl5pPr>
              <a:defRPr sz="1800" b="1">
                <a:solidFill>
                  <a:srgbClr val="087DDF"/>
                </a:solidFill>
              </a:defRPr>
            </a:lvl5pPr>
            <a:lvl6pPr>
              <a:defRPr sz="1800" b="1">
                <a:solidFill>
                  <a:srgbClr val="087DDF"/>
                </a:solidFill>
              </a:defRPr>
            </a:lvl6pPr>
            <a:lvl7pPr>
              <a:defRPr sz="1800" b="1">
                <a:solidFill>
                  <a:srgbClr val="087DDF"/>
                </a:solidFill>
              </a:defRPr>
            </a:lvl7pPr>
            <a:lvl8pPr>
              <a:defRPr sz="1800" b="1">
                <a:solidFill>
                  <a:srgbClr val="087DDF"/>
                </a:solidFill>
              </a:defRPr>
            </a:lvl8pPr>
            <a:lvl9pPr>
              <a:defRPr sz="1800" b="1">
                <a:solidFill>
                  <a:srgbClr val="087DDF"/>
                </a:solidFill>
              </a:defRPr>
            </a:lvl9pPr>
          </a:lstStyle>
          <a:p xmlns:a="http://schemas.openxmlformats.org/drawingml/2006/main">
            <a:pPr>
              <a:defRPr sz="1800" b="1">
                <a:solidFill>
                  <a:srgbClr val="087DDF"/>
                </a:solidFill>
              </a:defRPr>
            </a:pPr>
            <a:r>
              <a:rPr sz="1800" b="1">
                <a:solidFill>
                  <a:srgbClr val="087DDF"/>
                </a:solidFill>
              </a:rPr>
              <a:t>14</a:t>
            </a:r>
          </a:p>
        </p:txBody>
      </p:sp>
      <p:sp>
        <p:nvSpPr>
          <p:cNvPr id="3" name="Title">
            <a:extLst xmlns:a="http://schemas.openxmlformats.org/drawingml/2006/main">
              <a:ext uri="{FF2B5EF4-FFF2-40B4-BE49-F238E27FC236}">
                <a16:creationId xmlns:a16="http://schemas.microsoft.com/office/drawing/2014/main" id="{53BEBBA6-697B-44F0-9045-D576A2C6A61D}"/>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defRPr>
            </a:defPPr>
            <a:lvl1pPr>
              <a:defRPr sz="3300" b="1">
                <a:solidFill>
                  <a:srgbClr val="102744"/>
                </a:solidFill>
              </a:defRPr>
            </a:lvl1pPr>
            <a:lvl2pPr>
              <a:defRPr sz="3300" b="1">
                <a:solidFill>
                  <a:srgbClr val="102744"/>
                </a:solidFill>
              </a:defRPr>
            </a:lvl2pPr>
            <a:lvl3pPr>
              <a:defRPr sz="3300" b="1">
                <a:solidFill>
                  <a:srgbClr val="102744"/>
                </a:solidFill>
              </a:defRPr>
            </a:lvl3pPr>
            <a:lvl4pPr>
              <a:defRPr sz="3300" b="1">
                <a:solidFill>
                  <a:srgbClr val="102744"/>
                </a:solidFill>
              </a:defRPr>
            </a:lvl4pPr>
            <a:lvl5pPr>
              <a:defRPr sz="3300" b="1">
                <a:solidFill>
                  <a:srgbClr val="102744"/>
                </a:solidFill>
              </a:defRPr>
            </a:lvl5pPr>
            <a:lvl6pPr>
              <a:defRPr sz="3300" b="1">
                <a:solidFill>
                  <a:srgbClr val="102744"/>
                </a:solidFill>
              </a:defRPr>
            </a:lvl6pPr>
            <a:lvl7pPr>
              <a:defRPr sz="3300" b="1">
                <a:solidFill>
                  <a:srgbClr val="102744"/>
                </a:solidFill>
              </a:defRPr>
            </a:lvl7pPr>
            <a:lvl8pPr>
              <a:defRPr sz="3300" b="1">
                <a:solidFill>
                  <a:srgbClr val="102744"/>
                </a:solidFill>
              </a:defRPr>
            </a:lvl8pPr>
            <a:lvl9pPr>
              <a:defRPr sz="3300" b="1">
                <a:solidFill>
                  <a:srgbClr val="102744"/>
                </a:solidFill>
              </a:defRPr>
            </a:lvl9pPr>
          </a:lstStyle>
          <a:p xmlns:a="http://schemas.openxmlformats.org/drawingml/2006/main">
            <a:pPr>
              <a:defRPr sz="3300" b="1">
                <a:solidFill>
                  <a:srgbClr val="102744"/>
                </a:solidFill>
              </a:defRPr>
            </a:pPr>
            <a:r>
              <a:rPr sz="3300" b="1">
                <a:solidFill>
                  <a:srgbClr val="102744"/>
                </a:solidFill>
              </a:rPr>
              <a:t>How the $1 million limit is calculated</a:t>
            </a:r>
          </a:p>
        </p:txBody>
      </p:sp>
      <p:sp>
        <p:nvSpPr>
          <p:cNvPr id="4" name="Body">
            <a:extLst xmlns:a="http://schemas.openxmlformats.org/drawingml/2006/main">
              <a:ext uri="{FF2B5EF4-FFF2-40B4-BE49-F238E27FC236}">
                <a16:creationId xmlns:a16="http://schemas.microsoft.com/office/drawing/2014/main" id="{0336ADBA-B35D-4357-B547-C658910EEA44}"/>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defRPr>
            </a:defPPr>
            <a:lvl1pPr>
              <a:defRPr sz="1800" b="0">
                <a:solidFill>
                  <a:srgbClr val="25354B"/>
                </a:solidFill>
              </a:defRPr>
            </a:lvl1pPr>
            <a:lvl2pPr>
              <a:defRPr sz="1800" b="0">
                <a:solidFill>
                  <a:srgbClr val="25354B"/>
                </a:solidFill>
              </a:defRPr>
            </a:lvl2pPr>
            <a:lvl3pPr>
              <a:defRPr sz="1800" b="0">
                <a:solidFill>
                  <a:srgbClr val="25354B"/>
                </a:solidFill>
              </a:defRPr>
            </a:lvl3pPr>
            <a:lvl4pPr>
              <a:defRPr sz="1800" b="0">
                <a:solidFill>
                  <a:srgbClr val="25354B"/>
                </a:solidFill>
              </a:defRPr>
            </a:lvl4pPr>
            <a:lvl5pPr>
              <a:defRPr sz="1800" b="0">
                <a:solidFill>
                  <a:srgbClr val="25354B"/>
                </a:solidFill>
              </a:defRPr>
            </a:lvl5pPr>
            <a:lvl6pPr>
              <a:defRPr sz="1800" b="0">
                <a:solidFill>
                  <a:srgbClr val="25354B"/>
                </a:solidFill>
              </a:defRPr>
            </a:lvl6pPr>
            <a:lvl7pPr>
              <a:defRPr sz="1800" b="0">
                <a:solidFill>
                  <a:srgbClr val="25354B"/>
                </a:solidFill>
              </a:defRPr>
            </a:lvl7pPr>
            <a:lvl8pPr>
              <a:defRPr sz="1800" b="0">
                <a:solidFill>
                  <a:srgbClr val="25354B"/>
                </a:solidFill>
              </a:defRPr>
            </a:lvl8pPr>
            <a:lvl9pPr>
              <a:defRPr sz="1800" b="0">
                <a:solidFill>
                  <a:srgbClr val="25354B"/>
                </a:solidFill>
              </a:defRPr>
            </a:lvl9pPr>
          </a:lstStyle>
          <a:p xmlns:a="http://schemas.openxmlformats.org/drawingml/2006/main">
            <a:pPr>
              <a:defRPr sz="1800" b="0">
                <a:solidFill>
                  <a:srgbClr val="25354B"/>
                </a:solidFill>
              </a:defRPr>
            </a:pPr>
            <a:r>
              <a:rPr sz="1800" b="0">
                <a:solidFill>
                  <a:srgbClr val="25354B"/>
                </a:solidFill>
              </a:rPr>
              <a:t>Tier B takes the lowest of:</a:t>
            </a:r>
          </a:p>
          <a:p xmlns:a="http://schemas.openxmlformats.org/drawingml/2006/main">
            <a:pPr>
              <a:defRPr sz="1800" b="0">
                <a:solidFill>
                  <a:srgbClr val="25354B"/>
                </a:solidFill>
              </a:defRPr>
            </a:pPr>
            <a:r>
              <a:t/>
            </a:r>
          </a:p>
          <a:p xmlns:a="http://schemas.openxmlformats.org/drawingml/2006/main">
            <a:pPr>
              <a:defRPr sz="1800" b="0">
                <a:solidFill>
                  <a:srgbClr val="25354B"/>
                </a:solidFill>
              </a:defRPr>
            </a:pPr>
            <a:r>
              <a:rPr sz="1800" b="0">
                <a:solidFill>
                  <a:srgbClr val="25354B"/>
                </a:solidFill>
              </a:rPr>
              <a:t>Requested limit: $2.5m.</a:t>
            </a:r>
          </a:p>
          <a:p xmlns:a="http://schemas.openxmlformats.org/drawingml/2006/main">
            <a:pPr>
              <a:defRPr sz="1800" b="0">
                <a:solidFill>
                  <a:srgbClr val="25354B"/>
                </a:solidFill>
              </a:defRPr>
            </a:pPr>
            <a:r>
              <a:t/>
            </a:r>
          </a:p>
          <a:p xmlns:a="http://schemas.openxmlformats.org/drawingml/2006/main">
            <a:pPr>
              <a:defRPr sz="1800" b="0">
                <a:solidFill>
                  <a:srgbClr val="25354B"/>
                </a:solidFill>
              </a:defRPr>
            </a:pPr>
            <a:r>
              <a:rPr sz="1800" b="0">
                <a:solidFill>
                  <a:srgbClr val="25354B"/>
                </a:solidFill>
              </a:rPr>
              <a:t>1% of equity: $300m.</a:t>
            </a:r>
          </a:p>
          <a:p xmlns:a="http://schemas.openxmlformats.org/drawingml/2006/main">
            <a:pPr>
              <a:defRPr sz="1800" b="0">
                <a:solidFill>
                  <a:srgbClr val="25354B"/>
                </a:solidFill>
              </a:defRPr>
            </a:pPr>
            <a:r>
              <a:t/>
            </a:r>
          </a:p>
          <a:p xmlns:a="http://schemas.openxmlformats.org/drawingml/2006/main">
            <a:pPr>
              <a:defRPr sz="1800" b="0">
                <a:solidFill>
                  <a:srgbClr val="25354B"/>
                </a:solidFill>
              </a:defRPr>
            </a:pPr>
            <a:r>
              <a:rPr sz="1800" b="0">
                <a:solidFill>
                  <a:srgbClr val="25354B"/>
                </a:solidFill>
              </a:rPr>
              <a:t>Policy cap: $1m.</a:t>
            </a:r>
          </a:p>
          <a:p xmlns:a="http://schemas.openxmlformats.org/drawingml/2006/main">
            <a:pPr>
              <a:defRPr sz="1800" b="0">
                <a:solidFill>
                  <a:srgbClr val="25354B"/>
                </a:solidFill>
              </a:defRPr>
            </a:pPr>
            <a:r>
              <a:t/>
            </a:r>
          </a:p>
          <a:p xmlns:a="http://schemas.openxmlformats.org/drawingml/2006/main">
            <a:pPr>
              <a:defRPr sz="1800" b="0">
                <a:solidFill>
                  <a:srgbClr val="25354B"/>
                </a:solidFill>
              </a:defRPr>
            </a:pPr>
            <a:r>
              <a:rPr sz="1800" b="0">
                <a:solidFill>
                  <a:srgbClr val="25354B"/>
                </a:solidFill>
              </a:rPr>
              <a:t>The supported recommendation is $1,000,000.</a:t>
            </a:r>
          </a:p>
        </p:txBody>
      </p:sp>
      <p:pic>
        <p:nvPicPr>
          <p:cNvPr id="5" name="">
            <a:extLst xmlns:a="http://schemas.openxmlformats.org/drawingml/2006/main">
              <a:ext uri="{FF2B5EF4-FFF2-40B4-BE49-F238E27FC236}">
                <a16:creationId xmlns:a16="http://schemas.microsoft.com/office/drawing/2014/main" id="{8D5F00D0-448B-4132-BECA-4512F0C555EF}"/>
              </a:ext>
            </a:extLst>
          </p:cNvPr>
          <p:cNvPicPr>
            <a:picLocks xmlns:a="http://schemas.openxmlformats.org/drawingml/2006/main" noChangeAspect="1"/>
          </p:cNvPicPr>
          <p:nvPr/>
        </p:nvPicPr>
        <p:blipFill>
          <a:blip xmlns:r="http://schemas.openxmlformats.org/officeDocument/2006/relationships" xmlns:a="http://schemas.openxmlformats.org/drawingml/2006/main" r:embed="Rff0a50df398944fa"/>
          <a:stretch xmlns:a="http://schemas.openxmlformats.org/drawingml/2006/main"/>
        </p:blipFill>
        <p:spPr>
          <a:xfrm xmlns:a="http://schemas.openxmlformats.org/drawingml/2006/main">
            <a:off x="3714750" y="2715447"/>
            <a:ext cx="7953375" cy="1808105"/>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0E60BF7C-F51D-477C-9E26-F086D82E95BA}"/>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087DDF"/>
                </a:solidFill>
              </a:defRPr>
            </a:defPPr>
            <a:lvl1pPr>
              <a:defRPr sz="1425" b="0">
                <a:solidFill>
                  <a:srgbClr val="087DDF"/>
                </a:solidFill>
              </a:defRPr>
            </a:lvl1pPr>
            <a:lvl2pPr>
              <a:defRPr sz="1425" b="0">
                <a:solidFill>
                  <a:srgbClr val="087DDF"/>
                </a:solidFill>
              </a:defRPr>
            </a:lvl2pPr>
            <a:lvl3pPr>
              <a:defRPr sz="1425" b="0">
                <a:solidFill>
                  <a:srgbClr val="087DDF"/>
                </a:solidFill>
              </a:defRPr>
            </a:lvl3pPr>
            <a:lvl4pPr>
              <a:defRPr sz="1425" b="0">
                <a:solidFill>
                  <a:srgbClr val="087DDF"/>
                </a:solidFill>
              </a:defRPr>
            </a:lvl4pPr>
            <a:lvl5pPr>
              <a:defRPr sz="1425" b="0">
                <a:solidFill>
                  <a:srgbClr val="087DDF"/>
                </a:solidFill>
              </a:defRPr>
            </a:lvl5pPr>
            <a:lvl6pPr>
              <a:defRPr sz="1425" b="0">
                <a:solidFill>
                  <a:srgbClr val="087DDF"/>
                </a:solidFill>
              </a:defRPr>
            </a:lvl6pPr>
            <a:lvl7pPr>
              <a:defRPr sz="1425" b="0">
                <a:solidFill>
                  <a:srgbClr val="087DDF"/>
                </a:solidFill>
              </a:defRPr>
            </a:lvl7pPr>
            <a:lvl8pPr>
              <a:defRPr sz="1425" b="0">
                <a:solidFill>
                  <a:srgbClr val="087DDF"/>
                </a:solidFill>
              </a:defRPr>
            </a:lvl8pPr>
            <a:lvl9pPr>
              <a:defRPr sz="1425" b="0">
                <a:solidFill>
                  <a:srgbClr val="087DDF"/>
                </a:solidFill>
              </a:defRPr>
            </a:lvl9pPr>
          </a:lstStyle>
          <a:p xmlns:a="http://schemas.openxmlformats.org/drawingml/2006/main">
            <a:pPr>
              <a:defRPr sz="1425" b="0">
                <a:solidFill>
                  <a:srgbClr val="087DDF"/>
                </a:solidFill>
              </a:defRPr>
            </a:pPr>
            <a:r>
              <a:rPr sz="1425" b="0">
                <a:solidFill>
                  <a:srgbClr val="087DDF"/>
                </a:solidFill>
              </a:rPr>
              <a:t>The absolute policy cap determines the limit in this case.</a:t>
            </a:r>
          </a:p>
        </p:txBody>
      </p:sp>
      <p:sp>
        <p:nvSpPr>
          <p:cNvPr id="7" name="Footer">
            <a:extLst xmlns:a="http://schemas.openxmlformats.org/drawingml/2006/main">
              <a:ext uri="{FF2B5EF4-FFF2-40B4-BE49-F238E27FC236}">
                <a16:creationId xmlns:a16="http://schemas.microsoft.com/office/drawing/2014/main" id="{FC02B682-0B14-4209-9CC7-323AA0E134E0}"/>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defRPr>
            </a:defPPr>
            <a:lvl1pPr>
              <a:defRPr sz="1200" b="0">
                <a:solidFill>
                  <a:srgbClr val="69778B"/>
                </a:solidFill>
              </a:defRPr>
            </a:lvl1pPr>
            <a:lvl2pPr>
              <a:defRPr sz="1200" b="0">
                <a:solidFill>
                  <a:srgbClr val="69778B"/>
                </a:solidFill>
              </a:defRPr>
            </a:lvl2pPr>
            <a:lvl3pPr>
              <a:defRPr sz="1200" b="0">
                <a:solidFill>
                  <a:srgbClr val="69778B"/>
                </a:solidFill>
              </a:defRPr>
            </a:lvl3pPr>
            <a:lvl4pPr>
              <a:defRPr sz="1200" b="0">
                <a:solidFill>
                  <a:srgbClr val="69778B"/>
                </a:solidFill>
              </a:defRPr>
            </a:lvl4pPr>
            <a:lvl5pPr>
              <a:defRPr sz="1200" b="0">
                <a:solidFill>
                  <a:srgbClr val="69778B"/>
                </a:solidFill>
              </a:defRPr>
            </a:lvl5pPr>
            <a:lvl6pPr>
              <a:defRPr sz="1200" b="0">
                <a:solidFill>
                  <a:srgbClr val="69778B"/>
                </a:solidFill>
              </a:defRPr>
            </a:lvl6pPr>
            <a:lvl7pPr>
              <a:defRPr sz="1200" b="0">
                <a:solidFill>
                  <a:srgbClr val="69778B"/>
                </a:solidFill>
              </a:defRPr>
            </a:lvl7pPr>
            <a:lvl8pPr>
              <a:defRPr sz="1200" b="0">
                <a:solidFill>
                  <a:srgbClr val="69778B"/>
                </a:solidFill>
              </a:defRPr>
            </a:lvl8pPr>
            <a:lvl9pPr>
              <a:defRPr sz="1200" b="0">
                <a:solidFill>
                  <a:srgbClr val="69778B"/>
                </a:solidFill>
              </a:defRPr>
            </a:lvl9pPr>
          </a:lstStyle>
          <a:p xmlns:a="http://schemas.openxmlformats.org/drawingml/2006/main">
            <a:pPr>
              <a:defRPr sz="1200" b="0">
                <a:solidFill>
                  <a:srgbClr val="69778B"/>
                </a:solidFill>
              </a:defRPr>
            </a:pPr>
            <a:r>
              <a:rPr sz="1200" b="0">
                <a:solidFill>
                  <a:srgbClr val="69778B"/>
                </a:solidFill>
              </a:rPr>
              <a:t>Build 2   /   Fictional training data   /   21 October 2026</a:t>
            </a:r>
          </a:p>
        </p:txBody>
      </p:sp>
    </p:spTree>
    <p:extLst>
      <p:ext uri="{BB962C8B-B14F-4D97-AF65-F5344CB8AC3E}">
        <p14:creationId xmlns:p14="http://schemas.microsoft.com/office/powerpoint/2010/main" val="48491652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4278A03D-7819-4BFD-BFA8-4D09BFDFC040}"/>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defRPr>
            </a:defPPr>
            <a:lvl1pPr>
              <a:defRPr sz="1800" b="1">
                <a:solidFill>
                  <a:srgbClr val="087DDF"/>
                </a:solidFill>
              </a:defRPr>
            </a:lvl1pPr>
            <a:lvl2pPr>
              <a:defRPr sz="1800" b="1">
                <a:solidFill>
                  <a:srgbClr val="087DDF"/>
                </a:solidFill>
              </a:defRPr>
            </a:lvl2pPr>
            <a:lvl3pPr>
              <a:defRPr sz="1800" b="1">
                <a:solidFill>
                  <a:srgbClr val="087DDF"/>
                </a:solidFill>
              </a:defRPr>
            </a:lvl3pPr>
            <a:lvl4pPr>
              <a:defRPr sz="1800" b="1">
                <a:solidFill>
                  <a:srgbClr val="087DDF"/>
                </a:solidFill>
              </a:defRPr>
            </a:lvl4pPr>
            <a:lvl5pPr>
              <a:defRPr sz="1800" b="1">
                <a:solidFill>
                  <a:srgbClr val="087DDF"/>
                </a:solidFill>
              </a:defRPr>
            </a:lvl5pPr>
            <a:lvl6pPr>
              <a:defRPr sz="1800" b="1">
                <a:solidFill>
                  <a:srgbClr val="087DDF"/>
                </a:solidFill>
              </a:defRPr>
            </a:lvl6pPr>
            <a:lvl7pPr>
              <a:defRPr sz="1800" b="1">
                <a:solidFill>
                  <a:srgbClr val="087DDF"/>
                </a:solidFill>
              </a:defRPr>
            </a:lvl7pPr>
            <a:lvl8pPr>
              <a:defRPr sz="1800" b="1">
                <a:solidFill>
                  <a:srgbClr val="087DDF"/>
                </a:solidFill>
              </a:defRPr>
            </a:lvl8pPr>
            <a:lvl9pPr>
              <a:defRPr sz="1800" b="1">
                <a:solidFill>
                  <a:srgbClr val="087DDF"/>
                </a:solidFill>
              </a:defRPr>
            </a:lvl9pPr>
          </a:lstStyle>
          <a:p xmlns:a="http://schemas.openxmlformats.org/drawingml/2006/main">
            <a:pPr>
              <a:defRPr sz="1800" b="1">
                <a:solidFill>
                  <a:srgbClr val="087DDF"/>
                </a:solidFill>
              </a:defRPr>
            </a:pPr>
            <a:r>
              <a:rPr sz="1800" b="1">
                <a:solidFill>
                  <a:srgbClr val="087DDF"/>
                </a:solidFill>
              </a:rPr>
              <a:t>15</a:t>
            </a:r>
          </a:p>
        </p:txBody>
      </p:sp>
      <p:sp>
        <p:nvSpPr>
          <p:cNvPr id="3" name="Title">
            <a:extLst xmlns:a="http://schemas.openxmlformats.org/drawingml/2006/main">
              <a:ext uri="{FF2B5EF4-FFF2-40B4-BE49-F238E27FC236}">
                <a16:creationId xmlns:a16="http://schemas.microsoft.com/office/drawing/2014/main" id="{3E64ED57-23C3-4122-94E8-7C7DF07DE8E0}"/>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defRPr>
            </a:defPPr>
            <a:lvl1pPr>
              <a:defRPr sz="3300" b="1">
                <a:solidFill>
                  <a:srgbClr val="102744"/>
                </a:solidFill>
              </a:defRPr>
            </a:lvl1pPr>
            <a:lvl2pPr>
              <a:defRPr sz="3300" b="1">
                <a:solidFill>
                  <a:srgbClr val="102744"/>
                </a:solidFill>
              </a:defRPr>
            </a:lvl2pPr>
            <a:lvl3pPr>
              <a:defRPr sz="3300" b="1">
                <a:solidFill>
                  <a:srgbClr val="102744"/>
                </a:solidFill>
              </a:defRPr>
            </a:lvl3pPr>
            <a:lvl4pPr>
              <a:defRPr sz="3300" b="1">
                <a:solidFill>
                  <a:srgbClr val="102744"/>
                </a:solidFill>
              </a:defRPr>
            </a:lvl4pPr>
            <a:lvl5pPr>
              <a:defRPr sz="3300" b="1">
                <a:solidFill>
                  <a:srgbClr val="102744"/>
                </a:solidFill>
              </a:defRPr>
            </a:lvl5pPr>
            <a:lvl6pPr>
              <a:defRPr sz="3300" b="1">
                <a:solidFill>
                  <a:srgbClr val="102744"/>
                </a:solidFill>
              </a:defRPr>
            </a:lvl6pPr>
            <a:lvl7pPr>
              <a:defRPr sz="3300" b="1">
                <a:solidFill>
                  <a:srgbClr val="102744"/>
                </a:solidFill>
              </a:defRPr>
            </a:lvl7pPr>
            <a:lvl8pPr>
              <a:defRPr sz="3300" b="1">
                <a:solidFill>
                  <a:srgbClr val="102744"/>
                </a:solidFill>
              </a:defRPr>
            </a:lvl8pPr>
            <a:lvl9pPr>
              <a:defRPr sz="3300" b="1">
                <a:solidFill>
                  <a:srgbClr val="102744"/>
                </a:solidFill>
              </a:defRPr>
            </a:lvl9pPr>
          </a:lstStyle>
          <a:p xmlns:a="http://schemas.openxmlformats.org/drawingml/2006/main">
            <a:pPr>
              <a:defRPr sz="3300" b="1">
                <a:solidFill>
                  <a:srgbClr val="102744"/>
                </a:solidFill>
              </a:defRPr>
            </a:pPr>
            <a:r>
              <a:rPr sz="3300" b="1">
                <a:solidFill>
                  <a:srgbClr val="102744"/>
                </a:solidFill>
              </a:rPr>
              <a:t>Exceptions and concerns</a:t>
            </a:r>
          </a:p>
        </p:txBody>
      </p:sp>
      <p:sp>
        <p:nvSpPr>
          <p:cNvPr id="4" name="Body">
            <a:extLst xmlns:a="http://schemas.openxmlformats.org/drawingml/2006/main">
              <a:ext uri="{FF2B5EF4-FFF2-40B4-BE49-F238E27FC236}">
                <a16:creationId xmlns:a16="http://schemas.microsoft.com/office/drawing/2014/main" id="{ED55E2EF-DEE7-4D7B-B1BB-5CFAD35E974B}"/>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defRPr>
            </a:defPPr>
            <a:lvl1pPr>
              <a:defRPr sz="1800" b="0">
                <a:solidFill>
                  <a:srgbClr val="25354B"/>
                </a:solidFill>
              </a:defRPr>
            </a:lvl1pPr>
            <a:lvl2pPr>
              <a:defRPr sz="1800" b="0">
                <a:solidFill>
                  <a:srgbClr val="25354B"/>
                </a:solidFill>
              </a:defRPr>
            </a:lvl2pPr>
            <a:lvl3pPr>
              <a:defRPr sz="1800" b="0">
                <a:solidFill>
                  <a:srgbClr val="25354B"/>
                </a:solidFill>
              </a:defRPr>
            </a:lvl3pPr>
            <a:lvl4pPr>
              <a:defRPr sz="1800" b="0">
                <a:solidFill>
                  <a:srgbClr val="25354B"/>
                </a:solidFill>
              </a:defRPr>
            </a:lvl4pPr>
            <a:lvl5pPr>
              <a:defRPr sz="1800" b="0">
                <a:solidFill>
                  <a:srgbClr val="25354B"/>
                </a:solidFill>
              </a:defRPr>
            </a:lvl5pPr>
            <a:lvl6pPr>
              <a:defRPr sz="1800" b="0">
                <a:solidFill>
                  <a:srgbClr val="25354B"/>
                </a:solidFill>
              </a:defRPr>
            </a:lvl6pPr>
            <a:lvl7pPr>
              <a:defRPr sz="1800" b="0">
                <a:solidFill>
                  <a:srgbClr val="25354B"/>
                </a:solidFill>
              </a:defRPr>
            </a:lvl7pPr>
            <a:lvl8pPr>
              <a:defRPr sz="1800" b="0">
                <a:solidFill>
                  <a:srgbClr val="25354B"/>
                </a:solidFill>
              </a:defRPr>
            </a:lvl8pPr>
            <a:lvl9pPr>
              <a:defRPr sz="1800" b="0">
                <a:solidFill>
                  <a:srgbClr val="25354B"/>
                </a:solidFill>
              </a:defRPr>
            </a:lvl9pPr>
          </a:lstStyle>
          <a:p xmlns:a="http://schemas.openxmlformats.org/drawingml/2006/main">
            <a:pPr>
              <a:defRPr sz="1800" b="0">
                <a:solidFill>
                  <a:srgbClr val="25354B"/>
                </a:solidFill>
              </a:defRPr>
            </a:pPr>
            <a:r>
              <a:rPr sz="1800" b="0">
                <a:solidFill>
                  <a:srgbClr val="25354B"/>
                </a:solidFill>
              </a:rPr>
              <a:t>The requested $2.5m exceeds the supported limit.</a:t>
            </a:r>
          </a:p>
          <a:p xmlns:a="http://schemas.openxmlformats.org/drawingml/2006/main">
            <a:pPr>
              <a:defRPr sz="1800" b="0">
                <a:solidFill>
                  <a:srgbClr val="25354B"/>
                </a:solidFill>
              </a:defRPr>
            </a:pPr>
            <a:r>
              <a:t/>
            </a:r>
          </a:p>
          <a:p xmlns:a="http://schemas.openxmlformats.org/drawingml/2006/main">
            <a:pPr>
              <a:defRPr sz="1800" b="0">
                <a:solidFill>
                  <a:srgbClr val="25354B"/>
                </a:solidFill>
              </a:defRPr>
            </a:pPr>
            <a:r>
              <a:rPr sz="1800" b="0">
                <a:solidFill>
                  <a:srgbClr val="25354B"/>
                </a:solidFill>
              </a:rPr>
              <a:t>Net 60 exceeds the standard Net 30 terms.</a:t>
            </a:r>
          </a:p>
          <a:p xmlns:a="http://schemas.openxmlformats.org/drawingml/2006/main">
            <a:pPr>
              <a:defRPr sz="1800" b="0">
                <a:solidFill>
                  <a:srgbClr val="25354B"/>
                </a:solidFill>
              </a:defRPr>
            </a:pPr>
            <a:r>
              <a:t/>
            </a:r>
          </a:p>
          <a:p xmlns:a="http://schemas.openxmlformats.org/drawingml/2006/main">
            <a:pPr>
              <a:defRPr sz="1800" b="0">
                <a:solidFill>
                  <a:srgbClr val="25354B"/>
                </a:solidFill>
              </a:defRPr>
            </a:pPr>
            <a:r>
              <a:rPr sz="1800" b="0">
                <a:solidFill>
                  <a:srgbClr val="25354B"/>
                </a:solidFill>
              </a:rPr>
              <a:t>The report flags both for the manager and discloses the synthetic, unaudited evidence.</a:t>
            </a:r>
          </a:p>
        </p:txBody>
      </p:sp>
      <p:pic>
        <p:nvPicPr>
          <p:cNvPr id="5" name="">
            <a:extLst xmlns:a="http://schemas.openxmlformats.org/drawingml/2006/main">
              <a:ext uri="{FF2B5EF4-FFF2-40B4-BE49-F238E27FC236}">
                <a16:creationId xmlns:a16="http://schemas.microsoft.com/office/drawing/2014/main" id="{225DA44B-7FFA-49EB-9091-CBB41D4A9636}"/>
              </a:ext>
            </a:extLst>
          </p:cNvPr>
          <p:cNvPicPr>
            <a:picLocks xmlns:a="http://schemas.openxmlformats.org/drawingml/2006/main" noChangeAspect="1"/>
          </p:cNvPicPr>
          <p:nvPr/>
        </p:nvPicPr>
        <p:blipFill>
          <a:blip xmlns:r="http://schemas.openxmlformats.org/officeDocument/2006/relationships" xmlns:a="http://schemas.openxmlformats.org/drawingml/2006/main" r:embed="R147340d257854a2f"/>
          <a:stretch xmlns:a="http://schemas.openxmlformats.org/drawingml/2006/main"/>
        </p:blipFill>
        <p:spPr>
          <a:xfrm xmlns:a="http://schemas.openxmlformats.org/drawingml/2006/main">
            <a:off x="4281703" y="1666875"/>
            <a:ext cx="6819469" cy="3905250"/>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E5A5A1C1-9208-4742-878A-B69F11EB82FD}"/>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087DDF"/>
                </a:solidFill>
              </a:defRPr>
            </a:defPPr>
            <a:lvl1pPr>
              <a:defRPr sz="1425" b="0">
                <a:solidFill>
                  <a:srgbClr val="087DDF"/>
                </a:solidFill>
              </a:defRPr>
            </a:lvl1pPr>
            <a:lvl2pPr>
              <a:defRPr sz="1425" b="0">
                <a:solidFill>
                  <a:srgbClr val="087DDF"/>
                </a:solidFill>
              </a:defRPr>
            </a:lvl2pPr>
            <a:lvl3pPr>
              <a:defRPr sz="1425" b="0">
                <a:solidFill>
                  <a:srgbClr val="087DDF"/>
                </a:solidFill>
              </a:defRPr>
            </a:lvl3pPr>
            <a:lvl4pPr>
              <a:defRPr sz="1425" b="0">
                <a:solidFill>
                  <a:srgbClr val="087DDF"/>
                </a:solidFill>
              </a:defRPr>
            </a:lvl4pPr>
            <a:lvl5pPr>
              <a:defRPr sz="1425" b="0">
                <a:solidFill>
                  <a:srgbClr val="087DDF"/>
                </a:solidFill>
              </a:defRPr>
            </a:lvl5pPr>
            <a:lvl6pPr>
              <a:defRPr sz="1425" b="0">
                <a:solidFill>
                  <a:srgbClr val="087DDF"/>
                </a:solidFill>
              </a:defRPr>
            </a:lvl6pPr>
            <a:lvl7pPr>
              <a:defRPr sz="1425" b="0">
                <a:solidFill>
                  <a:srgbClr val="087DDF"/>
                </a:solidFill>
              </a:defRPr>
            </a:lvl7pPr>
            <a:lvl8pPr>
              <a:defRPr sz="1425" b="0">
                <a:solidFill>
                  <a:srgbClr val="087DDF"/>
                </a:solidFill>
              </a:defRPr>
            </a:lvl8pPr>
            <a:lvl9pPr>
              <a:defRPr sz="1425" b="0">
                <a:solidFill>
                  <a:srgbClr val="087DDF"/>
                </a:solidFill>
              </a:defRPr>
            </a:lvl9pPr>
          </a:lstStyle>
          <a:p xmlns:a="http://schemas.openxmlformats.org/drawingml/2006/main">
            <a:pPr>
              <a:defRPr sz="1425" b="0">
                <a:solidFill>
                  <a:srgbClr val="087DDF"/>
                </a:solidFill>
              </a:defRPr>
            </a:pPr>
            <a:r>
              <a:rPr sz="1425" b="0">
                <a:solidFill>
                  <a:srgbClr val="087DDF"/>
                </a:solidFill>
              </a:rPr>
              <a:t>Longer terms require review and do not change the financial tier.</a:t>
            </a:r>
          </a:p>
        </p:txBody>
      </p:sp>
      <p:sp>
        <p:nvSpPr>
          <p:cNvPr id="7" name="Footer">
            <a:extLst xmlns:a="http://schemas.openxmlformats.org/drawingml/2006/main">
              <a:ext uri="{FF2B5EF4-FFF2-40B4-BE49-F238E27FC236}">
                <a16:creationId xmlns:a16="http://schemas.microsoft.com/office/drawing/2014/main" id="{C053371A-21D5-4BF6-BF1F-C69F05F13338}"/>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defRPr>
            </a:defPPr>
            <a:lvl1pPr>
              <a:defRPr sz="1200" b="0">
                <a:solidFill>
                  <a:srgbClr val="69778B"/>
                </a:solidFill>
              </a:defRPr>
            </a:lvl1pPr>
            <a:lvl2pPr>
              <a:defRPr sz="1200" b="0">
                <a:solidFill>
                  <a:srgbClr val="69778B"/>
                </a:solidFill>
              </a:defRPr>
            </a:lvl2pPr>
            <a:lvl3pPr>
              <a:defRPr sz="1200" b="0">
                <a:solidFill>
                  <a:srgbClr val="69778B"/>
                </a:solidFill>
              </a:defRPr>
            </a:lvl3pPr>
            <a:lvl4pPr>
              <a:defRPr sz="1200" b="0">
                <a:solidFill>
                  <a:srgbClr val="69778B"/>
                </a:solidFill>
              </a:defRPr>
            </a:lvl4pPr>
            <a:lvl5pPr>
              <a:defRPr sz="1200" b="0">
                <a:solidFill>
                  <a:srgbClr val="69778B"/>
                </a:solidFill>
              </a:defRPr>
            </a:lvl5pPr>
            <a:lvl6pPr>
              <a:defRPr sz="1200" b="0">
                <a:solidFill>
                  <a:srgbClr val="69778B"/>
                </a:solidFill>
              </a:defRPr>
            </a:lvl6pPr>
            <a:lvl7pPr>
              <a:defRPr sz="1200" b="0">
                <a:solidFill>
                  <a:srgbClr val="69778B"/>
                </a:solidFill>
              </a:defRPr>
            </a:lvl7pPr>
            <a:lvl8pPr>
              <a:defRPr sz="1200" b="0">
                <a:solidFill>
                  <a:srgbClr val="69778B"/>
                </a:solidFill>
              </a:defRPr>
            </a:lvl8pPr>
            <a:lvl9pPr>
              <a:defRPr sz="1200" b="0">
                <a:solidFill>
                  <a:srgbClr val="69778B"/>
                </a:solidFill>
              </a:defRPr>
            </a:lvl9pPr>
          </a:lstStyle>
          <a:p xmlns:a="http://schemas.openxmlformats.org/drawingml/2006/main">
            <a:pPr>
              <a:defRPr sz="1200" b="0">
                <a:solidFill>
                  <a:srgbClr val="69778B"/>
                </a:solidFill>
              </a:defRPr>
            </a:pPr>
            <a:r>
              <a:rPr sz="1200" b="0">
                <a:solidFill>
                  <a:srgbClr val="69778B"/>
                </a:solidFill>
              </a:rPr>
              <a:t>Build 2   /   Fictional training data   /   21 October 2026</a:t>
            </a:r>
          </a:p>
        </p:txBody>
      </p:sp>
    </p:spTree>
    <p:extLst>
      <p:ext uri="{BB962C8B-B14F-4D97-AF65-F5344CB8AC3E}">
        <p14:creationId xmlns:p14="http://schemas.microsoft.com/office/powerpoint/2010/main" val="82894740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0656E6C7-1A76-41F2-88AA-855B281C9E5C}"/>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defRPr>
            </a:defPPr>
            <a:lvl1pPr>
              <a:defRPr sz="1800" b="1">
                <a:solidFill>
                  <a:srgbClr val="087DDF"/>
                </a:solidFill>
              </a:defRPr>
            </a:lvl1pPr>
            <a:lvl2pPr>
              <a:defRPr sz="1800" b="1">
                <a:solidFill>
                  <a:srgbClr val="087DDF"/>
                </a:solidFill>
              </a:defRPr>
            </a:lvl2pPr>
            <a:lvl3pPr>
              <a:defRPr sz="1800" b="1">
                <a:solidFill>
                  <a:srgbClr val="087DDF"/>
                </a:solidFill>
              </a:defRPr>
            </a:lvl3pPr>
            <a:lvl4pPr>
              <a:defRPr sz="1800" b="1">
                <a:solidFill>
                  <a:srgbClr val="087DDF"/>
                </a:solidFill>
              </a:defRPr>
            </a:lvl4pPr>
            <a:lvl5pPr>
              <a:defRPr sz="1800" b="1">
                <a:solidFill>
                  <a:srgbClr val="087DDF"/>
                </a:solidFill>
              </a:defRPr>
            </a:lvl5pPr>
            <a:lvl6pPr>
              <a:defRPr sz="1800" b="1">
                <a:solidFill>
                  <a:srgbClr val="087DDF"/>
                </a:solidFill>
              </a:defRPr>
            </a:lvl6pPr>
            <a:lvl7pPr>
              <a:defRPr sz="1800" b="1">
                <a:solidFill>
                  <a:srgbClr val="087DDF"/>
                </a:solidFill>
              </a:defRPr>
            </a:lvl7pPr>
            <a:lvl8pPr>
              <a:defRPr sz="1800" b="1">
                <a:solidFill>
                  <a:srgbClr val="087DDF"/>
                </a:solidFill>
              </a:defRPr>
            </a:lvl8pPr>
            <a:lvl9pPr>
              <a:defRPr sz="1800" b="1">
                <a:solidFill>
                  <a:srgbClr val="087DDF"/>
                </a:solidFill>
              </a:defRPr>
            </a:lvl9pPr>
          </a:lstStyle>
          <a:p xmlns:a="http://schemas.openxmlformats.org/drawingml/2006/main">
            <a:pPr>
              <a:defRPr sz="1800" b="1">
                <a:solidFill>
                  <a:srgbClr val="087DDF"/>
                </a:solidFill>
              </a:defRPr>
            </a:pPr>
            <a:r>
              <a:rPr sz="1800" b="1">
                <a:solidFill>
                  <a:srgbClr val="087DDF"/>
                </a:solidFill>
              </a:rPr>
              <a:t>16</a:t>
            </a:r>
          </a:p>
        </p:txBody>
      </p:sp>
      <p:sp>
        <p:nvSpPr>
          <p:cNvPr id="3" name="Title">
            <a:extLst xmlns:a="http://schemas.openxmlformats.org/drawingml/2006/main">
              <a:ext uri="{FF2B5EF4-FFF2-40B4-BE49-F238E27FC236}">
                <a16:creationId xmlns:a16="http://schemas.microsoft.com/office/drawing/2014/main" id="{57D2640A-FFEE-4270-B00F-6CF92AE13B69}"/>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defRPr>
            </a:defPPr>
            <a:lvl1pPr>
              <a:defRPr sz="3300" b="1">
                <a:solidFill>
                  <a:srgbClr val="102744"/>
                </a:solidFill>
              </a:defRPr>
            </a:lvl1pPr>
            <a:lvl2pPr>
              <a:defRPr sz="3300" b="1">
                <a:solidFill>
                  <a:srgbClr val="102744"/>
                </a:solidFill>
              </a:defRPr>
            </a:lvl2pPr>
            <a:lvl3pPr>
              <a:defRPr sz="3300" b="1">
                <a:solidFill>
                  <a:srgbClr val="102744"/>
                </a:solidFill>
              </a:defRPr>
            </a:lvl3pPr>
            <a:lvl4pPr>
              <a:defRPr sz="3300" b="1">
                <a:solidFill>
                  <a:srgbClr val="102744"/>
                </a:solidFill>
              </a:defRPr>
            </a:lvl4pPr>
            <a:lvl5pPr>
              <a:defRPr sz="3300" b="1">
                <a:solidFill>
                  <a:srgbClr val="102744"/>
                </a:solidFill>
              </a:defRPr>
            </a:lvl5pPr>
            <a:lvl6pPr>
              <a:defRPr sz="3300" b="1">
                <a:solidFill>
                  <a:srgbClr val="102744"/>
                </a:solidFill>
              </a:defRPr>
            </a:lvl6pPr>
            <a:lvl7pPr>
              <a:defRPr sz="3300" b="1">
                <a:solidFill>
                  <a:srgbClr val="102744"/>
                </a:solidFill>
              </a:defRPr>
            </a:lvl7pPr>
            <a:lvl8pPr>
              <a:defRPr sz="3300" b="1">
                <a:solidFill>
                  <a:srgbClr val="102744"/>
                </a:solidFill>
              </a:defRPr>
            </a:lvl8pPr>
            <a:lvl9pPr>
              <a:defRPr sz="3300" b="1">
                <a:solidFill>
                  <a:srgbClr val="102744"/>
                </a:solidFill>
              </a:defRPr>
            </a:lvl9pPr>
          </a:lstStyle>
          <a:p xmlns:a="http://schemas.openxmlformats.org/drawingml/2006/main">
            <a:pPr>
              <a:defRPr sz="3300" b="1">
                <a:solidFill>
                  <a:srgbClr val="102744"/>
                </a:solidFill>
              </a:defRPr>
            </a:pPr>
            <a:r>
              <a:rPr sz="3300" b="1">
                <a:solidFill>
                  <a:srgbClr val="102744"/>
                </a:solidFill>
              </a:rPr>
              <a:t>The recommendation for the credit manager</a:t>
            </a:r>
          </a:p>
        </p:txBody>
      </p:sp>
      <p:sp>
        <p:nvSpPr>
          <p:cNvPr id="4" name="Body">
            <a:extLst xmlns:a="http://schemas.openxmlformats.org/drawingml/2006/main">
              <a:ext uri="{FF2B5EF4-FFF2-40B4-BE49-F238E27FC236}">
                <a16:creationId xmlns:a16="http://schemas.microsoft.com/office/drawing/2014/main" id="{6995CD90-E4A3-4FAC-9FE7-6318A6ADF5AE}"/>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defRPr>
            </a:defPPr>
            <a:lvl1pPr>
              <a:defRPr sz="1800" b="0">
                <a:solidFill>
                  <a:srgbClr val="25354B"/>
                </a:solidFill>
              </a:defRPr>
            </a:lvl1pPr>
            <a:lvl2pPr>
              <a:defRPr sz="1800" b="0">
                <a:solidFill>
                  <a:srgbClr val="25354B"/>
                </a:solidFill>
              </a:defRPr>
            </a:lvl2pPr>
            <a:lvl3pPr>
              <a:defRPr sz="1800" b="0">
                <a:solidFill>
                  <a:srgbClr val="25354B"/>
                </a:solidFill>
              </a:defRPr>
            </a:lvl3pPr>
            <a:lvl4pPr>
              <a:defRPr sz="1800" b="0">
                <a:solidFill>
                  <a:srgbClr val="25354B"/>
                </a:solidFill>
              </a:defRPr>
            </a:lvl4pPr>
            <a:lvl5pPr>
              <a:defRPr sz="1800" b="0">
                <a:solidFill>
                  <a:srgbClr val="25354B"/>
                </a:solidFill>
              </a:defRPr>
            </a:lvl5pPr>
            <a:lvl6pPr>
              <a:defRPr sz="1800" b="0">
                <a:solidFill>
                  <a:srgbClr val="25354B"/>
                </a:solidFill>
              </a:defRPr>
            </a:lvl6pPr>
            <a:lvl7pPr>
              <a:defRPr sz="1800" b="0">
                <a:solidFill>
                  <a:srgbClr val="25354B"/>
                </a:solidFill>
              </a:defRPr>
            </a:lvl7pPr>
            <a:lvl8pPr>
              <a:defRPr sz="1800" b="0">
                <a:solidFill>
                  <a:srgbClr val="25354B"/>
                </a:solidFill>
              </a:defRPr>
            </a:lvl8pPr>
            <a:lvl9pPr>
              <a:defRPr sz="1800" b="0">
                <a:solidFill>
                  <a:srgbClr val="25354B"/>
                </a:solidFill>
              </a:defRPr>
            </a:lvl9pPr>
          </a:lstStyle>
          <a:p xmlns:a="http://schemas.openxmlformats.org/drawingml/2006/main">
            <a:pPr>
              <a:defRPr sz="1800" b="0">
                <a:solidFill>
                  <a:srgbClr val="25354B"/>
                </a:solidFill>
              </a:defRPr>
            </a:pPr>
            <a:r>
              <a:rPr sz="1800" b="0">
                <a:solidFill>
                  <a:srgbClr val="25354B"/>
                </a:solidFill>
              </a:rPr>
              <a:t>Recommended tier: B.</a:t>
            </a:r>
          </a:p>
          <a:p xmlns:a="http://schemas.openxmlformats.org/drawingml/2006/main">
            <a:pPr>
              <a:defRPr sz="1800" b="0">
                <a:solidFill>
                  <a:srgbClr val="25354B"/>
                </a:solidFill>
              </a:defRPr>
            </a:pPr>
            <a:r>
              <a:t/>
            </a:r>
          </a:p>
          <a:p xmlns:a="http://schemas.openxmlformats.org/drawingml/2006/main">
            <a:pPr>
              <a:defRPr sz="1800" b="0">
                <a:solidFill>
                  <a:srgbClr val="25354B"/>
                </a:solidFill>
              </a:defRPr>
            </a:pPr>
            <a:r>
              <a:rPr sz="1800" b="0">
                <a:solidFill>
                  <a:srgbClr val="25354B"/>
                </a:solidFill>
              </a:rPr>
              <a:t>Unsecured limit: $1,000,000.</a:t>
            </a:r>
          </a:p>
          <a:p xmlns:a="http://schemas.openxmlformats.org/drawingml/2006/main">
            <a:pPr>
              <a:defRPr sz="1800" b="0">
                <a:solidFill>
                  <a:srgbClr val="25354B"/>
                </a:solidFill>
              </a:defRPr>
            </a:pPr>
            <a:r>
              <a:t/>
            </a:r>
          </a:p>
          <a:p xmlns:a="http://schemas.openxmlformats.org/drawingml/2006/main">
            <a:pPr>
              <a:defRPr sz="1800" b="0">
                <a:solidFill>
                  <a:srgbClr val="25354B"/>
                </a:solidFill>
              </a:defRPr>
            </a:pPr>
            <a:r>
              <a:rPr sz="1800" b="0">
                <a:solidFill>
                  <a:srgbClr val="25354B"/>
                </a:solidFill>
              </a:rPr>
              <a:t>Payment terms: Net 30.</a:t>
            </a:r>
          </a:p>
          <a:p xmlns:a="http://schemas.openxmlformats.org/drawingml/2006/main">
            <a:pPr>
              <a:defRPr sz="1800" b="0">
                <a:solidFill>
                  <a:srgbClr val="25354B"/>
                </a:solidFill>
              </a:defRPr>
            </a:pPr>
            <a:r>
              <a:t/>
            </a:r>
          </a:p>
          <a:p xmlns:a="http://schemas.openxmlformats.org/drawingml/2006/main">
            <a:pPr>
              <a:defRPr sz="1800" b="0">
                <a:solidFill>
                  <a:srgbClr val="25354B"/>
                </a:solidFill>
              </a:defRPr>
            </a:pPr>
            <a:r>
              <a:rPr sz="1800" b="0">
                <a:solidFill>
                  <a:srgbClr val="25354B"/>
                </a:solidFill>
              </a:rPr>
              <a:t>The credit manager makes the final decision.</a:t>
            </a:r>
          </a:p>
        </p:txBody>
      </p:sp>
      <p:pic>
        <p:nvPicPr>
          <p:cNvPr id="5" name="">
            <a:extLst xmlns:a="http://schemas.openxmlformats.org/drawingml/2006/main">
              <a:ext uri="{FF2B5EF4-FFF2-40B4-BE49-F238E27FC236}">
                <a16:creationId xmlns:a16="http://schemas.microsoft.com/office/drawing/2014/main" id="{EA76F93E-3E33-4D84-A874-ADF1332C38FE}"/>
              </a:ext>
            </a:extLst>
          </p:cNvPr>
          <p:cNvPicPr>
            <a:picLocks xmlns:a="http://schemas.openxmlformats.org/drawingml/2006/main" noChangeAspect="1"/>
          </p:cNvPicPr>
          <p:nvPr/>
        </p:nvPicPr>
        <p:blipFill>
          <a:blip xmlns:r="http://schemas.openxmlformats.org/officeDocument/2006/relationships" xmlns:a="http://schemas.openxmlformats.org/drawingml/2006/main" r:embed="Ra90e2371c45d4512"/>
          <a:stretch xmlns:a="http://schemas.openxmlformats.org/drawingml/2006/main"/>
        </p:blipFill>
        <p:spPr>
          <a:xfrm xmlns:a="http://schemas.openxmlformats.org/drawingml/2006/main">
            <a:off x="3714750" y="1902944"/>
            <a:ext cx="7953375" cy="3433112"/>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4D6D9868-0458-4FC4-85B7-04EA7D39BC00}"/>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087DDF"/>
                </a:solidFill>
              </a:defRPr>
            </a:defPPr>
            <a:lvl1pPr>
              <a:defRPr sz="1425" b="0">
                <a:solidFill>
                  <a:srgbClr val="087DDF"/>
                </a:solidFill>
              </a:defRPr>
            </a:lvl1pPr>
            <a:lvl2pPr>
              <a:defRPr sz="1425" b="0">
                <a:solidFill>
                  <a:srgbClr val="087DDF"/>
                </a:solidFill>
              </a:defRPr>
            </a:lvl2pPr>
            <a:lvl3pPr>
              <a:defRPr sz="1425" b="0">
                <a:solidFill>
                  <a:srgbClr val="087DDF"/>
                </a:solidFill>
              </a:defRPr>
            </a:lvl3pPr>
            <a:lvl4pPr>
              <a:defRPr sz="1425" b="0">
                <a:solidFill>
                  <a:srgbClr val="087DDF"/>
                </a:solidFill>
              </a:defRPr>
            </a:lvl4pPr>
            <a:lvl5pPr>
              <a:defRPr sz="1425" b="0">
                <a:solidFill>
                  <a:srgbClr val="087DDF"/>
                </a:solidFill>
              </a:defRPr>
            </a:lvl5pPr>
            <a:lvl6pPr>
              <a:defRPr sz="1425" b="0">
                <a:solidFill>
                  <a:srgbClr val="087DDF"/>
                </a:solidFill>
              </a:defRPr>
            </a:lvl6pPr>
            <a:lvl7pPr>
              <a:defRPr sz="1425" b="0">
                <a:solidFill>
                  <a:srgbClr val="087DDF"/>
                </a:solidFill>
              </a:defRPr>
            </a:lvl7pPr>
            <a:lvl8pPr>
              <a:defRPr sz="1425" b="0">
                <a:solidFill>
                  <a:srgbClr val="087DDF"/>
                </a:solidFill>
              </a:defRPr>
            </a:lvl8pPr>
            <a:lvl9pPr>
              <a:defRPr sz="1425" b="0">
                <a:solidFill>
                  <a:srgbClr val="087DDF"/>
                </a:solidFill>
              </a:defRPr>
            </a:lvl9pPr>
          </a:lstStyle>
          <a:p xmlns:a="http://schemas.openxmlformats.org/drawingml/2006/main">
            <a:pPr>
              <a:defRPr sz="1425" b="0">
                <a:solidFill>
                  <a:srgbClr val="087DDF"/>
                </a:solidFill>
              </a:defRPr>
            </a:pPr>
            <a:r>
              <a:rPr sz="1425" b="0">
                <a:solidFill>
                  <a:srgbClr val="087DDF"/>
                </a:solidFill>
              </a:rPr>
              <a:t>Recommendation only. No credit approval or system update took place.</a:t>
            </a:r>
          </a:p>
        </p:txBody>
      </p:sp>
      <p:sp>
        <p:nvSpPr>
          <p:cNvPr id="7" name="Footer">
            <a:extLst xmlns:a="http://schemas.openxmlformats.org/drawingml/2006/main">
              <a:ext uri="{FF2B5EF4-FFF2-40B4-BE49-F238E27FC236}">
                <a16:creationId xmlns:a16="http://schemas.microsoft.com/office/drawing/2014/main" id="{0B4B02CE-405F-4A8C-BB74-6B63BF934D5B}"/>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defRPr>
            </a:defPPr>
            <a:lvl1pPr>
              <a:defRPr sz="1200" b="0">
                <a:solidFill>
                  <a:srgbClr val="69778B"/>
                </a:solidFill>
              </a:defRPr>
            </a:lvl1pPr>
            <a:lvl2pPr>
              <a:defRPr sz="1200" b="0">
                <a:solidFill>
                  <a:srgbClr val="69778B"/>
                </a:solidFill>
              </a:defRPr>
            </a:lvl2pPr>
            <a:lvl3pPr>
              <a:defRPr sz="1200" b="0">
                <a:solidFill>
                  <a:srgbClr val="69778B"/>
                </a:solidFill>
              </a:defRPr>
            </a:lvl3pPr>
            <a:lvl4pPr>
              <a:defRPr sz="1200" b="0">
                <a:solidFill>
                  <a:srgbClr val="69778B"/>
                </a:solidFill>
              </a:defRPr>
            </a:lvl4pPr>
            <a:lvl5pPr>
              <a:defRPr sz="1200" b="0">
                <a:solidFill>
                  <a:srgbClr val="69778B"/>
                </a:solidFill>
              </a:defRPr>
            </a:lvl5pPr>
            <a:lvl6pPr>
              <a:defRPr sz="1200" b="0">
                <a:solidFill>
                  <a:srgbClr val="69778B"/>
                </a:solidFill>
              </a:defRPr>
            </a:lvl6pPr>
            <a:lvl7pPr>
              <a:defRPr sz="1200" b="0">
                <a:solidFill>
                  <a:srgbClr val="69778B"/>
                </a:solidFill>
              </a:defRPr>
            </a:lvl7pPr>
            <a:lvl8pPr>
              <a:defRPr sz="1200" b="0">
                <a:solidFill>
                  <a:srgbClr val="69778B"/>
                </a:solidFill>
              </a:defRPr>
            </a:lvl8pPr>
            <a:lvl9pPr>
              <a:defRPr sz="1200" b="0">
                <a:solidFill>
                  <a:srgbClr val="69778B"/>
                </a:solidFill>
              </a:defRPr>
            </a:lvl9pPr>
          </a:lstStyle>
          <a:p xmlns:a="http://schemas.openxmlformats.org/drawingml/2006/main">
            <a:pPr>
              <a:defRPr sz="1200" b="0">
                <a:solidFill>
                  <a:srgbClr val="69778B"/>
                </a:solidFill>
              </a:defRPr>
            </a:pPr>
            <a:r>
              <a:rPr sz="1200" b="0">
                <a:solidFill>
                  <a:srgbClr val="69778B"/>
                </a:solidFill>
              </a:rPr>
              <a:t>Build 2   /   Fictional training data   /   21 October 2026</a:t>
            </a:r>
          </a:p>
        </p:txBody>
      </p:sp>
    </p:spTree>
    <p:extLst>
      <p:ext uri="{BB962C8B-B14F-4D97-AF65-F5344CB8AC3E}">
        <p14:creationId xmlns:p14="http://schemas.microsoft.com/office/powerpoint/2010/main" val="187463309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tep">
            <a:extLst xmlns:a="http://schemas.openxmlformats.org/drawingml/2006/main">
              <a:ext uri="{FF2B5EF4-FFF2-40B4-BE49-F238E27FC236}">
                <a16:creationId xmlns:a16="http://schemas.microsoft.com/office/drawing/2014/main" id="{F083A1FD-FEC8-4A24-9718-6281378FAE4D}"/>
              </a:ext>
            </a:extLst>
          </p:cNvPr>
          <p:cNvSpPr>
            <a:spLocks xmlns:a="http://schemas.openxmlformats.org/drawingml/2006/main" noGrp="1"/>
          </p:cNvSpPr>
          <p:nvPr/>
        </p:nvSpPr>
        <p:spPr>
          <a:xfrm xmlns:a="http://schemas.openxmlformats.org/drawingml/2006/main">
            <a:off x="495300" y="342900"/>
            <a:ext cx="70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87DDF"/>
                </a:solidFill>
              </a:defRPr>
            </a:defPPr>
            <a:lvl1pPr>
              <a:defRPr sz="1800" b="1">
                <a:solidFill>
                  <a:srgbClr val="087DDF"/>
                </a:solidFill>
              </a:defRPr>
            </a:lvl1pPr>
            <a:lvl2pPr>
              <a:defRPr sz="1800" b="1">
                <a:solidFill>
                  <a:srgbClr val="087DDF"/>
                </a:solidFill>
              </a:defRPr>
            </a:lvl2pPr>
            <a:lvl3pPr>
              <a:defRPr sz="1800" b="1">
                <a:solidFill>
                  <a:srgbClr val="087DDF"/>
                </a:solidFill>
              </a:defRPr>
            </a:lvl3pPr>
            <a:lvl4pPr>
              <a:defRPr sz="1800" b="1">
                <a:solidFill>
                  <a:srgbClr val="087DDF"/>
                </a:solidFill>
              </a:defRPr>
            </a:lvl4pPr>
            <a:lvl5pPr>
              <a:defRPr sz="1800" b="1">
                <a:solidFill>
                  <a:srgbClr val="087DDF"/>
                </a:solidFill>
              </a:defRPr>
            </a:lvl5pPr>
            <a:lvl6pPr>
              <a:defRPr sz="1800" b="1">
                <a:solidFill>
                  <a:srgbClr val="087DDF"/>
                </a:solidFill>
              </a:defRPr>
            </a:lvl6pPr>
            <a:lvl7pPr>
              <a:defRPr sz="1800" b="1">
                <a:solidFill>
                  <a:srgbClr val="087DDF"/>
                </a:solidFill>
              </a:defRPr>
            </a:lvl7pPr>
            <a:lvl8pPr>
              <a:defRPr sz="1800" b="1">
                <a:solidFill>
                  <a:srgbClr val="087DDF"/>
                </a:solidFill>
              </a:defRPr>
            </a:lvl8pPr>
            <a:lvl9pPr>
              <a:defRPr sz="1800" b="1">
                <a:solidFill>
                  <a:srgbClr val="087DDF"/>
                </a:solidFill>
              </a:defRPr>
            </a:lvl9pPr>
          </a:lstStyle>
          <a:p xmlns:a="http://schemas.openxmlformats.org/drawingml/2006/main">
            <a:pPr>
              <a:defRPr sz="1800" b="1">
                <a:solidFill>
                  <a:srgbClr val="087DDF"/>
                </a:solidFill>
              </a:defRPr>
            </a:pPr>
            <a:r>
              <a:rPr sz="1800" b="1">
                <a:solidFill>
                  <a:srgbClr val="087DDF"/>
                </a:solidFill>
              </a:rPr>
              <a:t>17</a:t>
            </a:r>
          </a:p>
        </p:txBody>
      </p:sp>
      <p:sp>
        <p:nvSpPr>
          <p:cNvPr id="3" name="Title">
            <a:extLst xmlns:a="http://schemas.openxmlformats.org/drawingml/2006/main">
              <a:ext uri="{FF2B5EF4-FFF2-40B4-BE49-F238E27FC236}">
                <a16:creationId xmlns:a16="http://schemas.microsoft.com/office/drawing/2014/main" id="{B9D2629B-3E87-41F0-939B-537AA51FABFF}"/>
              </a:ext>
            </a:extLst>
          </p:cNvPr>
          <p:cNvSpPr>
            <a:spLocks xmlns:a="http://schemas.openxmlformats.org/drawingml/2006/main" noGrp="1"/>
          </p:cNvSpPr>
          <p:nvPr/>
        </p:nvSpPr>
        <p:spPr>
          <a:xfrm xmlns:a="http://schemas.openxmlformats.org/drawingml/2006/main">
            <a:off x="495300" y="76200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744"/>
                </a:solidFill>
              </a:defRPr>
            </a:defPPr>
            <a:lvl1pPr>
              <a:defRPr sz="3300" b="1">
                <a:solidFill>
                  <a:srgbClr val="102744"/>
                </a:solidFill>
              </a:defRPr>
            </a:lvl1pPr>
            <a:lvl2pPr>
              <a:defRPr sz="3300" b="1">
                <a:solidFill>
                  <a:srgbClr val="102744"/>
                </a:solidFill>
              </a:defRPr>
            </a:lvl2pPr>
            <a:lvl3pPr>
              <a:defRPr sz="3300" b="1">
                <a:solidFill>
                  <a:srgbClr val="102744"/>
                </a:solidFill>
              </a:defRPr>
            </a:lvl3pPr>
            <a:lvl4pPr>
              <a:defRPr sz="3300" b="1">
                <a:solidFill>
                  <a:srgbClr val="102744"/>
                </a:solidFill>
              </a:defRPr>
            </a:lvl4pPr>
            <a:lvl5pPr>
              <a:defRPr sz="3300" b="1">
                <a:solidFill>
                  <a:srgbClr val="102744"/>
                </a:solidFill>
              </a:defRPr>
            </a:lvl5pPr>
            <a:lvl6pPr>
              <a:defRPr sz="3300" b="1">
                <a:solidFill>
                  <a:srgbClr val="102744"/>
                </a:solidFill>
              </a:defRPr>
            </a:lvl6pPr>
            <a:lvl7pPr>
              <a:defRPr sz="3300" b="1">
                <a:solidFill>
                  <a:srgbClr val="102744"/>
                </a:solidFill>
              </a:defRPr>
            </a:lvl7pPr>
            <a:lvl8pPr>
              <a:defRPr sz="3300" b="1">
                <a:solidFill>
                  <a:srgbClr val="102744"/>
                </a:solidFill>
              </a:defRPr>
            </a:lvl8pPr>
            <a:lvl9pPr>
              <a:defRPr sz="3300" b="1">
                <a:solidFill>
                  <a:srgbClr val="102744"/>
                </a:solidFill>
              </a:defRPr>
            </a:lvl9pPr>
          </a:lstStyle>
          <a:p xmlns:a="http://schemas.openxmlformats.org/drawingml/2006/main">
            <a:pPr>
              <a:defRPr sz="3300" b="1">
                <a:solidFill>
                  <a:srgbClr val="102744"/>
                </a:solidFill>
              </a:defRPr>
            </a:pPr>
            <a:r>
              <a:rPr sz="3300" b="1">
                <a:solidFill>
                  <a:srgbClr val="102744"/>
                </a:solidFill>
              </a:rPr>
              <a:t>The completed PDF handover</a:t>
            </a:r>
          </a:p>
        </p:txBody>
      </p:sp>
      <p:sp>
        <p:nvSpPr>
          <p:cNvPr id="4" name="Body">
            <a:extLst xmlns:a="http://schemas.openxmlformats.org/drawingml/2006/main">
              <a:ext uri="{FF2B5EF4-FFF2-40B4-BE49-F238E27FC236}">
                <a16:creationId xmlns:a16="http://schemas.microsoft.com/office/drawing/2014/main" id="{22AA5A3E-6B63-4BCF-8315-4E9D5FB1D245}"/>
              </a:ext>
            </a:extLst>
          </p:cNvPr>
          <p:cNvSpPr>
            <a:spLocks xmlns:a="http://schemas.openxmlformats.org/drawingml/2006/main" noGrp="1"/>
          </p:cNvSpPr>
          <p:nvPr/>
        </p:nvSpPr>
        <p:spPr>
          <a:xfrm xmlns:a="http://schemas.openxmlformats.org/drawingml/2006/main">
            <a:off x="495300" y="1847850"/>
            <a:ext cx="2857500" cy="409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5354B"/>
                </a:solidFill>
              </a:defRPr>
            </a:defPPr>
            <a:lvl1pPr>
              <a:defRPr sz="1800" b="0">
                <a:solidFill>
                  <a:srgbClr val="25354B"/>
                </a:solidFill>
              </a:defRPr>
            </a:lvl1pPr>
            <a:lvl2pPr>
              <a:defRPr sz="1800" b="0">
                <a:solidFill>
                  <a:srgbClr val="25354B"/>
                </a:solidFill>
              </a:defRPr>
            </a:lvl2pPr>
            <a:lvl3pPr>
              <a:defRPr sz="1800" b="0">
                <a:solidFill>
                  <a:srgbClr val="25354B"/>
                </a:solidFill>
              </a:defRPr>
            </a:lvl3pPr>
            <a:lvl4pPr>
              <a:defRPr sz="1800" b="0">
                <a:solidFill>
                  <a:srgbClr val="25354B"/>
                </a:solidFill>
              </a:defRPr>
            </a:lvl4pPr>
            <a:lvl5pPr>
              <a:defRPr sz="1800" b="0">
                <a:solidFill>
                  <a:srgbClr val="25354B"/>
                </a:solidFill>
              </a:defRPr>
            </a:lvl5pPr>
            <a:lvl6pPr>
              <a:defRPr sz="1800" b="0">
                <a:solidFill>
                  <a:srgbClr val="25354B"/>
                </a:solidFill>
              </a:defRPr>
            </a:lvl6pPr>
            <a:lvl7pPr>
              <a:defRPr sz="1800" b="0">
                <a:solidFill>
                  <a:srgbClr val="25354B"/>
                </a:solidFill>
              </a:defRPr>
            </a:lvl7pPr>
            <a:lvl8pPr>
              <a:defRPr sz="1800" b="0">
                <a:solidFill>
                  <a:srgbClr val="25354B"/>
                </a:solidFill>
              </a:defRPr>
            </a:lvl8pPr>
            <a:lvl9pPr>
              <a:defRPr sz="1800" b="0">
                <a:solidFill>
                  <a:srgbClr val="25354B"/>
                </a:solidFill>
              </a:defRPr>
            </a:lvl9pPr>
          </a:lstStyle>
          <a:p xmlns:a="http://schemas.openxmlformats.org/drawingml/2006/main">
            <a:pPr>
              <a:defRPr sz="1800" b="0">
                <a:solidFill>
                  <a:srgbClr val="25354B"/>
                </a:solidFill>
              </a:defRPr>
            </a:pPr>
            <a:r>
              <a:rPr sz="1800" b="0">
                <a:solidFill>
                  <a:srgbClr val="25354B"/>
                </a:solidFill>
              </a:rPr>
              <a:t>The final chat summarises the result and links the report.</a:t>
            </a:r>
          </a:p>
          <a:p xmlns:a="http://schemas.openxmlformats.org/drawingml/2006/main">
            <a:pPr>
              <a:defRPr sz="1800" b="0">
                <a:solidFill>
                  <a:srgbClr val="25354B"/>
                </a:solidFill>
              </a:defRPr>
            </a:pPr>
            <a:r>
              <a:t/>
            </a:r>
          </a:p>
          <a:p xmlns:a="http://schemas.openxmlformats.org/drawingml/2006/main">
            <a:pPr>
              <a:defRPr sz="1800" b="0">
                <a:solidFill>
                  <a:srgbClr val="25354B"/>
                </a:solidFill>
              </a:defRPr>
            </a:pPr>
            <a:r>
              <a:rPr sz="1800" b="0">
                <a:solidFill>
                  <a:srgbClr val="25354B"/>
                </a:solidFill>
              </a:rPr>
              <a:t>Click the PDF card to preview it.</a:t>
            </a:r>
          </a:p>
          <a:p xmlns:a="http://schemas.openxmlformats.org/drawingml/2006/main">
            <a:pPr>
              <a:defRPr sz="1800" b="0">
                <a:solidFill>
                  <a:srgbClr val="25354B"/>
                </a:solidFill>
              </a:defRPr>
            </a:pPr>
            <a:r>
              <a:t/>
            </a:r>
          </a:p>
          <a:p xmlns:a="http://schemas.openxmlformats.org/drawingml/2006/main">
            <a:pPr>
              <a:defRPr sz="1800" b="0">
                <a:solidFill>
                  <a:srgbClr val="25354B"/>
                </a:solidFill>
              </a:defRPr>
            </a:pPr>
            <a:r>
              <a:rPr sz="1800" b="0">
                <a:solidFill>
                  <a:srgbClr val="25354B"/>
                </a:solidFill>
              </a:rPr>
              <a:t>Use Download, then PDF, to save it.</a:t>
            </a:r>
          </a:p>
          <a:p xmlns:a="http://schemas.openxmlformats.org/drawingml/2006/main">
            <a:pPr>
              <a:defRPr sz="1800" b="0">
                <a:solidFill>
                  <a:srgbClr val="25354B"/>
                </a:solidFill>
              </a:defRPr>
            </a:pPr>
            <a:r>
              <a:t/>
            </a:r>
          </a:p>
          <a:p xmlns:a="http://schemas.openxmlformats.org/drawingml/2006/main">
            <a:pPr>
              <a:defRPr sz="1800" b="0">
                <a:solidFill>
                  <a:srgbClr val="25354B"/>
                </a:solidFill>
              </a:defRPr>
            </a:pPr>
            <a:r>
              <a:rPr sz="1800" b="0">
                <a:solidFill>
                  <a:srgbClr val="25354B"/>
                </a:solidFill>
              </a:rPr>
              <a:t>The report contains three confidential pages.</a:t>
            </a:r>
          </a:p>
        </p:txBody>
      </p:sp>
      <p:pic>
        <p:nvPicPr>
          <p:cNvPr id="5" name="">
            <a:extLst xmlns:a="http://schemas.openxmlformats.org/drawingml/2006/main">
              <a:ext uri="{FF2B5EF4-FFF2-40B4-BE49-F238E27FC236}">
                <a16:creationId xmlns:a16="http://schemas.microsoft.com/office/drawing/2014/main" id="{23CDE158-1A48-469D-8C9B-C4FD18629981}"/>
              </a:ext>
            </a:extLst>
          </p:cNvPr>
          <p:cNvPicPr>
            <a:picLocks xmlns:a="http://schemas.openxmlformats.org/drawingml/2006/main" noChangeAspect="1"/>
          </p:cNvPicPr>
          <p:nvPr/>
        </p:nvPicPr>
        <p:blipFill>
          <a:blip xmlns:r="http://schemas.openxmlformats.org/officeDocument/2006/relationships" xmlns:a="http://schemas.openxmlformats.org/drawingml/2006/main" r:embed="R27dc19a1f230450c"/>
          <a:stretch xmlns:a="http://schemas.openxmlformats.org/drawingml/2006/main"/>
        </p:blipFill>
        <p:spPr>
          <a:xfrm xmlns:a="http://schemas.openxmlformats.org/drawingml/2006/main">
            <a:off x="3714750" y="1897947"/>
            <a:ext cx="7953375" cy="3443107"/>
          </a:xfrm>
          <a:prstGeom xmlns:a="http://schemas.openxmlformats.org/drawingml/2006/main" prst="rect">
            <a:avLst/>
          </a:prstGeom>
        </p:spPr>
      </p:pic>
      <p:sp>
        <p:nvSpPr>
          <p:cNvPr id="6" name="Caption">
            <a:extLst xmlns:a="http://schemas.openxmlformats.org/drawingml/2006/main">
              <a:ext uri="{FF2B5EF4-FFF2-40B4-BE49-F238E27FC236}">
                <a16:creationId xmlns:a16="http://schemas.microsoft.com/office/drawing/2014/main" id="{79A30BF8-826F-415D-A28B-F7D50F569B3D}"/>
              </a:ext>
            </a:extLst>
          </p:cNvPr>
          <p:cNvSpPr>
            <a:spLocks xmlns:a="http://schemas.openxmlformats.org/drawingml/2006/main" noGrp="1"/>
          </p:cNvSpPr>
          <p:nvPr/>
        </p:nvSpPr>
        <p:spPr>
          <a:xfrm xmlns:a="http://schemas.openxmlformats.org/drawingml/2006/main">
            <a:off x="3714750" y="5810250"/>
            <a:ext cx="7953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087DDF"/>
                </a:solidFill>
              </a:defRPr>
            </a:defPPr>
            <a:lvl1pPr>
              <a:defRPr sz="1425" b="0">
                <a:solidFill>
                  <a:srgbClr val="087DDF"/>
                </a:solidFill>
              </a:defRPr>
            </a:lvl1pPr>
            <a:lvl2pPr>
              <a:defRPr sz="1425" b="0">
                <a:solidFill>
                  <a:srgbClr val="087DDF"/>
                </a:solidFill>
              </a:defRPr>
            </a:lvl2pPr>
            <a:lvl3pPr>
              <a:defRPr sz="1425" b="0">
                <a:solidFill>
                  <a:srgbClr val="087DDF"/>
                </a:solidFill>
              </a:defRPr>
            </a:lvl3pPr>
            <a:lvl4pPr>
              <a:defRPr sz="1425" b="0">
                <a:solidFill>
                  <a:srgbClr val="087DDF"/>
                </a:solidFill>
              </a:defRPr>
            </a:lvl4pPr>
            <a:lvl5pPr>
              <a:defRPr sz="1425" b="0">
                <a:solidFill>
                  <a:srgbClr val="087DDF"/>
                </a:solidFill>
              </a:defRPr>
            </a:lvl5pPr>
            <a:lvl6pPr>
              <a:defRPr sz="1425" b="0">
                <a:solidFill>
                  <a:srgbClr val="087DDF"/>
                </a:solidFill>
              </a:defRPr>
            </a:lvl6pPr>
            <a:lvl7pPr>
              <a:defRPr sz="1425" b="0">
                <a:solidFill>
                  <a:srgbClr val="087DDF"/>
                </a:solidFill>
              </a:defRPr>
            </a:lvl7pPr>
            <a:lvl8pPr>
              <a:defRPr sz="1425" b="0">
                <a:solidFill>
                  <a:srgbClr val="087DDF"/>
                </a:solidFill>
              </a:defRPr>
            </a:lvl8pPr>
            <a:lvl9pPr>
              <a:defRPr sz="1425" b="0">
                <a:solidFill>
                  <a:srgbClr val="087DDF"/>
                </a:solidFill>
              </a:defRPr>
            </a:lvl9pPr>
          </a:lstStyle>
          <a:p xmlns:a="http://schemas.openxmlformats.org/drawingml/2006/main">
            <a:pPr>
              <a:defRPr sz="1425" b="0">
                <a:solidFill>
                  <a:srgbClr val="087DDF"/>
                </a:solidFill>
              </a:defRPr>
            </a:pPr>
            <a:r>
              <a:rPr sz="1425" b="0">
                <a:solidFill>
                  <a:srgbClr val="087DDF"/>
                </a:solidFill>
              </a:rPr>
              <a:t>The finished report includes source pages, calculations, concerns and the recommendation.</a:t>
            </a:r>
          </a:p>
        </p:txBody>
      </p:sp>
      <p:sp>
        <p:nvSpPr>
          <p:cNvPr id="7" name="Footer">
            <a:extLst xmlns:a="http://schemas.openxmlformats.org/drawingml/2006/main">
              <a:ext uri="{FF2B5EF4-FFF2-40B4-BE49-F238E27FC236}">
                <a16:creationId xmlns:a16="http://schemas.microsoft.com/office/drawing/2014/main" id="{B9358624-743C-4B38-A64C-AC9DCCE51330}"/>
              </a:ext>
            </a:extLst>
          </p:cNvPr>
          <p:cNvSpPr>
            <a:spLocks xmlns:a="http://schemas.openxmlformats.org/drawingml/2006/main" noGrp="1"/>
          </p:cNvSpPr>
          <p:nvPr/>
        </p:nvSpPr>
        <p:spPr>
          <a:xfrm xmlns:a="http://schemas.openxmlformats.org/drawingml/2006/main">
            <a:off x="495300" y="6419850"/>
            <a:ext cx="1095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a:solidFill>
                  <a:srgbClr val="69778B"/>
                </a:solidFill>
              </a:defRPr>
            </a:defPPr>
            <a:lvl1pPr>
              <a:defRPr sz="1200" b="0">
                <a:solidFill>
                  <a:srgbClr val="69778B"/>
                </a:solidFill>
              </a:defRPr>
            </a:lvl1pPr>
            <a:lvl2pPr>
              <a:defRPr sz="1200" b="0">
                <a:solidFill>
                  <a:srgbClr val="69778B"/>
                </a:solidFill>
              </a:defRPr>
            </a:lvl2pPr>
            <a:lvl3pPr>
              <a:defRPr sz="1200" b="0">
                <a:solidFill>
                  <a:srgbClr val="69778B"/>
                </a:solidFill>
              </a:defRPr>
            </a:lvl3pPr>
            <a:lvl4pPr>
              <a:defRPr sz="1200" b="0">
                <a:solidFill>
                  <a:srgbClr val="69778B"/>
                </a:solidFill>
              </a:defRPr>
            </a:lvl4pPr>
            <a:lvl5pPr>
              <a:defRPr sz="1200" b="0">
                <a:solidFill>
                  <a:srgbClr val="69778B"/>
                </a:solidFill>
              </a:defRPr>
            </a:lvl5pPr>
            <a:lvl6pPr>
              <a:defRPr sz="1200" b="0">
                <a:solidFill>
                  <a:srgbClr val="69778B"/>
                </a:solidFill>
              </a:defRPr>
            </a:lvl6pPr>
            <a:lvl7pPr>
              <a:defRPr sz="1200" b="0">
                <a:solidFill>
                  <a:srgbClr val="69778B"/>
                </a:solidFill>
              </a:defRPr>
            </a:lvl7pPr>
            <a:lvl8pPr>
              <a:defRPr sz="1200" b="0">
                <a:solidFill>
                  <a:srgbClr val="69778B"/>
                </a:solidFill>
              </a:defRPr>
            </a:lvl8pPr>
            <a:lvl9pPr>
              <a:defRPr sz="1200" b="0">
                <a:solidFill>
                  <a:srgbClr val="69778B"/>
                </a:solidFill>
              </a:defRPr>
            </a:lvl9pPr>
          </a:lstStyle>
          <a:p xmlns:a="http://schemas.openxmlformats.org/drawingml/2006/main">
            <a:pPr>
              <a:defRPr sz="1200" b="0">
                <a:solidFill>
                  <a:srgbClr val="69778B"/>
                </a:solidFill>
              </a:defRPr>
            </a:pPr>
            <a:r>
              <a:rPr sz="1200" b="0">
                <a:solidFill>
                  <a:srgbClr val="69778B"/>
                </a:solidFill>
              </a:rPr>
              <a:t>Build 2   /   Fictional training data   /   21 October 2026</a:t>
            </a:r>
          </a:p>
        </p:txBody>
      </p:sp>
    </p:spTree>
    <p:extLst>
      <p:ext uri="{BB962C8B-B14F-4D97-AF65-F5344CB8AC3E}">
        <p14:creationId xmlns:p14="http://schemas.microsoft.com/office/powerpoint/2010/main" val="9668159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2026-10-21T14:25:22.1430000Z</dcterms:created>
  <dcterms:modified xsi:type="dcterms:W3CDTF">2026-10-21T14:25:22.1430000Z</dcterms:modified>
</coreProperties>
</file>