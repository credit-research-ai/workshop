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cb1adcb7a9148ed" /><Relationship Type="http://schemas.openxmlformats.org/officeDocument/2006/relationships/extended-properties" Target="/docProps/app.xml" Id="R1d8155d200074cbb" /><Relationship Type="http://schemas.openxmlformats.org/officeDocument/2006/relationships/officeDocument" Target="/ppt/presentation.xml" Id="R55f87ef658c04b11" /></Relationships>
</file>

<file path=ppt/presentation.xml><?xml version="1.0" encoding="utf-8"?>
<p:presentation xmlns:p="http://schemas.openxmlformats.org/presentationml/2006/main">
  <p:sldMasterIdLst>
    <p:sldMasterId xmlns:r="http://schemas.openxmlformats.org/officeDocument/2006/relationships" id="2147483648" r:id="R9222ece566b84657"/>
  </p:sldMasterIdLst>
  <p:notesMasterIdLst>
    <p:notesMasterId xmlns:r="http://schemas.openxmlformats.org/officeDocument/2006/relationships" r:id="R6d7693eb9efd4ec5"/>
  </p:notesMasterIdLst>
  <p:sldIdLst>
    <p:sldId xmlns:r="http://schemas.openxmlformats.org/officeDocument/2006/relationships" id="256" r:id="Rc2a526231d0642c6"/>
    <p:sldId xmlns:r="http://schemas.openxmlformats.org/officeDocument/2006/relationships" id="257" r:id="R5d16c8be28f441ee"/>
    <p:sldId xmlns:r="http://schemas.openxmlformats.org/officeDocument/2006/relationships" id="258" r:id="Ra7fa3b781a5c4b28"/>
    <p:sldId xmlns:r="http://schemas.openxmlformats.org/officeDocument/2006/relationships" id="259" r:id="Rc882798ebad34a3a"/>
    <p:sldId xmlns:r="http://schemas.openxmlformats.org/officeDocument/2006/relationships" id="260" r:id="Rd1d4e327db63430a"/>
    <p:sldId xmlns:r="http://schemas.openxmlformats.org/officeDocument/2006/relationships" id="261" r:id="R68b36ba25b5b4c21"/>
    <p:sldId xmlns:r="http://schemas.openxmlformats.org/officeDocument/2006/relationships" id="262" r:id="Re6fb8bbec9fa417d"/>
    <p:sldId xmlns:r="http://schemas.openxmlformats.org/officeDocument/2006/relationships" id="263" r:id="R88d8266fe7174db1"/>
    <p:sldId xmlns:r="http://schemas.openxmlformats.org/officeDocument/2006/relationships" id="264" r:id="Rd9c90a4b3fc94d15"/>
    <p:sldId xmlns:r="http://schemas.openxmlformats.org/officeDocument/2006/relationships" id="265" r:id="R52e70b5736964752"/>
    <p:sldId xmlns:r="http://schemas.openxmlformats.org/officeDocument/2006/relationships" id="266" r:id="R03f5b23949f34084"/>
    <p:sldId xmlns:r="http://schemas.openxmlformats.org/officeDocument/2006/relationships" id="267" r:id="R244251ceeaf640ed"/>
    <p:sldId xmlns:r="http://schemas.openxmlformats.org/officeDocument/2006/relationships" id="268" r:id="Ra95c5a1a32014e86"/>
    <p:sldId xmlns:r="http://schemas.openxmlformats.org/officeDocument/2006/relationships" id="269" r:id="R445eb9dde3d94ef1"/>
    <p:sldId xmlns:r="http://schemas.openxmlformats.org/officeDocument/2006/relationships" id="270" r:id="Rc090e7b153354188"/>
    <p:sldId xmlns:r="http://schemas.openxmlformats.org/officeDocument/2006/relationships" id="271" r:id="Rabaea9029a6e4a9a"/>
    <p:sldId xmlns:r="http://schemas.openxmlformats.org/officeDocument/2006/relationships" id="272" r:id="Rf3ac8e0e46c44ecf"/>
    <p:sldId xmlns:r="http://schemas.openxmlformats.org/officeDocument/2006/relationships" id="273" r:id="Rc751e6a140224ba1"/>
    <p:sldId xmlns:r="http://schemas.openxmlformats.org/officeDocument/2006/relationships" id="274" r:id="R1e233908da4e4c2d"/>
    <p:sldId xmlns:r="http://schemas.openxmlformats.org/officeDocument/2006/relationships" id="275" r:id="R43ffdd7694624c7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07a6c77163b4fb9" /><Relationship Type="http://schemas.openxmlformats.org/officeDocument/2006/relationships/slideMaster" Target="/ppt/slideMasters/slideMaster1.xml" Id="R9222ece566b84657" /><Relationship Type="http://schemas.openxmlformats.org/officeDocument/2006/relationships/notesMaster" Target="/ppt/notesMasters/notesMaster1.xml" Id="R6d7693eb9efd4ec5" /><Relationship Type="http://schemas.openxmlformats.org/officeDocument/2006/relationships/presProps" Target="/ppt/presProps.xml" Id="R2d7a0b7f0f7b4bd8" /><Relationship Type="http://schemas.openxmlformats.org/officeDocument/2006/relationships/tableStyles" Target="/ppt/tableStyles.xml" Id="Rdbc6aa9a94584ad3" /><Relationship Type="http://schemas.openxmlformats.org/officeDocument/2006/relationships/slide" Target="/ppt/slides/slide1.xml" Id="Rc2a526231d0642c6" /><Relationship Type="http://schemas.openxmlformats.org/officeDocument/2006/relationships/slide" Target="/ppt/slides/slide2.xml" Id="R5d16c8be28f441ee" /><Relationship Type="http://schemas.openxmlformats.org/officeDocument/2006/relationships/slide" Target="/ppt/slides/slide3.xml" Id="Ra7fa3b781a5c4b28" /><Relationship Type="http://schemas.openxmlformats.org/officeDocument/2006/relationships/slide" Target="/ppt/slides/slide4.xml" Id="Rc882798ebad34a3a" /><Relationship Type="http://schemas.openxmlformats.org/officeDocument/2006/relationships/slide" Target="/ppt/slides/slide5.xml" Id="Rd1d4e327db63430a" /><Relationship Type="http://schemas.openxmlformats.org/officeDocument/2006/relationships/slide" Target="/ppt/slides/slide6.xml" Id="R68b36ba25b5b4c21" /><Relationship Type="http://schemas.openxmlformats.org/officeDocument/2006/relationships/slide" Target="/ppt/slides/slide7.xml" Id="Re6fb8bbec9fa417d" /><Relationship Type="http://schemas.openxmlformats.org/officeDocument/2006/relationships/slide" Target="/ppt/slides/slide8.xml" Id="R88d8266fe7174db1" /><Relationship Type="http://schemas.openxmlformats.org/officeDocument/2006/relationships/slide" Target="/ppt/slides/slide9.xml" Id="Rd9c90a4b3fc94d15" /><Relationship Type="http://schemas.openxmlformats.org/officeDocument/2006/relationships/slide" Target="/ppt/slides/slide10.xml" Id="R52e70b5736964752" /><Relationship Type="http://schemas.openxmlformats.org/officeDocument/2006/relationships/slide" Target="/ppt/slides/slide11.xml" Id="R03f5b23949f34084" /><Relationship Type="http://schemas.openxmlformats.org/officeDocument/2006/relationships/slide" Target="/ppt/slides/slide12.xml" Id="R244251ceeaf640ed" /><Relationship Type="http://schemas.openxmlformats.org/officeDocument/2006/relationships/slide" Target="/ppt/slides/slide13.xml" Id="Ra95c5a1a32014e86" /><Relationship Type="http://schemas.openxmlformats.org/officeDocument/2006/relationships/slide" Target="/ppt/slides/slide14.xml" Id="R445eb9dde3d94ef1" /><Relationship Type="http://schemas.openxmlformats.org/officeDocument/2006/relationships/slide" Target="/ppt/slides/slide15.xml" Id="Rc090e7b153354188" /><Relationship Type="http://schemas.openxmlformats.org/officeDocument/2006/relationships/slide" Target="/ppt/slides/slide16.xml" Id="Rabaea9029a6e4a9a" /><Relationship Type="http://schemas.openxmlformats.org/officeDocument/2006/relationships/slide" Target="/ppt/slides/slide17.xml" Id="Rf3ac8e0e46c44ecf" /><Relationship Type="http://schemas.openxmlformats.org/officeDocument/2006/relationships/slide" Target="/ppt/slides/slide18.xml" Id="Rc751e6a140224ba1" /><Relationship Type="http://schemas.openxmlformats.org/officeDocument/2006/relationships/slide" Target="/ppt/slides/slide19.xml" Id="R1e233908da4e4c2d" /><Relationship Type="http://schemas.openxmlformats.org/officeDocument/2006/relationships/slide" Target="/ppt/slides/slide20.xml" Id="R43ffdd7694624c7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b8e2fc2f38748b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64fd5689ed94ea5" /><Relationship Type="http://schemas.openxmlformats.org/officeDocument/2006/relationships/notesMaster" Target="/ppt/notesMasters/notesMaster1.xml" Id="R01c844e0c77245aa" /></Relationships>
</file>

<file path=ppt/notesSlides/_rels/notesSlide2.xml.rels>&#65279;<?xml version="1.0" encoding="utf-8"?><Relationships xmlns="http://schemas.openxmlformats.org/package/2006/relationships"><Relationship Type="http://schemas.openxmlformats.org/officeDocument/2006/relationships/slide" Target="/ppt/slides/slide2.xml" Id="R12d67c5972c549ad" /><Relationship Type="http://schemas.openxmlformats.org/officeDocument/2006/relationships/notesMaster" Target="/ppt/notesMasters/notesMaster1.xml" Id="R5d976566f69b4e6b" /></Relationships>
</file>

<file path=ppt/notesSlides/_rels/notesSlide3.xml.rels>&#65279;<?xml version="1.0" encoding="utf-8"?><Relationships xmlns="http://schemas.openxmlformats.org/package/2006/relationships"><Relationship Type="http://schemas.openxmlformats.org/officeDocument/2006/relationships/slide" Target="/ppt/slides/slide3.xml" Id="R2fc8e1c65f074f6d" /><Relationship Type="http://schemas.openxmlformats.org/officeDocument/2006/relationships/notesMaster" Target="/ppt/notesMasters/notesMaster1.xml" Id="Rc79bcd11969045d0" /></Relationships>
</file>

<file path=ppt/notesSlides/_rels/notesSlide4.xml.rels>&#65279;<?xml version="1.0" encoding="utf-8"?><Relationships xmlns="http://schemas.openxmlformats.org/package/2006/relationships"><Relationship Type="http://schemas.openxmlformats.org/officeDocument/2006/relationships/slide" Target="/ppt/slides/slide4.xml" Id="R4b569d887d0841f0" /><Relationship Type="http://schemas.openxmlformats.org/officeDocument/2006/relationships/notesMaster" Target="/ppt/notesMasters/notesMaster1.xml" Id="R3c0e94194ec14348" /></Relationships>
</file>

<file path=ppt/notesSlides/_rels/notesSlide5.xml.rels>&#65279;<?xml version="1.0" encoding="utf-8"?><Relationships xmlns="http://schemas.openxmlformats.org/package/2006/relationships"><Relationship Type="http://schemas.openxmlformats.org/officeDocument/2006/relationships/slide" Target="/ppt/slides/slide5.xml" Id="R524e1a7b6743485f" /><Relationship Type="http://schemas.openxmlformats.org/officeDocument/2006/relationships/notesMaster" Target="/ppt/notesMasters/notesMaster1.xml" Id="Re5173602efed42e0" /></Relationships>
</file>

<file path=ppt/notesSlides/_rels/notesSlide6.xml.rels>&#65279;<?xml version="1.0" encoding="utf-8"?><Relationships xmlns="http://schemas.openxmlformats.org/package/2006/relationships"><Relationship Type="http://schemas.openxmlformats.org/officeDocument/2006/relationships/slide" Target="/ppt/slides/slide6.xml" Id="R065d4c1057d44e56" /><Relationship Type="http://schemas.openxmlformats.org/officeDocument/2006/relationships/notesMaster" Target="/ppt/notesMasters/notesMaster1.xml" Id="Rfae134bd90564d61" /></Relationships>
</file>

<file path=ppt/notesSlides/_rels/notesSlide7.xml.rels>&#65279;<?xml version="1.0" encoding="utf-8"?><Relationships xmlns="http://schemas.openxmlformats.org/package/2006/relationships"><Relationship Type="http://schemas.openxmlformats.org/officeDocument/2006/relationships/slide" Target="/ppt/slides/slide7.xml" Id="R9af46353a24a465d" /><Relationship Type="http://schemas.openxmlformats.org/officeDocument/2006/relationships/notesMaster" Target="/ppt/notesMasters/notesMaster1.xml" Id="R27a06536bcd544bc" /></Relationships>
</file>

<file path=ppt/notesSlides/_rels/notesSlide8.xml.rels>&#65279;<?xml version="1.0" encoding="utf-8"?><Relationships xmlns="http://schemas.openxmlformats.org/package/2006/relationships"><Relationship Type="http://schemas.openxmlformats.org/officeDocument/2006/relationships/slide" Target="/ppt/slides/slide8.xml" Id="R21e910a0fe624bd1" /><Relationship Type="http://schemas.openxmlformats.org/officeDocument/2006/relationships/notesMaster" Target="/ppt/notesMasters/notesMaster1.xml" Id="R60d5111eab654e93" /></Relationships>
</file>

<file path=ppt/notesSlides/_rels/notesSlide9.xml.rels>&#65279;<?xml version="1.0" encoding="utf-8"?><Relationships xmlns="http://schemas.openxmlformats.org/package/2006/relationships"><Relationship Type="http://schemas.openxmlformats.org/officeDocument/2006/relationships/slide" Target="/ppt/slides/slide9.xml" Id="R626aec65d3c84453" /><Relationship Type="http://schemas.openxmlformats.org/officeDocument/2006/relationships/notesMaster" Target="/ppt/notesMasters/notesMaster1.xml" Id="Ra126a57c26b8435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0bf0e7de53e4972" /><Relationship Type="http://schemas.openxmlformats.org/officeDocument/2006/relationships/notesMaster" Target="/ppt/notesMasters/notesMaster1.xml" Id="R87859db9728741b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2eb59ab07a8487a" /><Relationship Type="http://schemas.openxmlformats.org/officeDocument/2006/relationships/notesMaster" Target="/ppt/notesMasters/notesMaster1.xml" Id="R42e1abf72c6144f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9b4b594022a4053" /><Relationship Type="http://schemas.openxmlformats.org/officeDocument/2006/relationships/notesMaster" Target="/ppt/notesMasters/notesMaster1.xml" Id="R380ef3544a7d409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e2a2b5d87554e8f" /><Relationship Type="http://schemas.openxmlformats.org/officeDocument/2006/relationships/notesMaster" Target="/ppt/notesMasters/notesMaster1.xml" Id="R60aad0a94fba426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76fb50cc01d4376" /><Relationship Type="http://schemas.openxmlformats.org/officeDocument/2006/relationships/notesMaster" Target="/ppt/notesMasters/notesMaster1.xml" Id="Rc7c39edae7a7475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8767cf094434cc4" /><Relationship Type="http://schemas.openxmlformats.org/officeDocument/2006/relationships/notesMaster" Target="/ppt/notesMasters/notesMaster1.xml" Id="R60c410fde9e44b6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f17c05552ed456e" /><Relationship Type="http://schemas.openxmlformats.org/officeDocument/2006/relationships/notesMaster" Target="/ppt/notesMasters/notesMaster1.xml" Id="R6e3ecff033a049b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82740dd3bf841e1" /><Relationship Type="http://schemas.openxmlformats.org/officeDocument/2006/relationships/notesMaster" Target="/ppt/notesMasters/notesMaster1.xml" Id="R46ba5faf63674f3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3b5ba57fd3045a4" /><Relationship Type="http://schemas.openxmlformats.org/officeDocument/2006/relationships/notesMaster" Target="/ppt/notesMasters/notesMaster1.xml" Id="Rc1c6c4f516524ec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a481edf757c4686" /><Relationship Type="http://schemas.openxmlformats.org/officeDocument/2006/relationships/notesMaster" Target="/ppt/notesMasters/notesMaster1.xml" Id="R1502b15acf1d49d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3d039892e52492f" /><Relationship Type="http://schemas.openxmlformats.org/officeDocument/2006/relationships/notesMaster" Target="/ppt/notesMasters/notesMaster1.xml" Id="R89111ca320b5490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with the current Word file in the workshop repository. This demonstration uses the version downloaded on 21 October 2026. It researches a private company through publicly accessible information. Unlike Build 2, this folder does not supply a credit policy, application or financial statements. The agent must find and cite public evidence, then distinguish what it can assess from what remains unknown. The chosen example is Cargill, Incorporated in the United States.</a:t>
            </a:r>
          </a:p>
          <a:p xmlns:a="http://schemas.openxmlformats.org/drawingml/2006/main">
            <a:r>
              <a:t/>
            </a:r>
          </a:p>
          <a:p xmlns:a="http://schemas.openxmlformats.org/drawingml/2006/main">
            <a:r>
              <a:t>Workflow source: https://github.com/Credit-Research-AI/workshop/blob/main/AI-Agent-Build3/Build%203%20-%20Prompts%20(paste-ready).docx</a:t>
            </a:r>
          </a:p>
          <a:p xmlns:a="http://schemas.openxmlformats.org/drawingml/2006/main">
            <a:r>
              <a:t>Actual ChatGPT run: https://chatgpt.com/g/g-p-6ad8c28a17b481918542b434d764e406-build-3-public-signals-research-walkthrough/c/6ad8c383-4864-83eb-b061-e9a69b269381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same file-by-file download approach used in the earlier walkthroughs. No ZIP is needed for Build 3 because the folder contains a single prompt document. The screenshot shows the original filename and the raw-file download control. For upload, the local copy was renamed Build3_Prompts.docx without changing its contents. The rest of this deck uses that filename so participants can follow the source reference in the project instructions.</a:t>
            </a:r>
          </a:p>
          <a:p xmlns:a="http://schemas.openxmlformats.org/drawingml/2006/main">
            <a:r>
              <a:t/>
            </a:r>
          </a:p>
          <a:p xmlns:a="http://schemas.openxmlformats.org/drawingml/2006/main">
            <a:r>
              <a:t>Workflow source: https://github.com/Credit-Research-AI/workshop/blob/main/AI-Agent-Build3/Build%203%20-%20Prompts%20(paste-ready).docx</a:t>
            </a:r>
          </a:p>
          <a:p xmlns:a="http://schemas.openxmlformats.org/drawingml/2006/main">
            <a:r>
              <a:t>Actual ChatGPT run: https://chatgpt.com/g/g-p-6ad8c28a17b481918542b434d764e406-build-3-public-signals-research-walkthrough/c/6ad8c383-4864-83eb-b061-e9a69b269381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dedicated project makes the demonstration easy to revisit. Its sources contain the reusable workflow, while each research request creates a conversation. The project name refers to public signals: the company itself is privately held. Creating a project does not start continuous monitoring. The workflow says to research only when asked. For this walkthrough, a single request starts the Cargill research and produces an internal brief.</a:t>
            </a:r>
          </a:p>
          <a:p xmlns:a="http://schemas.openxmlformats.org/drawingml/2006/main">
            <a:r>
              <a:t/>
            </a:r>
          </a:p>
          <a:p xmlns:a="http://schemas.openxmlformats.org/drawingml/2006/main">
            <a:r>
              <a:t>Workflow source: https://github.com/Credit-Research-AI/workshop/blob/main/AI-Agent-Build3/Build%203%20-%20Prompts%20(paste-ready).docx</a:t>
            </a:r>
          </a:p>
          <a:p xmlns:a="http://schemas.openxmlformats.org/drawingml/2006/main">
            <a:r>
              <a:t>Actual ChatGPT run: https://chatgpt.com/g/g-p-6ad8c28a17b481918542b434d764e406-build-3-public-signals-research-walkthrough/c/6ad8c383-4864-83eb-b061-e9a69b269381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Upload the original Word document rather than a shortened description of its purpose. It contains the detailed Financial Strength and Viability scoring rules, including category weights, coverage calculations and handling of missing evidence. It also specifies the PDF content and the outreach limits. The screenshot shows the upload dialog before selecting the file. No customer application or private financial information is needed for this public-research demonstration.</a:t>
            </a:r>
          </a:p>
          <a:p xmlns:a="http://schemas.openxmlformats.org/drawingml/2006/main">
            <a:r>
              <a:t/>
            </a:r>
          </a:p>
          <a:p xmlns:a="http://schemas.openxmlformats.org/drawingml/2006/main">
            <a:r>
              <a:t>Workflow source: https://github.com/Credit-Research-AI/workshop/blob/main/AI-Agent-Build3/Build%203%20-%20Prompts%20(paste-ready).docx</a:t>
            </a:r>
          </a:p>
          <a:p xmlns:a="http://schemas.openxmlformats.org/drawingml/2006/main">
            <a:r>
              <a:t>Actual ChatGPT run: https://chatgpt.com/g/g-p-6ad8c28a17b481918542b434d764e406-build-3-public-signals-research-walkthrough/c/6ad8c383-4864-83eb-b061-e9a69b269381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completed source row confirms that the workflow is attached to this project. Previewing the file gives the presenter a chance to explain the scope before running the agent. It also helps catch an incorrect file or an old version. The setup uses the current GitHub workflow. Later slides show the exact company request and the actual output from this run, so participants can trace instructions through to results.</a:t>
            </a:r>
          </a:p>
          <a:p xmlns:a="http://schemas.openxmlformats.org/drawingml/2006/main">
            <a:r>
              <a:t/>
            </a:r>
          </a:p>
          <a:p xmlns:a="http://schemas.openxmlformats.org/drawingml/2006/main">
            <a:r>
              <a:t>Workflow source: https://github.com/Credit-Research-AI/workshop/blob/main/AI-Agent-Build3/Build%203%20-%20Prompts%20(paste-ready).docx</a:t>
            </a:r>
          </a:p>
          <a:p xmlns:a="http://schemas.openxmlformats.org/drawingml/2006/main">
            <a:r>
              <a:t>Actual ChatGPT run: https://chatgpt.com/g/g-p-6ad8c28a17b481918542b434d764e406-build-3-public-signals-research-walkthrough/c/6ad8c383-4864-83eb-b061-e9a69b269381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instructions point to the full source document and reinforce its central rules. Research must resolve the correct legal entity, prioritize recent information, cite sources and keep the two scores separate. Missing categories remain Unknown. The instructions also specify that this is a workshop demonstration and that outreach is draft only. The full workflow remains in the uploaded document, so the small instructions box does not replace the scoring rubric.</a:t>
            </a:r>
          </a:p>
          <a:p xmlns:a="http://schemas.openxmlformats.org/drawingml/2006/main">
            <a:r>
              <a:t/>
            </a:r>
          </a:p>
          <a:p xmlns:a="http://schemas.openxmlformats.org/drawingml/2006/main">
            <a:r>
              <a:t>Workflow source: https://github.com/Credit-Research-AI/workshop/blob/main/AI-Agent-Build3/Build%203%20-%20Prompts%20(paste-ready).docx</a:t>
            </a:r>
          </a:p>
          <a:p xmlns:a="http://schemas.openxmlformats.org/drawingml/2006/main">
            <a:r>
              <a:t>Actual ChatGPT run: https://chatgpt.com/g/g-p-6ad8c28a17b481918542b434d764e406-build-3-public-signals-research-walkthrough/c/6ad8c383-4864-83eb-b061-e9a69b269381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real preview of the uploaded Word prompt. It directs the agent to use recent public information and to respect access restrictions. The broader workflow prioritizes the last 90 days and calls for independent corroboration of material findings. Social posts and reviews may suggest a question to investigate, but they are not proof of distress. Hiring information also needs context: a vacancy alone does not demonstrate a staffing problem.</a:t>
            </a:r>
          </a:p>
          <a:p xmlns:a="http://schemas.openxmlformats.org/drawingml/2006/main">
            <a:r>
              <a:t/>
            </a:r>
          </a:p>
          <a:p xmlns:a="http://schemas.openxmlformats.org/drawingml/2006/main">
            <a:r>
              <a:t>Workflow source: https://github.com/Credit-Research-AI/workshop/blob/main/AI-Agent-Build3/Build%203%20-%20Prompts%20(paste-ready).docx</a:t>
            </a:r>
          </a:p>
          <a:p xmlns:a="http://schemas.openxmlformats.org/drawingml/2006/main">
            <a:r>
              <a:t>Actual ChatGPT run: https://chatgpt.com/g/g-p-6ad8c28a17b481918542b434d764e406-build-3-public-signals-research-walkthrough/c/6ad8c383-4864-83eb-b061-e9a69b269381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actual request submitted in Work mode. The reusable workshop prompt does not name a company, so this demonstration adds Cargill, Incorporated and its official website as the target. The request emphasizes separate Financial Strength and Viability outputs, ranges when evidence is missing, and the single-company PDF. It explicitly limits outreach to a draft and does not authorize a credit approval. The request starts one research run, not scheduled monitoring.</a:t>
            </a:r>
          </a:p>
          <a:p xmlns:a="http://schemas.openxmlformats.org/drawingml/2006/main">
            <a:r>
              <a:t/>
            </a:r>
          </a:p>
          <a:p xmlns:a="http://schemas.openxmlformats.org/drawingml/2006/main">
            <a:r>
              <a:t>Workflow source: https://github.com/Credit-Research-AI/workshop/blob/main/AI-Agent-Build3/Build%203%20-%20Prompts%20(paste-ready).docx</a:t>
            </a:r>
          </a:p>
          <a:p xmlns:a="http://schemas.openxmlformats.org/drawingml/2006/main">
            <a:r>
              <a:t>Actual ChatGPT run: https://chatgpt.com/g/g-p-6ad8c28a17b481918542b434d764e406-build-3-public-signals-research-walkthrough/c/6ad8c383-4864-83eb-b061-e9a69b269381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screenshot captures the live run at 1 minute 37 seconds. The full run completed in 5 minutes 18 seconds. It read the project prompt and searched the public web. Its progress message identifies a central limitation: detailed financial information requires authorized access. Revenue, investment announcements and published ratings do not by themselves prove payment capacity. The workflow does not create a reason to bypass access restrictions. The timing is an observed example and will vary by company and available sources.</a:t>
            </a:r>
          </a:p>
          <a:p xmlns:a="http://schemas.openxmlformats.org/drawingml/2006/main">
            <a:r>
              <a:t/>
            </a:r>
          </a:p>
          <a:p xmlns:a="http://schemas.openxmlformats.org/drawingml/2006/main">
            <a:r>
              <a:t>Report: Cargill_Build3_Confidential_Brief_2026-10-21.pdf, actual ChatGPT output dated 21 October 2026. This deck documents the demonstration and does not independently award a credit score.</a:t>
            </a:r>
          </a:p>
          <a:p xmlns:a="http://schemas.openxmlformats.org/drawingml/2006/main">
            <a:r>
              <a:t/>
            </a:r>
          </a:p>
          <a:p xmlns:a="http://schemas.openxmlformats.org/drawingml/2006/main">
            <a:r>
              <a:t>Workflow source: https://github.com/Credit-Research-AI/workshop/blob/main/AI-Agent-Build3/Build%203%20-%20Prompts%20(paste-ready).docx</a:t>
            </a:r>
          </a:p>
          <a:p xmlns:a="http://schemas.openxmlformats.org/drawingml/2006/main">
            <a:r>
              <a:t>Actual ChatGPT run: https://chatgpt.com/g/g-p-6ad8c28a17b481918542b434d764e406-build-3-public-signals-research-walkthrough/c/6ad8c383-4864-83eb-b061-e9a69b269381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cover summarises the actual run’s results. Financial Strength concerns financial condition and ability to pay. Viability concerns legal existence and continued operations. They answer different questions and must never be averaged. Both ranges cross multiple rubric bands, so the report states insufficient evidence for a single band. The recommendation is to hold a business discussion and complete due diligence; it does not assign a credit limit, payment terms or approval. Confidence describes evidence reliability, while coverage reflects the weights of assessed categories.</a:t>
            </a:r>
          </a:p>
          <a:p xmlns:a="http://schemas.openxmlformats.org/drawingml/2006/main">
            <a:r>
              <a:t/>
            </a:r>
          </a:p>
          <a:p xmlns:a="http://schemas.openxmlformats.org/drawingml/2006/main">
            <a:r>
              <a:t>Report: Cargill_Build3_Confidential_Brief_2026-10-21.pdf, actual ChatGPT output dated 21 October 2026. This deck documents the demonstration and does not independently award a credit score.</a:t>
            </a:r>
          </a:p>
          <a:p xmlns:a="http://schemas.openxmlformats.org/drawingml/2006/main">
            <a:r>
              <a:t/>
            </a:r>
          </a:p>
          <a:p xmlns:a="http://schemas.openxmlformats.org/drawingml/2006/main">
            <a:r>
              <a:t>Workflow source: https://github.com/Credit-Research-AI/workshop/blob/main/AI-Agent-Build3/Build%203%20-%20Prompts%20(paste-ready).docx</a:t>
            </a:r>
          </a:p>
          <a:p xmlns:a="http://schemas.openxmlformats.org/drawingml/2006/main">
            <a:r>
              <a:t>Actual ChatGPT run: https://chatgpt.com/g/g-p-6ad8c28a17b481918542b434d764e406-build-3-public-signals-research-walkthrough/c/6ad8c383-4864-83eb-b061-e9a69b269381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rubric assigns maximum distress weights of 30 to receivables, 25 to overdue supplier payments, 30 to liquidity/cash/debt service, and 5 each to CFO disruption, material billing/service problems and critical finance staffing disruption. This run assessed only CFO continuity, using the official biography and current roster. Both are company sources, not independent corroboration. The remaining categories were Unknown because evidence was absent, restricted or insufficient to establish current conditions. The overall Financial Strength confidence remains Low.</a:t>
            </a:r>
          </a:p>
          <a:p xmlns:a="http://schemas.openxmlformats.org/drawingml/2006/main">
            <a:r>
              <a:t>Sources: https://www.cargill.com/about/joanne-knight ; https://www.cargill.com/about/executive-team ; https://www.cargill.com/about/financial/credit-financial-information</a:t>
            </a:r>
          </a:p>
          <a:p xmlns:a="http://schemas.openxmlformats.org/drawingml/2006/main">
            <a:r>
              <a:t/>
            </a:r>
          </a:p>
          <a:p xmlns:a="http://schemas.openxmlformats.org/drawingml/2006/main">
            <a:r>
              <a:t>Report: Cargill_Build3_Confidential_Brief_2026-10-21.pdf, actual ChatGPT output dated 21 October 2026. This deck documents the demonstration and does not independently award a credit score.</a:t>
            </a:r>
          </a:p>
          <a:p xmlns:a="http://schemas.openxmlformats.org/drawingml/2006/main">
            <a:r>
              <a:t/>
            </a:r>
          </a:p>
          <a:p xmlns:a="http://schemas.openxmlformats.org/drawingml/2006/main">
            <a:r>
              <a:t>Workflow source: https://github.com/Credit-Research-AI/workshop/blob/main/AI-Agent-Build3/Build%203%20-%20Prompts%20(paste-ready).docx</a:t>
            </a:r>
          </a:p>
          <a:p xmlns:a="http://schemas.openxmlformats.org/drawingml/2006/main">
            <a:r>
              <a:t>Actual ChatGPT run: https://chatgpt.com/g/g-p-6ad8c28a17b481918542b434d764e406-build-3-public-signals-research-walkthrough/c/6ad8c383-4864-83eb-b061-e9a69b269381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formula explicitly. Supported distress points D are zero. Unknown maximum weights add to 95: 30 + 25 + 30 + 5 + 5. The worst mathematical bound is 100 − 0 − 95 = 5; the best bound is 100 − 0 = 100. Only the five-point CFO category is assessed, so weighted coverage is 5%. Do not interpret 100 as an earned score or 5 as an allegation of distress. The range crosses all four bands. The report’s Low confidence is reported separately and does not multiply the score.</a:t>
            </a:r>
          </a:p>
          <a:p xmlns:a="http://schemas.openxmlformats.org/drawingml/2006/main">
            <a:r>
              <a:t/>
            </a:r>
          </a:p>
          <a:p xmlns:a="http://schemas.openxmlformats.org/drawingml/2006/main">
            <a:r>
              <a:t>Report: Cargill_Build3_Confidential_Brief_2026-10-21.pdf, actual ChatGPT output dated 21 October 2026. This deck documents the demonstration and does not independently award a credit score.</a:t>
            </a:r>
          </a:p>
          <a:p xmlns:a="http://schemas.openxmlformats.org/drawingml/2006/main">
            <a:r>
              <a:t/>
            </a:r>
          </a:p>
          <a:p xmlns:a="http://schemas.openxmlformats.org/drawingml/2006/main">
            <a:r>
              <a:t>Workflow source: https://github.com/Credit-Research-AI/workshop/blob/main/AI-Agent-Build3/Build%203%20-%20Prompts%20(paste-ready).docx</a:t>
            </a:r>
          </a:p>
          <a:p xmlns:a="http://schemas.openxmlformats.org/drawingml/2006/main">
            <a:r>
              <a:t>Actual ChatGPT run: https://chatgpt.com/g/g-p-6ad8c28a17b481918542b434d764e406-build-3-public-signals-research-walkthrough/c/6ad8c383-4864-83eb-b061-e9a69b269381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run awards 30 points for current group operating evidence and 10 for a verified active company social page. The current legal-status category, worth 60, remains Unknown. Therefore supported V = 40 and unknown U = 60, producing 40–100 with 40% coverage. The report describes Moderate confidence in this operations/identity screen. Its Bloomberg LEI evidence was registry-derived and last updated in December 2025; it was not a fresh Delaware entity-status result. The workflow’s legal verification condition for Low Risk remains unmet. The precise contracting company still needs confirmation.</a:t>
            </a:r>
          </a:p>
          <a:p xmlns:a="http://schemas.openxmlformats.org/drawingml/2006/main">
            <a:r>
              <a:t>Sources: https://lei.bloomberg.com/leis/view/QXZYQNMR4JZ5RIRN4T31 ; https://icis.corp.delaware.gov/ecorp/entitysearch/namesearch.aspx ; https://www.linkedin.com/company/cargill/</a:t>
            </a:r>
          </a:p>
          <a:p xmlns:a="http://schemas.openxmlformats.org/drawingml/2006/main">
            <a:r>
              <a:t/>
            </a:r>
          </a:p>
          <a:p xmlns:a="http://schemas.openxmlformats.org/drawingml/2006/main">
            <a:r>
              <a:t>Report: Cargill_Build3_Confidential_Brief_2026-10-21.pdf, actual ChatGPT output dated 21 October 2026. This deck documents the demonstration and does not independently award a credit score.</a:t>
            </a:r>
          </a:p>
          <a:p xmlns:a="http://schemas.openxmlformats.org/drawingml/2006/main">
            <a:r>
              <a:t/>
            </a:r>
          </a:p>
          <a:p xmlns:a="http://schemas.openxmlformats.org/drawingml/2006/main">
            <a:r>
              <a:t>Workflow source: https://github.com/Credit-Research-AI/workshop/blob/main/AI-Agent-Build3/Build%203%20-%20Prompts%20(paste-ready).docx</a:t>
            </a:r>
          </a:p>
          <a:p xmlns:a="http://schemas.openxmlformats.org/drawingml/2006/main">
            <a:r>
              <a:t>Actual ChatGPT run: https://chatgpt.com/g/g-p-6ad8c28a17b481918542b434d764e406-build-3-public-signals-research-walkthrough/c/6ad8c383-4864-83eb-b061-e9a69b269381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report page provides an audit trail. An official investment announcement establishes that a plan was announced; it does not establish that the money has been spent or that the US obligor is liquid. Employer job pages establish recruitment, not a hiring freeze or persistent vacancies. Reuters reporting is distinguished from company statements, and syndicated copies count as the same source. The run records a date discrepancy between an indexed job result and the opened employer page. It uses the opened page’s date and avoids inferring vacancy duration. Read the linked evidence before relying on a conclusion.</a:t>
            </a:r>
          </a:p>
          <a:p xmlns:a="http://schemas.openxmlformats.org/drawingml/2006/main">
            <a:r>
              <a:t>Sources: https://www.cargill.com/2026/cargill-invests-usd-130-million-to-expand-poultry-operations ; https://www.cargill.com/about/doc/1451394341550/2026-cargill-annual-report.pdf</a:t>
            </a:r>
          </a:p>
          <a:p xmlns:a="http://schemas.openxmlformats.org/drawingml/2006/main">
            <a:r>
              <a:t/>
            </a:r>
          </a:p>
          <a:p xmlns:a="http://schemas.openxmlformats.org/drawingml/2006/main">
            <a:r>
              <a:t>Report: Cargill_Build3_Confidential_Brief_2026-10-21.pdf, actual ChatGPT output dated 21 October 2026. This deck documents the demonstration and does not independently award a credit score.</a:t>
            </a:r>
          </a:p>
          <a:p xmlns:a="http://schemas.openxmlformats.org/drawingml/2006/main">
            <a:r>
              <a:t/>
            </a:r>
          </a:p>
          <a:p xmlns:a="http://schemas.openxmlformats.org/drawingml/2006/main">
            <a:r>
              <a:t>Workflow source: https://github.com/Credit-Research-AI/workshop/blob/main/AI-Agent-Build3/Build%203%20-%20Prompts%20(paste-ready).docx</a:t>
            </a:r>
          </a:p>
          <a:p xmlns:a="http://schemas.openxmlformats.org/drawingml/2006/main">
            <a:r>
              <a:t>Actual ChatGPT run: https://chatgpt.com/g/g-p-6ad8c28a17b481918542b434d764e406-build-3-public-signals-research-walkthrough/c/6ad8c383-4864-83eb-b061-e9a69b269381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limitations page explains how source access affects the analysis. Cargill’s public financial information page lists ratings but does not provide all the dated financial evidence needed by this rubric. The report treats historical Fitch material as context rather than claiming a current rating. Supplier guidance describes invoice receipt and payment queries; a late-payment enquiry procedure is not proof that the company routinely pays late. Similarly, registry-derived identity evidence cannot replace a current legal-status verification. These distinctions prevent an accessible webpage from being overinterpreted.</a:t>
            </a:r>
          </a:p>
          <a:p xmlns:a="http://schemas.openxmlformats.org/drawingml/2006/main">
            <a:r>
              <a:t>Sources: https://www.cargill.com/about/financial/credit-financial-information ; https://www.cargill.com/supplier-central/en/payment-north-america</a:t>
            </a:r>
          </a:p>
          <a:p xmlns:a="http://schemas.openxmlformats.org/drawingml/2006/main">
            <a:r>
              <a:t/>
            </a:r>
          </a:p>
          <a:p xmlns:a="http://schemas.openxmlformats.org/drawingml/2006/main">
            <a:r>
              <a:t>Report: Cargill_Build3_Confidential_Brief_2026-10-21.pdf, actual ChatGPT output dated 21 October 2026. This deck documents the demonstration and does not independently award a credit score.</a:t>
            </a:r>
          </a:p>
          <a:p xmlns:a="http://schemas.openxmlformats.org/drawingml/2006/main">
            <a:r>
              <a:t/>
            </a:r>
          </a:p>
          <a:p xmlns:a="http://schemas.openxmlformats.org/drawingml/2006/main">
            <a:r>
              <a:t>Workflow source: https://github.com/Credit-Research-AI/workshop/blob/main/AI-Agent-Build3/Build%203%20-%20Prompts%20(paste-ready).docx</a:t>
            </a:r>
          </a:p>
          <a:p xmlns:a="http://schemas.openxmlformats.org/drawingml/2006/main">
            <a:r>
              <a:t>Actual ChatGPT run: https://chatgpt.com/g/g-p-6ad8c28a17b481918542b434d764e406-build-3-public-signals-research-walkthrough/c/6ad8c383-4864-83eb-b061-e9a69b269381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report documents what its search did and did not cover. It used an accessible EBSCO Research Starter for background and did not claim subscription database access. It records limited review-site coverage and an access restriction rather than pretending to have read unavailable material. Relative social timestamps are not exact publication dates. Anonymous discussions and weakly matched review evidence were not scored. This is a snapshot of public research, not exhaustive verification or continuous monitoring. Its refresh recommendation is 20 November 2026, sooner if material facts change. Refreshing requires a new requested run.</a:t>
            </a:r>
          </a:p>
          <a:p xmlns:a="http://schemas.openxmlformats.org/drawingml/2006/main">
            <a:r>
              <a:t/>
            </a:r>
          </a:p>
          <a:p xmlns:a="http://schemas.openxmlformats.org/drawingml/2006/main">
            <a:r>
              <a:t>Report: Cargill_Build3_Confidential_Brief_2026-10-21.pdf, actual ChatGPT output dated 21 October 2026. This deck documents the demonstration and does not independently award a credit score.</a:t>
            </a:r>
          </a:p>
          <a:p xmlns:a="http://schemas.openxmlformats.org/drawingml/2006/main">
            <a:r>
              <a:t/>
            </a:r>
          </a:p>
          <a:p xmlns:a="http://schemas.openxmlformats.org/drawingml/2006/main">
            <a:r>
              <a:t>Workflow source: https://github.com/Credit-Research-AI/workshop/blob/main/AI-Agent-Build3/Build%203%20-%20Prompts%20(paste-ready).docx</a:t>
            </a:r>
          </a:p>
          <a:p xmlns:a="http://schemas.openxmlformats.org/drawingml/2006/main">
            <a:r>
              <a:t>Actual ChatGPT run: https://chatgpt.com/g/g-p-6ad8c28a17b481918542b434d764e406-build-3-public-signals-research-walkthrough/c/6ad8c383-4864-83eb-b061-e9a69b269381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report turns evidence gaps into a practical request list: current financial statements and management accounts, liquidity, debt maturities, covenant headroom, receivables aging and allowance trends. Obtain permitted trade references and actual payment evidence. Match the purchase order, contract and invoice to the correct obligor, and verify any guarantee rather than assuming parent support. Agree the payment trigger and invoice acceptance process. The completed file then goes to the credit manager under the applicable policy. The research demonstration makes no credit decision and does not update business systems.</a:t>
            </a:r>
          </a:p>
          <a:p xmlns:a="http://schemas.openxmlformats.org/drawingml/2006/main">
            <a:r>
              <a:t/>
            </a:r>
          </a:p>
          <a:p xmlns:a="http://schemas.openxmlformats.org/drawingml/2006/main">
            <a:r>
              <a:t>Report: Cargill_Build3_Confidential_Brief_2026-10-21.pdf, actual ChatGPT output dated 21 October 2026. This deck documents the demonstration and does not independently award a credit score.</a:t>
            </a:r>
          </a:p>
          <a:p xmlns:a="http://schemas.openxmlformats.org/drawingml/2006/main">
            <a:r>
              <a:t/>
            </a:r>
          </a:p>
          <a:p xmlns:a="http://schemas.openxmlformats.org/drawingml/2006/main">
            <a:r>
              <a:t>Workflow source: https://github.com/Credit-Research-AI/workshop/blob/main/AI-Agent-Build3/Build%203%20-%20Prompts%20(paste-ready).docx</a:t>
            </a:r>
          </a:p>
          <a:p xmlns:a="http://schemas.openxmlformats.org/drawingml/2006/main">
            <a:r>
              <a:t>Actual ChatGPT run: https://chatgpt.com/g/g-p-6ad8c28a17b481918542b434d764e406-build-3-public-signals-research-walkthrough/c/6ad8c383-4864-83eb-b061-e9a69b269381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run verifies Joanne Knight’s CFO role against the official roster and biography. It does not verify individual holders of the relevant North America Credit-to-Cash/AR and procurement roles, so it names those functions rather than inventing people. The public corporate route is distinct from a specialized mailbox for authorized financial-information access. That mailbox is not a personal CFO address or a sales channel. Verify the intended recipient and business purpose before using any route. This walkthrough does not contact anyone.</a:t>
            </a:r>
          </a:p>
          <a:p xmlns:a="http://schemas.openxmlformats.org/drawingml/2006/main">
            <a:r>
              <a:t>Sources: https://www.cargill.com/about/executive-team ; https://www.cargill.com/about/joanne-knight ; https://www.cargill.com/page/cargill-contact-us</a:t>
            </a:r>
          </a:p>
          <a:p xmlns:a="http://schemas.openxmlformats.org/drawingml/2006/main">
            <a:r>
              <a:t/>
            </a:r>
          </a:p>
          <a:p xmlns:a="http://schemas.openxmlformats.org/drawingml/2006/main">
            <a:r>
              <a:t>Report: Cargill_Build3_Confidential_Brief_2026-10-21.pdf, actual ChatGPT output dated 21 October 2026. This deck documents the demonstration and does not independently award a credit score.</a:t>
            </a:r>
          </a:p>
          <a:p xmlns:a="http://schemas.openxmlformats.org/drawingml/2006/main">
            <a:r>
              <a:t/>
            </a:r>
          </a:p>
          <a:p xmlns:a="http://schemas.openxmlformats.org/drawingml/2006/main">
            <a:r>
              <a:t>Workflow source: https://github.com/Credit-Research-AI/workshop/blob/main/AI-Agent-Build3/Build%203%20-%20Prompts%20(paste-ready).docx</a:t>
            </a:r>
          </a:p>
          <a:p xmlns:a="http://schemas.openxmlformats.org/drawingml/2006/main">
            <a:r>
              <a:t>Actual ChatGPT run: https://chatgpt.com/g/g-p-6ad8c28a17b481918542b434d764e406-build-3-public-signals-research-walkthrough/c/6ad8c383-4864-83eb-b061-e9a69b269381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outreach draft uses the company’s annual report and North America supplier guidance to propose a grounded discussion. It asks for the contracting entity, invoice acceptance requirements and appropriate procurement and finance contacts. It does not allege write-offs, supplier defaults, hiring freezes or distress that the research did not establish. A working-capital opportunity remains a discussion hypothesis. The screenshot is cropped before the personal signature so the slide focuses on the message content. The actual run produced a draft only, and no email or other communication was sent.</a:t>
            </a:r>
          </a:p>
          <a:p xmlns:a="http://schemas.openxmlformats.org/drawingml/2006/main">
            <a:r>
              <a:t>Sources: https://www.cargill.com/about/doc/1451394341550/2026-cargill-annual-report.pdf ; https://www.cargill.com/supplier-central/en/payment-north-america</a:t>
            </a:r>
          </a:p>
          <a:p xmlns:a="http://schemas.openxmlformats.org/drawingml/2006/main">
            <a:r>
              <a:t/>
            </a:r>
          </a:p>
          <a:p xmlns:a="http://schemas.openxmlformats.org/drawingml/2006/main">
            <a:r>
              <a:t>Report: Cargill_Build3_Confidential_Brief_2026-10-21.pdf, actual ChatGPT output dated 21 October 2026. This deck documents the demonstration and does not independently award a credit score.</a:t>
            </a:r>
          </a:p>
          <a:p xmlns:a="http://schemas.openxmlformats.org/drawingml/2006/main">
            <a:r>
              <a:t/>
            </a:r>
          </a:p>
          <a:p xmlns:a="http://schemas.openxmlformats.org/drawingml/2006/main">
            <a:r>
              <a:t>Workflow source: https://github.com/Credit-Research-AI/workshop/blob/main/AI-Agent-Build3/Build%203%20-%20Prompts%20(paste-ready).docx</a:t>
            </a:r>
          </a:p>
          <a:p xmlns:a="http://schemas.openxmlformats.org/drawingml/2006/main">
            <a:r>
              <a:t>Actual ChatGPT run: https://chatgpt.com/g/g-p-6ad8c28a17b481918542b434d764e406-build-3-public-signals-research-walkthrough/c/6ad8c383-4864-83eb-b061-e9a69b269381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finished ChatGPT response links Cargill_Build3_Confidential_Brief_2026-10-21.pdf. Open the card to preview it, then choose Download and PDF. The six pages cover the profile, Financial Strength, Viability, dated evidence, limitations and handoff/outreach. The actual run verified the confidentiality marking and clickable citations, and the report was opened in the walkthrough. Review every source and the exact obligor before using the analysis. The suggested refresh date is 20 November 2026, sooner if material facts change; this does not schedule monitoring. Nothing was sent and no credit approval was made.</a:t>
            </a:r>
          </a:p>
          <a:p xmlns:a="http://schemas.openxmlformats.org/drawingml/2006/main">
            <a:r>
              <a:t/>
            </a:r>
          </a:p>
          <a:p xmlns:a="http://schemas.openxmlformats.org/drawingml/2006/main">
            <a:r>
              <a:t>Workflow source: https://github.com/Credit-Research-AI/workshop/blob/main/AI-Agent-Build3/Build%203%20-%20Prompts%20(paste-ready).docx</a:t>
            </a:r>
          </a:p>
          <a:p xmlns:a="http://schemas.openxmlformats.org/drawingml/2006/main">
            <a:r>
              <a:t>Actual ChatGPT run: https://chatgpt.com/g/g-p-6ad8c28a17b481918542b434d764e406-build-3-public-signals-research-walkthrough/c/6ad8c383-4864-83eb-b061-e9a69b269381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95a4fefb83c49f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a05706b04ac431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89597e4af00459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0359d3717d0485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9204a6da5e5401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463d0817cc448c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AD4D126-6273-4426-8FBC-E51430D1A37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CF4C2EC-92FA-4466-86F3-962AC5F1277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C51B3F8-8C5B-4A7E-9125-E054754416A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E593654-1201-43BE-956F-CA0A3C6CA34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25B83E1-5EB3-4E94-B85B-F843D713BFA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943BAD6-EB06-49A8-9194-FF6D66EC186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B0DD63B-D29A-4926-88CA-573C5307001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E3D6F58-34B5-4D4C-9589-55676BEF4EC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17344A4-C4C6-4E0B-B4D7-1FFC1BBD4A9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C5C170E-5B50-429F-962B-C8DA0C0BDC4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38735459a5546f5" /><Relationship Type="http://schemas.openxmlformats.org/officeDocument/2006/relationships/slideLayout" Target="/ppt/slideLayouts/slideLayout1.xml" Id="R70568c98ecf14a8f" /><Relationship Type="http://schemas.openxmlformats.org/officeDocument/2006/relationships/slideLayout" Target="/ppt/slideLayouts/slideLayout2.xml" Id="Rfdf390f11bab4b7a" /><Relationship Type="http://schemas.openxmlformats.org/officeDocument/2006/relationships/slideLayout" Target="/ppt/slideLayouts/slideLayout3.xml" Id="R62909f0e6a4448bd" /><Relationship Type="http://schemas.openxmlformats.org/officeDocument/2006/relationships/slideLayout" Target="/ppt/slideLayouts/slideLayout4.xml" Id="R9e7f32df450e40eb" /><Relationship Type="http://schemas.openxmlformats.org/officeDocument/2006/relationships/slideLayout" Target="/ppt/slideLayouts/slideLayout5.xml" Id="R54067920b85e49c0" /><Relationship Type="http://schemas.openxmlformats.org/officeDocument/2006/relationships/slideLayout" Target="/ppt/slideLayouts/slideLayout6.xml" Id="R6d950a0eda874a6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0568c98ecf14a8f"/>
    <p:sldLayoutId xmlns:r="http://schemas.openxmlformats.org/officeDocument/2006/relationships" id="2147483650" r:id="Rfdf390f11bab4b7a"/>
    <p:sldLayoutId xmlns:r="http://schemas.openxmlformats.org/officeDocument/2006/relationships" id="2147483651" r:id="R62909f0e6a4448bd"/>
    <p:sldLayoutId xmlns:r="http://schemas.openxmlformats.org/officeDocument/2006/relationships" id="2147483652" r:id="R9e7f32df450e40eb"/>
    <p:sldLayoutId xmlns:r="http://schemas.openxmlformats.org/officeDocument/2006/relationships" id="2147483653" r:id="R54067920b85e49c0"/>
    <p:sldLayoutId xmlns:r="http://schemas.openxmlformats.org/officeDocument/2006/relationships" id="2147483654" r:id="R6d950a0eda874a6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3a5c298540d4988" /><Relationship Type="http://schemas.openxmlformats.org/officeDocument/2006/relationships/image" Target="/ppt/media/image.png" Id="Re08606a6278a47e8" /><Relationship Type="http://schemas.openxmlformats.org/officeDocument/2006/relationships/notesSlide" Target="/ppt/notesSlides/notesSlide1.xml" Id="R96e1b90e6c9940f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b3fb491886a4070" /><Relationship Type="http://schemas.openxmlformats.org/officeDocument/2006/relationships/image" Target="/ppt/media/image2.png" Id="R032602ce15884c9b" /><Relationship Type="http://schemas.openxmlformats.org/officeDocument/2006/relationships/notesSlide" Target="/ppt/notesSlides/notesSlide2.xml" Id="R536ddcbf7841437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c89a9bc17e24429" /><Relationship Type="http://schemas.openxmlformats.org/officeDocument/2006/relationships/image" Target="/ppt/media/image3.png" Id="Rac0eb32b8d1b4955" /><Relationship Type="http://schemas.openxmlformats.org/officeDocument/2006/relationships/notesSlide" Target="/ppt/notesSlides/notesSlide3.xml" Id="Rea22d720e7334cc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6437b4cf4644d5c" /><Relationship Type="http://schemas.openxmlformats.org/officeDocument/2006/relationships/image" Target="/ppt/media/image4.png" Id="R11dd239c7d8a40cb" /><Relationship Type="http://schemas.openxmlformats.org/officeDocument/2006/relationships/notesSlide" Target="/ppt/notesSlides/notesSlide4.xml" Id="R20d5f01c9a7a42d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ad70be6593d4e06" /><Relationship Type="http://schemas.openxmlformats.org/officeDocument/2006/relationships/image" Target="/ppt/media/image5.png" Id="Rc244fae5c21c4f9e" /><Relationship Type="http://schemas.openxmlformats.org/officeDocument/2006/relationships/notesSlide" Target="/ppt/notesSlides/notesSlide5.xml" Id="R1e58386968f44df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1f1f838cba243af" /><Relationship Type="http://schemas.openxmlformats.org/officeDocument/2006/relationships/image" Target="/ppt/media/image6.png" Id="Rab4378c889284bcd" /><Relationship Type="http://schemas.openxmlformats.org/officeDocument/2006/relationships/notesSlide" Target="/ppt/notesSlides/notesSlide6.xml" Id="Rdcc7cbbb2cab449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5a80cf55e814b99" /><Relationship Type="http://schemas.openxmlformats.org/officeDocument/2006/relationships/image" Target="/ppt/media/image7.png" Id="Rcc352ecf0b75426b" /><Relationship Type="http://schemas.openxmlformats.org/officeDocument/2006/relationships/notesSlide" Target="/ppt/notesSlides/notesSlide7.xml" Id="R67876a6520a6481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1b459e0b5614dba" /><Relationship Type="http://schemas.openxmlformats.org/officeDocument/2006/relationships/image" Target="/ppt/media/image8.png" Id="Rdea80f1e2846470a" /><Relationship Type="http://schemas.openxmlformats.org/officeDocument/2006/relationships/notesSlide" Target="/ppt/notesSlides/notesSlide8.xml" Id="Rd3ddd0864a8a431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a9f983765f5427a" /><Relationship Type="http://schemas.openxmlformats.org/officeDocument/2006/relationships/image" Target="/ppt/media/image9.png" Id="R342cd571d627443d" /><Relationship Type="http://schemas.openxmlformats.org/officeDocument/2006/relationships/notesSlide" Target="/ppt/notesSlides/notesSlide9.xml" Id="R7aa82571265e434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abc819fc1294d24" /><Relationship Type="http://schemas.openxmlformats.org/officeDocument/2006/relationships/image" Target="/ppt/media/image10.png" Id="R0e80284b57a0465a" /><Relationship Type="http://schemas.openxmlformats.org/officeDocument/2006/relationships/notesSlide" Target="/ppt/notesSlides/notesSlide10.xml" Id="Rf1cb6e361a42441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84754c734aab46b1" /><Relationship Type="http://schemas.openxmlformats.org/officeDocument/2006/relationships/image" Target="/ppt/media/image11.png" Id="Reb89e29ba738432d" /><Relationship Type="http://schemas.openxmlformats.org/officeDocument/2006/relationships/notesSlide" Target="/ppt/notesSlides/notesSlide11.xml" Id="R860f3d9713ce401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eedccab48ef24425" /><Relationship Type="http://schemas.openxmlformats.org/officeDocument/2006/relationships/image" Target="/ppt/media/image12.png" Id="R06dde1b71dc84a6b" /><Relationship Type="http://schemas.openxmlformats.org/officeDocument/2006/relationships/notesSlide" Target="/ppt/notesSlides/notesSlide12.xml" Id="R7bd5b1cdaf3b4b3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23bc80eca9094391" /><Relationship Type="http://schemas.openxmlformats.org/officeDocument/2006/relationships/image" Target="/ppt/media/image13.png" Id="R2c86173310f34b59" /><Relationship Type="http://schemas.openxmlformats.org/officeDocument/2006/relationships/notesSlide" Target="/ppt/notesSlides/notesSlide13.xml" Id="R515a30f6a886483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e93e81f9ceef4e6a" /><Relationship Type="http://schemas.openxmlformats.org/officeDocument/2006/relationships/image" Target="/ppt/media/image14.png" Id="R5d9e8a9b01094689" /><Relationship Type="http://schemas.openxmlformats.org/officeDocument/2006/relationships/notesSlide" Target="/ppt/notesSlides/notesSlide14.xml" Id="R53b0a4a0b4e1470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2ce63f85690a4b11" /><Relationship Type="http://schemas.openxmlformats.org/officeDocument/2006/relationships/image" Target="/ppt/media/image15.png" Id="R97d9645337ec42e4" /><Relationship Type="http://schemas.openxmlformats.org/officeDocument/2006/relationships/notesSlide" Target="/ppt/notesSlides/notesSlide15.xml" Id="Rf820e55479f4436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da4e903ee7c54700" /><Relationship Type="http://schemas.openxmlformats.org/officeDocument/2006/relationships/image" Target="/ppt/media/image16.png" Id="R3c9454feaf30425b" /><Relationship Type="http://schemas.openxmlformats.org/officeDocument/2006/relationships/notesSlide" Target="/ppt/notesSlides/notesSlide16.xml" Id="R39171380cd3347c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be5394e0f972437a" /><Relationship Type="http://schemas.openxmlformats.org/officeDocument/2006/relationships/image" Target="/ppt/media/image17.png" Id="R52775a7e4752458f" /><Relationship Type="http://schemas.openxmlformats.org/officeDocument/2006/relationships/notesSlide" Target="/ppt/notesSlides/notesSlide17.xml" Id="R1f15319f0810485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259d17a206324cfe" /><Relationship Type="http://schemas.openxmlformats.org/officeDocument/2006/relationships/image" Target="/ppt/media/image18.png" Id="R5b05196f04cf4819" /><Relationship Type="http://schemas.openxmlformats.org/officeDocument/2006/relationships/notesSlide" Target="/ppt/notesSlides/notesSlide18.xml" Id="R5e2e3b5c26ce4cd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c38b4e4ef03348b4" /><Relationship Type="http://schemas.openxmlformats.org/officeDocument/2006/relationships/image" Target="/ppt/media/image19.png" Id="R01d74bdeeb364adf" /><Relationship Type="http://schemas.openxmlformats.org/officeDocument/2006/relationships/notesSlide" Target="/ppt/notesSlides/notesSlide19.xml" Id="R17ff59de2f7f49b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d477e3a88c954edf" /><Relationship Type="http://schemas.openxmlformats.org/officeDocument/2006/relationships/image" Target="/ppt/media/image20.png" Id="R570622b562634e5c" /><Relationship Type="http://schemas.openxmlformats.org/officeDocument/2006/relationships/notesSlide" Target="/ppt/notesSlides/notesSlide20.xml" Id="R73abce4d9b034808"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tep">
            <a:extLst xmlns:a="http://schemas.openxmlformats.org/drawingml/2006/main">
              <a:ext uri="{FF2B5EF4-FFF2-40B4-BE49-F238E27FC236}">
                <a16:creationId xmlns:a16="http://schemas.microsoft.com/office/drawing/2014/main" id="{E8802AE7-C37A-410B-AD77-CDF173167664}"/>
              </a:ext>
            </a:extLst>
          </p:cNvPr>
          <p:cNvSpPr>
            <a:spLocks xmlns:a="http://schemas.openxmlformats.org/drawingml/2006/main" noGrp="1"/>
          </p:cNvSpPr>
          <p:nvPr/>
        </p:nvSpPr>
        <p:spPr>
          <a:xfrm xmlns:a="http://schemas.openxmlformats.org/drawingml/2006/main">
            <a:off x="495300" y="342900"/>
            <a:ext cx="704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087DDF"/>
                </a:solidFill>
              </a:defRPr>
            </a:defPPr>
            <a:lvl1pPr>
              <a:defRPr sz="1800" b="1">
                <a:solidFill>
                  <a:srgbClr val="087DDF"/>
                </a:solidFill>
              </a:defRPr>
            </a:lvl1pPr>
            <a:lvl2pPr>
              <a:defRPr sz="1800" b="1">
                <a:solidFill>
                  <a:srgbClr val="087DDF"/>
                </a:solidFill>
              </a:defRPr>
            </a:lvl2pPr>
            <a:lvl3pPr>
              <a:defRPr sz="1800" b="1">
                <a:solidFill>
                  <a:srgbClr val="087DDF"/>
                </a:solidFill>
              </a:defRPr>
            </a:lvl3pPr>
            <a:lvl4pPr>
              <a:defRPr sz="1800" b="1">
                <a:solidFill>
                  <a:srgbClr val="087DDF"/>
                </a:solidFill>
              </a:defRPr>
            </a:lvl4pPr>
            <a:lvl5pPr>
              <a:defRPr sz="1800" b="1">
                <a:solidFill>
                  <a:srgbClr val="087DDF"/>
                </a:solidFill>
              </a:defRPr>
            </a:lvl5pPr>
            <a:lvl6pPr>
              <a:defRPr sz="1800" b="1">
                <a:solidFill>
                  <a:srgbClr val="087DDF"/>
                </a:solidFill>
              </a:defRPr>
            </a:lvl6pPr>
            <a:lvl7pPr>
              <a:defRPr sz="1800" b="1">
                <a:solidFill>
                  <a:srgbClr val="087DDF"/>
                </a:solidFill>
              </a:defRPr>
            </a:lvl7pPr>
            <a:lvl8pPr>
              <a:defRPr sz="1800" b="1">
                <a:solidFill>
                  <a:srgbClr val="087DDF"/>
                </a:solidFill>
              </a:defRPr>
            </a:lvl8pPr>
            <a:lvl9pPr>
              <a:defRPr sz="1800" b="1">
                <a:solidFill>
                  <a:srgbClr val="087DDF"/>
                </a:solidFill>
              </a:defRPr>
            </a:lvl9pPr>
          </a:lstStyle>
          <a:p xmlns:a="http://schemas.openxmlformats.org/drawingml/2006/main">
            <a:pPr>
              <a:defRPr sz="1800" b="1">
                <a:solidFill>
                  <a:srgbClr val="087DDF"/>
                </a:solidFill>
              </a:defRPr>
            </a:pPr>
            <a:r>
              <a:rPr sz="1800" b="1">
                <a:solidFill>
                  <a:srgbClr val="087DDF"/>
                </a:solidFill>
              </a:rPr>
              <a:t>01</a:t>
            </a:r>
          </a:p>
        </p:txBody>
      </p:sp>
      <p:sp>
        <p:nvSpPr>
          <p:cNvPr id="3" name="Title">
            <a:extLst xmlns:a="http://schemas.openxmlformats.org/drawingml/2006/main">
              <a:ext uri="{FF2B5EF4-FFF2-40B4-BE49-F238E27FC236}">
                <a16:creationId xmlns:a16="http://schemas.microsoft.com/office/drawing/2014/main" id="{1AE605B3-3FC0-4486-87AB-5EF8961FE092}"/>
              </a:ext>
            </a:extLst>
          </p:cNvPr>
          <p:cNvSpPr>
            <a:spLocks xmlns:a="http://schemas.openxmlformats.org/drawingml/2006/main" noGrp="1"/>
          </p:cNvSpPr>
          <p:nvPr/>
        </p:nvSpPr>
        <p:spPr>
          <a:xfrm xmlns:a="http://schemas.openxmlformats.org/drawingml/2006/main">
            <a:off x="495300" y="762000"/>
            <a:ext cx="1104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744"/>
                </a:solidFill>
              </a:defRPr>
            </a:defPPr>
            <a:lvl1pPr>
              <a:defRPr sz="3300" b="1">
                <a:solidFill>
                  <a:srgbClr val="102744"/>
                </a:solidFill>
              </a:defRPr>
            </a:lvl1pPr>
            <a:lvl2pPr>
              <a:defRPr sz="3300" b="1">
                <a:solidFill>
                  <a:srgbClr val="102744"/>
                </a:solidFill>
              </a:defRPr>
            </a:lvl2pPr>
            <a:lvl3pPr>
              <a:defRPr sz="3300" b="1">
                <a:solidFill>
                  <a:srgbClr val="102744"/>
                </a:solidFill>
              </a:defRPr>
            </a:lvl3pPr>
            <a:lvl4pPr>
              <a:defRPr sz="3300" b="1">
                <a:solidFill>
                  <a:srgbClr val="102744"/>
                </a:solidFill>
              </a:defRPr>
            </a:lvl4pPr>
            <a:lvl5pPr>
              <a:defRPr sz="3300" b="1">
                <a:solidFill>
                  <a:srgbClr val="102744"/>
                </a:solidFill>
              </a:defRPr>
            </a:lvl5pPr>
            <a:lvl6pPr>
              <a:defRPr sz="3300" b="1">
                <a:solidFill>
                  <a:srgbClr val="102744"/>
                </a:solidFill>
              </a:defRPr>
            </a:lvl6pPr>
            <a:lvl7pPr>
              <a:defRPr sz="3300" b="1">
                <a:solidFill>
                  <a:srgbClr val="102744"/>
                </a:solidFill>
              </a:defRPr>
            </a:lvl7pPr>
            <a:lvl8pPr>
              <a:defRPr sz="3300" b="1">
                <a:solidFill>
                  <a:srgbClr val="102744"/>
                </a:solidFill>
              </a:defRPr>
            </a:lvl8pPr>
            <a:lvl9pPr>
              <a:defRPr sz="3300" b="1">
                <a:solidFill>
                  <a:srgbClr val="102744"/>
                </a:solidFill>
              </a:defRPr>
            </a:lvl9pPr>
          </a:lstStyle>
          <a:p xmlns:a="http://schemas.openxmlformats.org/drawingml/2006/main">
            <a:pPr>
              <a:defRPr sz="3300" b="1">
                <a:solidFill>
                  <a:srgbClr val="102744"/>
                </a:solidFill>
              </a:defRPr>
            </a:pPr>
            <a:r>
              <a:rPr sz="3300" b="1">
                <a:solidFill>
                  <a:srgbClr val="102744"/>
                </a:solidFill>
              </a:rPr>
              <a:t>The Build 3 prompt</a:t>
            </a:r>
          </a:p>
        </p:txBody>
      </p:sp>
      <p:sp>
        <p:nvSpPr>
          <p:cNvPr id="4" name="Body">
            <a:extLst xmlns:a="http://schemas.openxmlformats.org/drawingml/2006/main">
              <a:ext uri="{FF2B5EF4-FFF2-40B4-BE49-F238E27FC236}">
                <a16:creationId xmlns:a16="http://schemas.microsoft.com/office/drawing/2014/main" id="{3825AA38-CAA7-45EF-8674-863F0AA3BED3}"/>
              </a:ext>
            </a:extLst>
          </p:cNvPr>
          <p:cNvSpPr>
            <a:spLocks xmlns:a="http://schemas.openxmlformats.org/drawingml/2006/main" noGrp="1"/>
          </p:cNvSpPr>
          <p:nvPr/>
        </p:nvSpPr>
        <p:spPr>
          <a:xfrm xmlns:a="http://schemas.openxmlformats.org/drawingml/2006/main">
            <a:off x="495300" y="1847850"/>
            <a:ext cx="2857500" cy="409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25354B"/>
                </a:solidFill>
              </a:defRPr>
            </a:defPPr>
            <a:lvl1pPr>
              <a:defRPr sz="1800" b="0">
                <a:solidFill>
                  <a:srgbClr val="25354B"/>
                </a:solidFill>
              </a:defRPr>
            </a:lvl1pPr>
            <a:lvl2pPr>
              <a:defRPr sz="1800" b="0">
                <a:solidFill>
                  <a:srgbClr val="25354B"/>
                </a:solidFill>
              </a:defRPr>
            </a:lvl2pPr>
            <a:lvl3pPr>
              <a:defRPr sz="1800" b="0">
                <a:solidFill>
                  <a:srgbClr val="25354B"/>
                </a:solidFill>
              </a:defRPr>
            </a:lvl3pPr>
            <a:lvl4pPr>
              <a:defRPr sz="1800" b="0">
                <a:solidFill>
                  <a:srgbClr val="25354B"/>
                </a:solidFill>
              </a:defRPr>
            </a:lvl4pPr>
            <a:lvl5pPr>
              <a:defRPr sz="1800" b="0">
                <a:solidFill>
                  <a:srgbClr val="25354B"/>
                </a:solidFill>
              </a:defRPr>
            </a:lvl5pPr>
            <a:lvl6pPr>
              <a:defRPr sz="1800" b="0">
                <a:solidFill>
                  <a:srgbClr val="25354B"/>
                </a:solidFill>
              </a:defRPr>
            </a:lvl6pPr>
            <a:lvl7pPr>
              <a:defRPr sz="1800" b="0">
                <a:solidFill>
                  <a:srgbClr val="25354B"/>
                </a:solidFill>
              </a:defRPr>
            </a:lvl7pPr>
            <a:lvl8pPr>
              <a:defRPr sz="1800" b="0">
                <a:solidFill>
                  <a:srgbClr val="25354B"/>
                </a:solidFill>
              </a:defRPr>
            </a:lvl8pPr>
            <a:lvl9pPr>
              <a:defRPr sz="1800" b="0">
                <a:solidFill>
                  <a:srgbClr val="25354B"/>
                </a:solidFill>
              </a:defRPr>
            </a:lvl9pPr>
          </a:lstStyle>
          <a:p xmlns:a="http://schemas.openxmlformats.org/drawingml/2006/main">
            <a:pPr>
              <a:defRPr sz="1800" b="0">
                <a:solidFill>
                  <a:srgbClr val="25354B"/>
                </a:solidFill>
              </a:defRPr>
            </a:pPr>
            <a:r>
              <a:rPr sz="1800" b="0">
                <a:solidFill>
                  <a:srgbClr val="25354B"/>
                </a:solidFill>
              </a:rPr>
              <a:t>The Build 3 folder contains one Word document.</a:t>
            </a:r>
          </a:p>
          <a:p xmlns:a="http://schemas.openxmlformats.org/drawingml/2006/main">
            <a:r>
              <a:t/>
            </a:r>
          </a:p>
          <a:p xmlns:a="http://schemas.openxmlformats.org/drawingml/2006/main">
            <a:pPr>
              <a:defRPr sz="1800" b="0">
                <a:solidFill>
                  <a:srgbClr val="25354B"/>
                </a:solidFill>
              </a:defRPr>
            </a:pPr>
            <a:r>
              <a:rPr sz="1800" b="0">
                <a:solidFill>
                  <a:srgbClr val="25354B"/>
                </a:solidFill>
              </a:rPr>
              <a:t>It defines the research sources, scoring rules and PDF brief.</a:t>
            </a:r>
          </a:p>
          <a:p xmlns:a="http://schemas.openxmlformats.org/drawingml/2006/main">
            <a:r>
              <a:t/>
            </a:r>
          </a:p>
          <a:p xmlns:a="http://schemas.openxmlformats.org/drawingml/2006/main">
            <a:pPr>
              <a:defRPr sz="1800" b="0">
                <a:solidFill>
                  <a:srgbClr val="25354B"/>
                </a:solidFill>
              </a:defRPr>
            </a:pPr>
            <a:r>
              <a:rPr sz="1800" b="0">
                <a:solidFill>
                  <a:srgbClr val="25354B"/>
                </a:solidFill>
              </a:rPr>
              <a:t>This walkthrough researches one company.</a:t>
            </a:r>
          </a:p>
        </p:txBody>
      </p:sp>
      <p:pic>
        <p:nvPicPr>
          <p:cNvPr id="5" name="">
            <a:extLst xmlns:a="http://schemas.openxmlformats.org/drawingml/2006/main">
              <a:ext uri="{FF2B5EF4-FFF2-40B4-BE49-F238E27FC236}">
                <a16:creationId xmlns:a16="http://schemas.microsoft.com/office/drawing/2014/main" id="{4ACCB454-BCE4-4261-8282-A61BC5C5DDBF}"/>
              </a:ext>
            </a:extLst>
          </p:cNvPr>
          <p:cNvPicPr>
            <a:picLocks xmlns:a="http://schemas.openxmlformats.org/drawingml/2006/main" noChangeAspect="1"/>
          </p:cNvPicPr>
          <p:nvPr/>
        </p:nvPicPr>
        <p:blipFill>
          <a:blip xmlns:r="http://schemas.openxmlformats.org/officeDocument/2006/relationships" xmlns:a="http://schemas.openxmlformats.org/drawingml/2006/main" r:embed="Re08606a6278a47e8"/>
          <a:stretch xmlns:a="http://schemas.openxmlformats.org/drawingml/2006/main"/>
        </p:blipFill>
        <p:spPr>
          <a:xfrm xmlns:a="http://schemas.openxmlformats.org/drawingml/2006/main">
            <a:off x="3714750" y="2630274"/>
            <a:ext cx="7953375" cy="1978451"/>
          </a:xfrm>
          <a:prstGeom xmlns:a="http://schemas.openxmlformats.org/drawingml/2006/main" prst="rect">
            <a:avLst/>
          </a:prstGeom>
        </p:spPr>
      </p:pic>
      <p:sp>
        <p:nvSpPr>
          <p:cNvPr id="6" name="Caption">
            <a:extLst xmlns:a="http://schemas.openxmlformats.org/drawingml/2006/main">
              <a:ext uri="{FF2B5EF4-FFF2-40B4-BE49-F238E27FC236}">
                <a16:creationId xmlns:a16="http://schemas.microsoft.com/office/drawing/2014/main" id="{23385DAE-87F7-4E8B-B62D-71B1E90D9569}"/>
              </a:ext>
            </a:extLst>
          </p:cNvPr>
          <p:cNvSpPr>
            <a:spLocks xmlns:a="http://schemas.openxmlformats.org/drawingml/2006/main" noGrp="1"/>
          </p:cNvSpPr>
          <p:nvPr/>
        </p:nvSpPr>
        <p:spPr>
          <a:xfrm xmlns:a="http://schemas.openxmlformats.org/drawingml/2006/main">
            <a:off x="3714750" y="5810250"/>
            <a:ext cx="79533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0">
                <a:solidFill>
                  <a:srgbClr val="087DDF"/>
                </a:solidFill>
              </a:defRPr>
            </a:defPPr>
            <a:lvl1pPr>
              <a:defRPr sz="1425" b="0">
                <a:solidFill>
                  <a:srgbClr val="087DDF"/>
                </a:solidFill>
              </a:defRPr>
            </a:lvl1pPr>
            <a:lvl2pPr>
              <a:defRPr sz="1425" b="0">
                <a:solidFill>
                  <a:srgbClr val="087DDF"/>
                </a:solidFill>
              </a:defRPr>
            </a:lvl2pPr>
            <a:lvl3pPr>
              <a:defRPr sz="1425" b="0">
                <a:solidFill>
                  <a:srgbClr val="087DDF"/>
                </a:solidFill>
              </a:defRPr>
            </a:lvl3pPr>
            <a:lvl4pPr>
              <a:defRPr sz="1425" b="0">
                <a:solidFill>
                  <a:srgbClr val="087DDF"/>
                </a:solidFill>
              </a:defRPr>
            </a:lvl4pPr>
            <a:lvl5pPr>
              <a:defRPr sz="1425" b="0">
                <a:solidFill>
                  <a:srgbClr val="087DDF"/>
                </a:solidFill>
              </a:defRPr>
            </a:lvl5pPr>
            <a:lvl6pPr>
              <a:defRPr sz="1425" b="0">
                <a:solidFill>
                  <a:srgbClr val="087DDF"/>
                </a:solidFill>
              </a:defRPr>
            </a:lvl6pPr>
            <a:lvl7pPr>
              <a:defRPr sz="1425" b="0">
                <a:solidFill>
                  <a:srgbClr val="087DDF"/>
                </a:solidFill>
              </a:defRPr>
            </a:lvl7pPr>
            <a:lvl8pPr>
              <a:defRPr sz="1425" b="0">
                <a:solidFill>
                  <a:srgbClr val="087DDF"/>
                </a:solidFill>
              </a:defRPr>
            </a:lvl8pPr>
            <a:lvl9pPr>
              <a:defRPr sz="1425" b="0">
                <a:solidFill>
                  <a:srgbClr val="087DDF"/>
                </a:solidFill>
              </a:defRPr>
            </a:lvl9pPr>
          </a:lstStyle>
          <a:p xmlns:a="http://schemas.openxmlformats.org/drawingml/2006/main">
            <a:pPr>
              <a:defRPr sz="1425" b="0">
                <a:solidFill>
                  <a:srgbClr val="087DDF"/>
                </a:solidFill>
              </a:defRPr>
            </a:pPr>
            <a:r>
              <a:rPr sz="1425" b="0">
                <a:solidFill>
                  <a:srgbClr val="087DDF"/>
                </a:solidFill>
              </a:rPr>
              <a:t>Workshop source: AI-Agent-Build3 on GitHub.</a:t>
            </a:r>
          </a:p>
        </p:txBody>
      </p:sp>
      <p:sp>
        <p:nvSpPr>
          <p:cNvPr id="7" name="Footer">
            <a:extLst xmlns:a="http://schemas.openxmlformats.org/drawingml/2006/main">
              <a:ext uri="{FF2B5EF4-FFF2-40B4-BE49-F238E27FC236}">
                <a16:creationId xmlns:a16="http://schemas.microsoft.com/office/drawing/2014/main" id="{199FFF7D-DAF4-4E85-A2B2-4D664174EEC9}"/>
              </a:ext>
            </a:extLst>
          </p:cNvPr>
          <p:cNvSpPr>
            <a:spLocks xmlns:a="http://schemas.openxmlformats.org/drawingml/2006/main" noGrp="1"/>
          </p:cNvSpPr>
          <p:nvPr/>
        </p:nvSpPr>
        <p:spPr>
          <a:xfrm xmlns:a="http://schemas.openxmlformats.org/drawingml/2006/main">
            <a:off x="495300" y="6419850"/>
            <a:ext cx="10953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9778B"/>
                </a:solidFill>
              </a:defRPr>
            </a:defPPr>
            <a:lvl1pPr>
              <a:defRPr sz="1200" b="0">
                <a:solidFill>
                  <a:srgbClr val="69778B"/>
                </a:solidFill>
              </a:defRPr>
            </a:lvl1pPr>
            <a:lvl2pPr>
              <a:defRPr sz="1200" b="0">
                <a:solidFill>
                  <a:srgbClr val="69778B"/>
                </a:solidFill>
              </a:defRPr>
            </a:lvl2pPr>
            <a:lvl3pPr>
              <a:defRPr sz="1200" b="0">
                <a:solidFill>
                  <a:srgbClr val="69778B"/>
                </a:solidFill>
              </a:defRPr>
            </a:lvl3pPr>
            <a:lvl4pPr>
              <a:defRPr sz="1200" b="0">
                <a:solidFill>
                  <a:srgbClr val="69778B"/>
                </a:solidFill>
              </a:defRPr>
            </a:lvl4pPr>
            <a:lvl5pPr>
              <a:defRPr sz="1200" b="0">
                <a:solidFill>
                  <a:srgbClr val="69778B"/>
                </a:solidFill>
              </a:defRPr>
            </a:lvl5pPr>
            <a:lvl6pPr>
              <a:defRPr sz="1200" b="0">
                <a:solidFill>
                  <a:srgbClr val="69778B"/>
                </a:solidFill>
              </a:defRPr>
            </a:lvl6pPr>
            <a:lvl7pPr>
              <a:defRPr sz="1200" b="0">
                <a:solidFill>
                  <a:srgbClr val="69778B"/>
                </a:solidFill>
              </a:defRPr>
            </a:lvl7pPr>
            <a:lvl8pPr>
              <a:defRPr sz="1200" b="0">
                <a:solidFill>
                  <a:srgbClr val="69778B"/>
                </a:solidFill>
              </a:defRPr>
            </a:lvl8pPr>
            <a:lvl9pPr>
              <a:defRPr sz="1200" b="0">
                <a:solidFill>
                  <a:srgbClr val="69778B"/>
                </a:solidFill>
              </a:defRPr>
            </a:lvl9pPr>
          </a:lstStyle>
          <a:p xmlns:a="http://schemas.openxmlformats.org/drawingml/2006/main">
            <a:pPr>
              <a:defRPr sz="1200" b="0">
                <a:solidFill>
                  <a:srgbClr val="69778B"/>
                </a:solidFill>
              </a:defRPr>
            </a:pPr>
            <a:r>
              <a:rPr sz="1200" b="0">
                <a:solidFill>
                  <a:srgbClr val="69778B"/>
                </a:solidFill>
              </a:rPr>
              <a:t>Build 3   /   Public research demonstration   /   21 October 2026</a:t>
            </a:r>
          </a:p>
        </p:txBody>
      </p:sp>
    </p:spTree>
    <p:extLst>
      <p:ext uri="{BB962C8B-B14F-4D97-AF65-F5344CB8AC3E}">
        <p14:creationId xmlns:p14="http://schemas.microsoft.com/office/powerpoint/2010/main" val="94225836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tep">
            <a:extLst xmlns:a="http://schemas.openxmlformats.org/drawingml/2006/main">
              <a:ext uri="{FF2B5EF4-FFF2-40B4-BE49-F238E27FC236}">
                <a16:creationId xmlns:a16="http://schemas.microsoft.com/office/drawing/2014/main" id="{7C8210E7-CAE9-4ED9-9A99-1D758FAA63DF}"/>
              </a:ext>
            </a:extLst>
          </p:cNvPr>
          <p:cNvSpPr>
            <a:spLocks xmlns:a="http://schemas.openxmlformats.org/drawingml/2006/main" noGrp="1"/>
          </p:cNvSpPr>
          <p:nvPr/>
        </p:nvSpPr>
        <p:spPr>
          <a:xfrm xmlns:a="http://schemas.openxmlformats.org/drawingml/2006/main">
            <a:off x="495300" y="342900"/>
            <a:ext cx="704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087DDF"/>
                </a:solidFill>
              </a:defRPr>
            </a:defPPr>
            <a:lvl1pPr>
              <a:defRPr sz="1800" b="1">
                <a:solidFill>
                  <a:srgbClr val="087DDF"/>
                </a:solidFill>
              </a:defRPr>
            </a:lvl1pPr>
            <a:lvl2pPr>
              <a:defRPr sz="1800" b="1">
                <a:solidFill>
                  <a:srgbClr val="087DDF"/>
                </a:solidFill>
              </a:defRPr>
            </a:lvl2pPr>
            <a:lvl3pPr>
              <a:defRPr sz="1800" b="1">
                <a:solidFill>
                  <a:srgbClr val="087DDF"/>
                </a:solidFill>
              </a:defRPr>
            </a:lvl3pPr>
            <a:lvl4pPr>
              <a:defRPr sz="1800" b="1">
                <a:solidFill>
                  <a:srgbClr val="087DDF"/>
                </a:solidFill>
              </a:defRPr>
            </a:lvl4pPr>
            <a:lvl5pPr>
              <a:defRPr sz="1800" b="1">
                <a:solidFill>
                  <a:srgbClr val="087DDF"/>
                </a:solidFill>
              </a:defRPr>
            </a:lvl5pPr>
            <a:lvl6pPr>
              <a:defRPr sz="1800" b="1">
                <a:solidFill>
                  <a:srgbClr val="087DDF"/>
                </a:solidFill>
              </a:defRPr>
            </a:lvl6pPr>
            <a:lvl7pPr>
              <a:defRPr sz="1800" b="1">
                <a:solidFill>
                  <a:srgbClr val="087DDF"/>
                </a:solidFill>
              </a:defRPr>
            </a:lvl7pPr>
            <a:lvl8pPr>
              <a:defRPr sz="1800" b="1">
                <a:solidFill>
                  <a:srgbClr val="087DDF"/>
                </a:solidFill>
              </a:defRPr>
            </a:lvl8pPr>
            <a:lvl9pPr>
              <a:defRPr sz="1800" b="1">
                <a:solidFill>
                  <a:srgbClr val="087DDF"/>
                </a:solidFill>
              </a:defRPr>
            </a:lvl9pPr>
          </a:lstStyle>
          <a:p xmlns:a="http://schemas.openxmlformats.org/drawingml/2006/main">
            <a:pPr>
              <a:defRPr sz="1800" b="1">
                <a:solidFill>
                  <a:srgbClr val="087DDF"/>
                </a:solidFill>
              </a:defRPr>
            </a:pPr>
            <a:r>
              <a:rPr sz="1800" b="1">
                <a:solidFill>
                  <a:srgbClr val="087DDF"/>
                </a:solidFill>
              </a:rPr>
              <a:t>02</a:t>
            </a:r>
          </a:p>
        </p:txBody>
      </p:sp>
      <p:sp>
        <p:nvSpPr>
          <p:cNvPr id="3" name="Title">
            <a:extLst xmlns:a="http://schemas.openxmlformats.org/drawingml/2006/main">
              <a:ext uri="{FF2B5EF4-FFF2-40B4-BE49-F238E27FC236}">
                <a16:creationId xmlns:a16="http://schemas.microsoft.com/office/drawing/2014/main" id="{5021338C-776D-4D74-BF84-5A04B4129F05}"/>
              </a:ext>
            </a:extLst>
          </p:cNvPr>
          <p:cNvSpPr>
            <a:spLocks xmlns:a="http://schemas.openxmlformats.org/drawingml/2006/main" noGrp="1"/>
          </p:cNvSpPr>
          <p:nvPr/>
        </p:nvSpPr>
        <p:spPr>
          <a:xfrm xmlns:a="http://schemas.openxmlformats.org/drawingml/2006/main">
            <a:off x="495300" y="762000"/>
            <a:ext cx="1104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744"/>
                </a:solidFill>
              </a:defRPr>
            </a:defPPr>
            <a:lvl1pPr>
              <a:defRPr sz="3300" b="1">
                <a:solidFill>
                  <a:srgbClr val="102744"/>
                </a:solidFill>
              </a:defRPr>
            </a:lvl1pPr>
            <a:lvl2pPr>
              <a:defRPr sz="3300" b="1">
                <a:solidFill>
                  <a:srgbClr val="102744"/>
                </a:solidFill>
              </a:defRPr>
            </a:lvl2pPr>
            <a:lvl3pPr>
              <a:defRPr sz="3300" b="1">
                <a:solidFill>
                  <a:srgbClr val="102744"/>
                </a:solidFill>
              </a:defRPr>
            </a:lvl3pPr>
            <a:lvl4pPr>
              <a:defRPr sz="3300" b="1">
                <a:solidFill>
                  <a:srgbClr val="102744"/>
                </a:solidFill>
              </a:defRPr>
            </a:lvl4pPr>
            <a:lvl5pPr>
              <a:defRPr sz="3300" b="1">
                <a:solidFill>
                  <a:srgbClr val="102744"/>
                </a:solidFill>
              </a:defRPr>
            </a:lvl5pPr>
            <a:lvl6pPr>
              <a:defRPr sz="3300" b="1">
                <a:solidFill>
                  <a:srgbClr val="102744"/>
                </a:solidFill>
              </a:defRPr>
            </a:lvl6pPr>
            <a:lvl7pPr>
              <a:defRPr sz="3300" b="1">
                <a:solidFill>
                  <a:srgbClr val="102744"/>
                </a:solidFill>
              </a:defRPr>
            </a:lvl7pPr>
            <a:lvl8pPr>
              <a:defRPr sz="3300" b="1">
                <a:solidFill>
                  <a:srgbClr val="102744"/>
                </a:solidFill>
              </a:defRPr>
            </a:lvl8pPr>
            <a:lvl9pPr>
              <a:defRPr sz="3300" b="1">
                <a:solidFill>
                  <a:srgbClr val="102744"/>
                </a:solidFill>
              </a:defRPr>
            </a:lvl9pPr>
          </a:lstStyle>
          <a:p xmlns:a="http://schemas.openxmlformats.org/drawingml/2006/main">
            <a:pPr>
              <a:defRPr sz="3300" b="1">
                <a:solidFill>
                  <a:srgbClr val="102744"/>
                </a:solidFill>
              </a:defRPr>
            </a:pPr>
            <a:r>
              <a:rPr sz="3300" b="1">
                <a:solidFill>
                  <a:srgbClr val="102744"/>
                </a:solidFill>
              </a:rPr>
              <a:t>The individual file download</a:t>
            </a:r>
          </a:p>
        </p:txBody>
      </p:sp>
      <p:sp>
        <p:nvSpPr>
          <p:cNvPr id="4" name="Body">
            <a:extLst xmlns:a="http://schemas.openxmlformats.org/drawingml/2006/main">
              <a:ext uri="{FF2B5EF4-FFF2-40B4-BE49-F238E27FC236}">
                <a16:creationId xmlns:a16="http://schemas.microsoft.com/office/drawing/2014/main" id="{6513D47A-F671-40A0-91B0-D814B47CEF49}"/>
              </a:ext>
            </a:extLst>
          </p:cNvPr>
          <p:cNvSpPr>
            <a:spLocks xmlns:a="http://schemas.openxmlformats.org/drawingml/2006/main" noGrp="1"/>
          </p:cNvSpPr>
          <p:nvPr/>
        </p:nvSpPr>
        <p:spPr>
          <a:xfrm xmlns:a="http://schemas.openxmlformats.org/drawingml/2006/main">
            <a:off x="495300" y="1847850"/>
            <a:ext cx="2857500" cy="409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25354B"/>
                </a:solidFill>
              </a:defRPr>
            </a:defPPr>
            <a:lvl1pPr>
              <a:defRPr sz="1800" b="0">
                <a:solidFill>
                  <a:srgbClr val="25354B"/>
                </a:solidFill>
              </a:defRPr>
            </a:lvl1pPr>
            <a:lvl2pPr>
              <a:defRPr sz="1800" b="0">
                <a:solidFill>
                  <a:srgbClr val="25354B"/>
                </a:solidFill>
              </a:defRPr>
            </a:lvl2pPr>
            <a:lvl3pPr>
              <a:defRPr sz="1800" b="0">
                <a:solidFill>
                  <a:srgbClr val="25354B"/>
                </a:solidFill>
              </a:defRPr>
            </a:lvl3pPr>
            <a:lvl4pPr>
              <a:defRPr sz="1800" b="0">
                <a:solidFill>
                  <a:srgbClr val="25354B"/>
                </a:solidFill>
              </a:defRPr>
            </a:lvl4pPr>
            <a:lvl5pPr>
              <a:defRPr sz="1800" b="0">
                <a:solidFill>
                  <a:srgbClr val="25354B"/>
                </a:solidFill>
              </a:defRPr>
            </a:lvl5pPr>
            <a:lvl6pPr>
              <a:defRPr sz="1800" b="0">
                <a:solidFill>
                  <a:srgbClr val="25354B"/>
                </a:solidFill>
              </a:defRPr>
            </a:lvl6pPr>
            <a:lvl7pPr>
              <a:defRPr sz="1800" b="0">
                <a:solidFill>
                  <a:srgbClr val="25354B"/>
                </a:solidFill>
              </a:defRPr>
            </a:lvl7pPr>
            <a:lvl8pPr>
              <a:defRPr sz="1800" b="0">
                <a:solidFill>
                  <a:srgbClr val="25354B"/>
                </a:solidFill>
              </a:defRPr>
            </a:lvl8pPr>
            <a:lvl9pPr>
              <a:defRPr sz="1800" b="0">
                <a:solidFill>
                  <a:srgbClr val="25354B"/>
                </a:solidFill>
              </a:defRPr>
            </a:lvl9pPr>
          </a:lstStyle>
          <a:p xmlns:a="http://schemas.openxmlformats.org/drawingml/2006/main">
            <a:pPr>
              <a:defRPr sz="1800" b="0">
                <a:solidFill>
                  <a:srgbClr val="25354B"/>
                </a:solidFill>
              </a:defRPr>
            </a:pPr>
            <a:r>
              <a:rPr sz="1800" b="0">
                <a:solidFill>
                  <a:srgbClr val="25354B"/>
                </a:solidFill>
              </a:rPr>
              <a:t>Open the Word file on GitHub.</a:t>
            </a:r>
          </a:p>
          <a:p xmlns:a="http://schemas.openxmlformats.org/drawingml/2006/main">
            <a:r>
              <a:t/>
            </a:r>
          </a:p>
          <a:p xmlns:a="http://schemas.openxmlformats.org/drawingml/2006/main">
            <a:pPr>
              <a:defRPr sz="1800" b="0">
                <a:solidFill>
                  <a:srgbClr val="25354B"/>
                </a:solidFill>
              </a:defRPr>
            </a:pPr>
            <a:r>
              <a:rPr sz="1800" b="0">
                <a:solidFill>
                  <a:srgbClr val="25354B"/>
                </a:solidFill>
              </a:rPr>
              <a:t>Click Download raw file at the right of the file controls.</a:t>
            </a:r>
          </a:p>
          <a:p xmlns:a="http://schemas.openxmlformats.org/drawingml/2006/main">
            <a:r>
              <a:t/>
            </a:r>
          </a:p>
          <a:p xmlns:a="http://schemas.openxmlformats.org/drawingml/2006/main">
            <a:pPr>
              <a:defRPr sz="1800" b="0">
                <a:solidFill>
                  <a:srgbClr val="25354B"/>
                </a:solidFill>
              </a:defRPr>
            </a:pPr>
            <a:r>
              <a:rPr sz="1800" b="0">
                <a:solidFill>
                  <a:srgbClr val="25354B"/>
                </a:solidFill>
              </a:rPr>
              <a:t>Keep the document ready to upload into ChatGPT.</a:t>
            </a:r>
          </a:p>
        </p:txBody>
      </p:sp>
      <p:pic>
        <p:nvPicPr>
          <p:cNvPr id="5" name="">
            <a:extLst xmlns:a="http://schemas.openxmlformats.org/drawingml/2006/main">
              <a:ext uri="{FF2B5EF4-FFF2-40B4-BE49-F238E27FC236}">
                <a16:creationId xmlns:a16="http://schemas.microsoft.com/office/drawing/2014/main" id="{CF141B55-F3E4-465D-B9C7-696A73B2FB76}"/>
              </a:ext>
            </a:extLst>
          </p:cNvPr>
          <p:cNvPicPr>
            <a:picLocks xmlns:a="http://schemas.openxmlformats.org/drawingml/2006/main" noChangeAspect="1"/>
          </p:cNvPicPr>
          <p:nvPr/>
        </p:nvPicPr>
        <p:blipFill>
          <a:blip xmlns:r="http://schemas.openxmlformats.org/officeDocument/2006/relationships" xmlns:a="http://schemas.openxmlformats.org/drawingml/2006/main" r:embed="R032602ce15884c9b"/>
          <a:stretch xmlns:a="http://schemas.openxmlformats.org/drawingml/2006/main"/>
        </p:blipFill>
        <p:spPr>
          <a:xfrm xmlns:a="http://schemas.openxmlformats.org/drawingml/2006/main">
            <a:off x="3714750" y="2839990"/>
            <a:ext cx="7953375" cy="1559020"/>
          </a:xfrm>
          <a:prstGeom xmlns:a="http://schemas.openxmlformats.org/drawingml/2006/main" prst="rect">
            <a:avLst/>
          </a:prstGeom>
        </p:spPr>
      </p:pic>
      <p:sp>
        <p:nvSpPr>
          <p:cNvPr id="6" name="Caption">
            <a:extLst xmlns:a="http://schemas.openxmlformats.org/drawingml/2006/main">
              <a:ext uri="{FF2B5EF4-FFF2-40B4-BE49-F238E27FC236}">
                <a16:creationId xmlns:a16="http://schemas.microsoft.com/office/drawing/2014/main" id="{6C5CB2BC-212E-41C0-81FE-D85B964E81D4}"/>
              </a:ext>
            </a:extLst>
          </p:cNvPr>
          <p:cNvSpPr>
            <a:spLocks xmlns:a="http://schemas.openxmlformats.org/drawingml/2006/main" noGrp="1"/>
          </p:cNvSpPr>
          <p:nvPr/>
        </p:nvSpPr>
        <p:spPr>
          <a:xfrm xmlns:a="http://schemas.openxmlformats.org/drawingml/2006/main">
            <a:off x="3714750" y="5810250"/>
            <a:ext cx="79533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0">
                <a:solidFill>
                  <a:srgbClr val="087DDF"/>
                </a:solidFill>
              </a:defRPr>
            </a:defPPr>
            <a:lvl1pPr>
              <a:defRPr sz="1425" b="0">
                <a:solidFill>
                  <a:srgbClr val="087DDF"/>
                </a:solidFill>
              </a:defRPr>
            </a:lvl1pPr>
            <a:lvl2pPr>
              <a:defRPr sz="1425" b="0">
                <a:solidFill>
                  <a:srgbClr val="087DDF"/>
                </a:solidFill>
              </a:defRPr>
            </a:lvl2pPr>
            <a:lvl3pPr>
              <a:defRPr sz="1425" b="0">
                <a:solidFill>
                  <a:srgbClr val="087DDF"/>
                </a:solidFill>
              </a:defRPr>
            </a:lvl3pPr>
            <a:lvl4pPr>
              <a:defRPr sz="1425" b="0">
                <a:solidFill>
                  <a:srgbClr val="087DDF"/>
                </a:solidFill>
              </a:defRPr>
            </a:lvl4pPr>
            <a:lvl5pPr>
              <a:defRPr sz="1425" b="0">
                <a:solidFill>
                  <a:srgbClr val="087DDF"/>
                </a:solidFill>
              </a:defRPr>
            </a:lvl5pPr>
            <a:lvl6pPr>
              <a:defRPr sz="1425" b="0">
                <a:solidFill>
                  <a:srgbClr val="087DDF"/>
                </a:solidFill>
              </a:defRPr>
            </a:lvl6pPr>
            <a:lvl7pPr>
              <a:defRPr sz="1425" b="0">
                <a:solidFill>
                  <a:srgbClr val="087DDF"/>
                </a:solidFill>
              </a:defRPr>
            </a:lvl7pPr>
            <a:lvl8pPr>
              <a:defRPr sz="1425" b="0">
                <a:solidFill>
                  <a:srgbClr val="087DDF"/>
                </a:solidFill>
              </a:defRPr>
            </a:lvl8pPr>
            <a:lvl9pPr>
              <a:defRPr sz="1425" b="0">
                <a:solidFill>
                  <a:srgbClr val="087DDF"/>
                </a:solidFill>
              </a:defRPr>
            </a:lvl9pPr>
          </a:lstStyle>
          <a:p xmlns:a="http://schemas.openxmlformats.org/drawingml/2006/main">
            <a:pPr>
              <a:defRPr sz="1425" b="0">
                <a:solidFill>
                  <a:srgbClr val="087DDF"/>
                </a:solidFill>
              </a:defRPr>
            </a:pPr>
            <a:r>
              <a:rPr sz="1425" b="0">
                <a:solidFill>
                  <a:srgbClr val="087DDF"/>
                </a:solidFill>
              </a:rPr>
              <a:t>The download arrow saves the original workflow document.</a:t>
            </a:r>
          </a:p>
        </p:txBody>
      </p:sp>
      <p:sp>
        <p:nvSpPr>
          <p:cNvPr id="7" name="Footer">
            <a:extLst xmlns:a="http://schemas.openxmlformats.org/drawingml/2006/main">
              <a:ext uri="{FF2B5EF4-FFF2-40B4-BE49-F238E27FC236}">
                <a16:creationId xmlns:a16="http://schemas.microsoft.com/office/drawing/2014/main" id="{3F934FBA-7DCC-448E-9847-39F9A3A5FD3C}"/>
              </a:ext>
            </a:extLst>
          </p:cNvPr>
          <p:cNvSpPr>
            <a:spLocks xmlns:a="http://schemas.openxmlformats.org/drawingml/2006/main" noGrp="1"/>
          </p:cNvSpPr>
          <p:nvPr/>
        </p:nvSpPr>
        <p:spPr>
          <a:xfrm xmlns:a="http://schemas.openxmlformats.org/drawingml/2006/main">
            <a:off x="495300" y="6419850"/>
            <a:ext cx="10953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9778B"/>
                </a:solidFill>
              </a:defRPr>
            </a:defPPr>
            <a:lvl1pPr>
              <a:defRPr sz="1200" b="0">
                <a:solidFill>
                  <a:srgbClr val="69778B"/>
                </a:solidFill>
              </a:defRPr>
            </a:lvl1pPr>
            <a:lvl2pPr>
              <a:defRPr sz="1200" b="0">
                <a:solidFill>
                  <a:srgbClr val="69778B"/>
                </a:solidFill>
              </a:defRPr>
            </a:lvl2pPr>
            <a:lvl3pPr>
              <a:defRPr sz="1200" b="0">
                <a:solidFill>
                  <a:srgbClr val="69778B"/>
                </a:solidFill>
              </a:defRPr>
            </a:lvl3pPr>
            <a:lvl4pPr>
              <a:defRPr sz="1200" b="0">
                <a:solidFill>
                  <a:srgbClr val="69778B"/>
                </a:solidFill>
              </a:defRPr>
            </a:lvl4pPr>
            <a:lvl5pPr>
              <a:defRPr sz="1200" b="0">
                <a:solidFill>
                  <a:srgbClr val="69778B"/>
                </a:solidFill>
              </a:defRPr>
            </a:lvl5pPr>
            <a:lvl6pPr>
              <a:defRPr sz="1200" b="0">
                <a:solidFill>
                  <a:srgbClr val="69778B"/>
                </a:solidFill>
              </a:defRPr>
            </a:lvl6pPr>
            <a:lvl7pPr>
              <a:defRPr sz="1200" b="0">
                <a:solidFill>
                  <a:srgbClr val="69778B"/>
                </a:solidFill>
              </a:defRPr>
            </a:lvl7pPr>
            <a:lvl8pPr>
              <a:defRPr sz="1200" b="0">
                <a:solidFill>
                  <a:srgbClr val="69778B"/>
                </a:solidFill>
              </a:defRPr>
            </a:lvl8pPr>
            <a:lvl9pPr>
              <a:defRPr sz="1200" b="0">
                <a:solidFill>
                  <a:srgbClr val="69778B"/>
                </a:solidFill>
              </a:defRPr>
            </a:lvl9pPr>
          </a:lstStyle>
          <a:p xmlns:a="http://schemas.openxmlformats.org/drawingml/2006/main">
            <a:pPr>
              <a:defRPr sz="1200" b="0">
                <a:solidFill>
                  <a:srgbClr val="69778B"/>
                </a:solidFill>
              </a:defRPr>
            </a:pPr>
            <a:r>
              <a:rPr sz="1200" b="0">
                <a:solidFill>
                  <a:srgbClr val="69778B"/>
                </a:solidFill>
              </a:rPr>
              <a:t>Build 3   /   Public research demonstration   /   21 October 2026</a:t>
            </a:r>
          </a:p>
        </p:txBody>
      </p:sp>
    </p:spTree>
    <p:extLst>
      <p:ext uri="{BB962C8B-B14F-4D97-AF65-F5344CB8AC3E}">
        <p14:creationId xmlns:p14="http://schemas.microsoft.com/office/powerpoint/2010/main" val="132998192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tep">
            <a:extLst xmlns:a="http://schemas.openxmlformats.org/drawingml/2006/main">
              <a:ext uri="{FF2B5EF4-FFF2-40B4-BE49-F238E27FC236}">
                <a16:creationId xmlns:a16="http://schemas.microsoft.com/office/drawing/2014/main" id="{7AF6FD25-7B52-4EE4-9080-C02301EBFC54}"/>
              </a:ext>
            </a:extLst>
          </p:cNvPr>
          <p:cNvSpPr>
            <a:spLocks xmlns:a="http://schemas.openxmlformats.org/drawingml/2006/main" noGrp="1"/>
          </p:cNvSpPr>
          <p:nvPr/>
        </p:nvSpPr>
        <p:spPr>
          <a:xfrm xmlns:a="http://schemas.openxmlformats.org/drawingml/2006/main">
            <a:off x="495300" y="342900"/>
            <a:ext cx="704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087DDF"/>
                </a:solidFill>
              </a:defRPr>
            </a:defPPr>
            <a:lvl1pPr>
              <a:defRPr sz="1800" b="1">
                <a:solidFill>
                  <a:srgbClr val="087DDF"/>
                </a:solidFill>
              </a:defRPr>
            </a:lvl1pPr>
            <a:lvl2pPr>
              <a:defRPr sz="1800" b="1">
                <a:solidFill>
                  <a:srgbClr val="087DDF"/>
                </a:solidFill>
              </a:defRPr>
            </a:lvl2pPr>
            <a:lvl3pPr>
              <a:defRPr sz="1800" b="1">
                <a:solidFill>
                  <a:srgbClr val="087DDF"/>
                </a:solidFill>
              </a:defRPr>
            </a:lvl3pPr>
            <a:lvl4pPr>
              <a:defRPr sz="1800" b="1">
                <a:solidFill>
                  <a:srgbClr val="087DDF"/>
                </a:solidFill>
              </a:defRPr>
            </a:lvl4pPr>
            <a:lvl5pPr>
              <a:defRPr sz="1800" b="1">
                <a:solidFill>
                  <a:srgbClr val="087DDF"/>
                </a:solidFill>
              </a:defRPr>
            </a:lvl5pPr>
            <a:lvl6pPr>
              <a:defRPr sz="1800" b="1">
                <a:solidFill>
                  <a:srgbClr val="087DDF"/>
                </a:solidFill>
              </a:defRPr>
            </a:lvl6pPr>
            <a:lvl7pPr>
              <a:defRPr sz="1800" b="1">
                <a:solidFill>
                  <a:srgbClr val="087DDF"/>
                </a:solidFill>
              </a:defRPr>
            </a:lvl7pPr>
            <a:lvl8pPr>
              <a:defRPr sz="1800" b="1">
                <a:solidFill>
                  <a:srgbClr val="087DDF"/>
                </a:solidFill>
              </a:defRPr>
            </a:lvl8pPr>
            <a:lvl9pPr>
              <a:defRPr sz="1800" b="1">
                <a:solidFill>
                  <a:srgbClr val="087DDF"/>
                </a:solidFill>
              </a:defRPr>
            </a:lvl9pPr>
          </a:lstStyle>
          <a:p xmlns:a="http://schemas.openxmlformats.org/drawingml/2006/main">
            <a:pPr>
              <a:defRPr sz="1800" b="1">
                <a:solidFill>
                  <a:srgbClr val="087DDF"/>
                </a:solidFill>
              </a:defRPr>
            </a:pPr>
            <a:r>
              <a:rPr sz="1800" b="1">
                <a:solidFill>
                  <a:srgbClr val="087DDF"/>
                </a:solidFill>
              </a:rPr>
              <a:t>03</a:t>
            </a:r>
          </a:p>
        </p:txBody>
      </p:sp>
      <p:sp>
        <p:nvSpPr>
          <p:cNvPr id="3" name="Title">
            <a:extLst xmlns:a="http://schemas.openxmlformats.org/drawingml/2006/main">
              <a:ext uri="{FF2B5EF4-FFF2-40B4-BE49-F238E27FC236}">
                <a16:creationId xmlns:a16="http://schemas.microsoft.com/office/drawing/2014/main" id="{ACB7B66A-7C80-493B-A49A-CBF668CDFD3B}"/>
              </a:ext>
            </a:extLst>
          </p:cNvPr>
          <p:cNvSpPr>
            <a:spLocks xmlns:a="http://schemas.openxmlformats.org/drawingml/2006/main" noGrp="1"/>
          </p:cNvSpPr>
          <p:nvPr/>
        </p:nvSpPr>
        <p:spPr>
          <a:xfrm xmlns:a="http://schemas.openxmlformats.org/drawingml/2006/main">
            <a:off x="495300" y="762000"/>
            <a:ext cx="1104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744"/>
                </a:solidFill>
              </a:defRPr>
            </a:defPPr>
            <a:lvl1pPr>
              <a:defRPr sz="3300" b="1">
                <a:solidFill>
                  <a:srgbClr val="102744"/>
                </a:solidFill>
              </a:defRPr>
            </a:lvl1pPr>
            <a:lvl2pPr>
              <a:defRPr sz="3300" b="1">
                <a:solidFill>
                  <a:srgbClr val="102744"/>
                </a:solidFill>
              </a:defRPr>
            </a:lvl2pPr>
            <a:lvl3pPr>
              <a:defRPr sz="3300" b="1">
                <a:solidFill>
                  <a:srgbClr val="102744"/>
                </a:solidFill>
              </a:defRPr>
            </a:lvl3pPr>
            <a:lvl4pPr>
              <a:defRPr sz="3300" b="1">
                <a:solidFill>
                  <a:srgbClr val="102744"/>
                </a:solidFill>
              </a:defRPr>
            </a:lvl4pPr>
            <a:lvl5pPr>
              <a:defRPr sz="3300" b="1">
                <a:solidFill>
                  <a:srgbClr val="102744"/>
                </a:solidFill>
              </a:defRPr>
            </a:lvl5pPr>
            <a:lvl6pPr>
              <a:defRPr sz="3300" b="1">
                <a:solidFill>
                  <a:srgbClr val="102744"/>
                </a:solidFill>
              </a:defRPr>
            </a:lvl6pPr>
            <a:lvl7pPr>
              <a:defRPr sz="3300" b="1">
                <a:solidFill>
                  <a:srgbClr val="102744"/>
                </a:solidFill>
              </a:defRPr>
            </a:lvl7pPr>
            <a:lvl8pPr>
              <a:defRPr sz="3300" b="1">
                <a:solidFill>
                  <a:srgbClr val="102744"/>
                </a:solidFill>
              </a:defRPr>
            </a:lvl8pPr>
            <a:lvl9pPr>
              <a:defRPr sz="3300" b="1">
                <a:solidFill>
                  <a:srgbClr val="102744"/>
                </a:solidFill>
              </a:defRPr>
            </a:lvl9pPr>
          </a:lstStyle>
          <a:p xmlns:a="http://schemas.openxmlformats.org/drawingml/2006/main">
            <a:pPr>
              <a:defRPr sz="3300" b="1">
                <a:solidFill>
                  <a:srgbClr val="102744"/>
                </a:solidFill>
              </a:defRPr>
            </a:pPr>
            <a:r>
              <a:rPr sz="3300" b="1">
                <a:solidFill>
                  <a:srgbClr val="102744"/>
                </a:solidFill>
              </a:rPr>
              <a:t>A dedicated research project</a:t>
            </a:r>
          </a:p>
        </p:txBody>
      </p:sp>
      <p:sp>
        <p:nvSpPr>
          <p:cNvPr id="4" name="Body">
            <a:extLst xmlns:a="http://schemas.openxmlformats.org/drawingml/2006/main">
              <a:ext uri="{FF2B5EF4-FFF2-40B4-BE49-F238E27FC236}">
                <a16:creationId xmlns:a16="http://schemas.microsoft.com/office/drawing/2014/main" id="{D1C4DC4C-3F3F-41E9-9BDD-5555E6C1A85B}"/>
              </a:ext>
            </a:extLst>
          </p:cNvPr>
          <p:cNvSpPr>
            <a:spLocks xmlns:a="http://schemas.openxmlformats.org/drawingml/2006/main" noGrp="1"/>
          </p:cNvSpPr>
          <p:nvPr/>
        </p:nvSpPr>
        <p:spPr>
          <a:xfrm xmlns:a="http://schemas.openxmlformats.org/drawingml/2006/main">
            <a:off x="495300" y="1847850"/>
            <a:ext cx="2857500" cy="409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25354B"/>
                </a:solidFill>
              </a:defRPr>
            </a:defPPr>
            <a:lvl1pPr>
              <a:defRPr sz="1800" b="0">
                <a:solidFill>
                  <a:srgbClr val="25354B"/>
                </a:solidFill>
              </a:defRPr>
            </a:lvl1pPr>
            <a:lvl2pPr>
              <a:defRPr sz="1800" b="0">
                <a:solidFill>
                  <a:srgbClr val="25354B"/>
                </a:solidFill>
              </a:defRPr>
            </a:lvl2pPr>
            <a:lvl3pPr>
              <a:defRPr sz="1800" b="0">
                <a:solidFill>
                  <a:srgbClr val="25354B"/>
                </a:solidFill>
              </a:defRPr>
            </a:lvl3pPr>
            <a:lvl4pPr>
              <a:defRPr sz="1800" b="0">
                <a:solidFill>
                  <a:srgbClr val="25354B"/>
                </a:solidFill>
              </a:defRPr>
            </a:lvl4pPr>
            <a:lvl5pPr>
              <a:defRPr sz="1800" b="0">
                <a:solidFill>
                  <a:srgbClr val="25354B"/>
                </a:solidFill>
              </a:defRPr>
            </a:lvl5pPr>
            <a:lvl6pPr>
              <a:defRPr sz="1800" b="0">
                <a:solidFill>
                  <a:srgbClr val="25354B"/>
                </a:solidFill>
              </a:defRPr>
            </a:lvl6pPr>
            <a:lvl7pPr>
              <a:defRPr sz="1800" b="0">
                <a:solidFill>
                  <a:srgbClr val="25354B"/>
                </a:solidFill>
              </a:defRPr>
            </a:lvl7pPr>
            <a:lvl8pPr>
              <a:defRPr sz="1800" b="0">
                <a:solidFill>
                  <a:srgbClr val="25354B"/>
                </a:solidFill>
              </a:defRPr>
            </a:lvl8pPr>
            <a:lvl9pPr>
              <a:defRPr sz="1800" b="0">
                <a:solidFill>
                  <a:srgbClr val="25354B"/>
                </a:solidFill>
              </a:defRPr>
            </a:lvl9pPr>
          </a:lstStyle>
          <a:p xmlns:a="http://schemas.openxmlformats.org/drawingml/2006/main">
            <a:pPr>
              <a:defRPr sz="1800" b="0">
                <a:solidFill>
                  <a:srgbClr val="25354B"/>
                </a:solidFill>
              </a:defRPr>
            </a:pPr>
            <a:r>
              <a:rPr sz="1800" b="0">
                <a:solidFill>
                  <a:srgbClr val="25354B"/>
                </a:solidFill>
              </a:rPr>
              <a:t>Open Projects and choose Create.</a:t>
            </a:r>
          </a:p>
          <a:p xmlns:a="http://schemas.openxmlformats.org/drawingml/2006/main">
            <a:r>
              <a:t/>
            </a:r>
          </a:p>
          <a:p xmlns:a="http://schemas.openxmlformats.org/drawingml/2006/main">
            <a:pPr>
              <a:defRPr sz="1800" b="0">
                <a:solidFill>
                  <a:srgbClr val="25354B"/>
                </a:solidFill>
              </a:defRPr>
            </a:pPr>
            <a:r>
              <a:rPr sz="1800" b="0">
                <a:solidFill>
                  <a:srgbClr val="25354B"/>
                </a:solidFill>
              </a:rPr>
              <a:t>Name the project clearly, then click Create project.</a:t>
            </a:r>
          </a:p>
          <a:p xmlns:a="http://schemas.openxmlformats.org/drawingml/2006/main">
            <a:r>
              <a:t/>
            </a:r>
          </a:p>
          <a:p xmlns:a="http://schemas.openxmlformats.org/drawingml/2006/main">
            <a:pPr>
              <a:defRPr sz="1800" b="0">
                <a:solidFill>
                  <a:srgbClr val="25354B"/>
                </a:solidFill>
              </a:defRPr>
            </a:pPr>
            <a:r>
              <a:rPr sz="1800" b="0">
                <a:solidFill>
                  <a:srgbClr val="25354B"/>
                </a:solidFill>
              </a:rPr>
              <a:t>Keep the prompt and research conversation together.</a:t>
            </a:r>
          </a:p>
        </p:txBody>
      </p:sp>
      <p:pic>
        <p:nvPicPr>
          <p:cNvPr id="5" name="">
            <a:extLst xmlns:a="http://schemas.openxmlformats.org/drawingml/2006/main">
              <a:ext uri="{FF2B5EF4-FFF2-40B4-BE49-F238E27FC236}">
                <a16:creationId xmlns:a16="http://schemas.microsoft.com/office/drawing/2014/main" id="{A9E05618-196B-47B0-90C6-33AFEDE51DE9}"/>
              </a:ext>
            </a:extLst>
          </p:cNvPr>
          <p:cNvPicPr>
            <a:picLocks xmlns:a="http://schemas.openxmlformats.org/drawingml/2006/main" noChangeAspect="1"/>
          </p:cNvPicPr>
          <p:nvPr/>
        </p:nvPicPr>
        <p:blipFill>
          <a:blip xmlns:r="http://schemas.openxmlformats.org/officeDocument/2006/relationships" xmlns:a="http://schemas.openxmlformats.org/drawingml/2006/main" r:embed="Rac0eb32b8d1b4955"/>
          <a:stretch xmlns:a="http://schemas.openxmlformats.org/drawingml/2006/main"/>
        </p:blipFill>
        <p:spPr>
          <a:xfrm xmlns:a="http://schemas.openxmlformats.org/drawingml/2006/main">
            <a:off x="3925138" y="1666875"/>
            <a:ext cx="7532598" cy="3905250"/>
          </a:xfrm>
          <a:prstGeom xmlns:a="http://schemas.openxmlformats.org/drawingml/2006/main" prst="rect">
            <a:avLst/>
          </a:prstGeom>
        </p:spPr>
      </p:pic>
      <p:sp>
        <p:nvSpPr>
          <p:cNvPr id="6" name="Caption">
            <a:extLst xmlns:a="http://schemas.openxmlformats.org/drawingml/2006/main">
              <a:ext uri="{FF2B5EF4-FFF2-40B4-BE49-F238E27FC236}">
                <a16:creationId xmlns:a16="http://schemas.microsoft.com/office/drawing/2014/main" id="{59B06910-364B-4362-B248-852A84C47AF0}"/>
              </a:ext>
            </a:extLst>
          </p:cNvPr>
          <p:cNvSpPr>
            <a:spLocks xmlns:a="http://schemas.openxmlformats.org/drawingml/2006/main" noGrp="1"/>
          </p:cNvSpPr>
          <p:nvPr/>
        </p:nvSpPr>
        <p:spPr>
          <a:xfrm xmlns:a="http://schemas.openxmlformats.org/drawingml/2006/main">
            <a:off x="3714750" y="5810250"/>
            <a:ext cx="79533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0">
                <a:solidFill>
                  <a:srgbClr val="087DDF"/>
                </a:solidFill>
              </a:defRPr>
            </a:defPPr>
            <a:lvl1pPr>
              <a:defRPr sz="1425" b="0">
                <a:solidFill>
                  <a:srgbClr val="087DDF"/>
                </a:solidFill>
              </a:defRPr>
            </a:lvl1pPr>
            <a:lvl2pPr>
              <a:defRPr sz="1425" b="0">
                <a:solidFill>
                  <a:srgbClr val="087DDF"/>
                </a:solidFill>
              </a:defRPr>
            </a:lvl2pPr>
            <a:lvl3pPr>
              <a:defRPr sz="1425" b="0">
                <a:solidFill>
                  <a:srgbClr val="087DDF"/>
                </a:solidFill>
              </a:defRPr>
            </a:lvl3pPr>
            <a:lvl4pPr>
              <a:defRPr sz="1425" b="0">
                <a:solidFill>
                  <a:srgbClr val="087DDF"/>
                </a:solidFill>
              </a:defRPr>
            </a:lvl4pPr>
            <a:lvl5pPr>
              <a:defRPr sz="1425" b="0">
                <a:solidFill>
                  <a:srgbClr val="087DDF"/>
                </a:solidFill>
              </a:defRPr>
            </a:lvl5pPr>
            <a:lvl6pPr>
              <a:defRPr sz="1425" b="0">
                <a:solidFill>
                  <a:srgbClr val="087DDF"/>
                </a:solidFill>
              </a:defRPr>
            </a:lvl6pPr>
            <a:lvl7pPr>
              <a:defRPr sz="1425" b="0">
                <a:solidFill>
                  <a:srgbClr val="087DDF"/>
                </a:solidFill>
              </a:defRPr>
            </a:lvl7pPr>
            <a:lvl8pPr>
              <a:defRPr sz="1425" b="0">
                <a:solidFill>
                  <a:srgbClr val="087DDF"/>
                </a:solidFill>
              </a:defRPr>
            </a:lvl8pPr>
            <a:lvl9pPr>
              <a:defRPr sz="1425" b="0">
                <a:solidFill>
                  <a:srgbClr val="087DDF"/>
                </a:solidFill>
              </a:defRPr>
            </a:lvl9pPr>
          </a:lstStyle>
          <a:p xmlns:a="http://schemas.openxmlformats.org/drawingml/2006/main">
            <a:pPr>
              <a:defRPr sz="1425" b="0">
                <a:solidFill>
                  <a:srgbClr val="087DDF"/>
                </a:solidFill>
              </a:defRPr>
            </a:pPr>
            <a:r>
              <a:rPr sz="1425" b="0">
                <a:solidFill>
                  <a:srgbClr val="087DDF"/>
                </a:solidFill>
              </a:rPr>
              <a:t>Project name: Build 3 — Public Signals Research Walkthrough</a:t>
            </a:r>
          </a:p>
        </p:txBody>
      </p:sp>
      <p:sp>
        <p:nvSpPr>
          <p:cNvPr id="7" name="Footer">
            <a:extLst xmlns:a="http://schemas.openxmlformats.org/drawingml/2006/main">
              <a:ext uri="{FF2B5EF4-FFF2-40B4-BE49-F238E27FC236}">
                <a16:creationId xmlns:a16="http://schemas.microsoft.com/office/drawing/2014/main" id="{CAE789C3-8207-4EB4-9580-FF8D45CA4440}"/>
              </a:ext>
            </a:extLst>
          </p:cNvPr>
          <p:cNvSpPr>
            <a:spLocks xmlns:a="http://schemas.openxmlformats.org/drawingml/2006/main" noGrp="1"/>
          </p:cNvSpPr>
          <p:nvPr/>
        </p:nvSpPr>
        <p:spPr>
          <a:xfrm xmlns:a="http://schemas.openxmlformats.org/drawingml/2006/main">
            <a:off x="495300" y="6419850"/>
            <a:ext cx="10953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9778B"/>
                </a:solidFill>
              </a:defRPr>
            </a:defPPr>
            <a:lvl1pPr>
              <a:defRPr sz="1200" b="0">
                <a:solidFill>
                  <a:srgbClr val="69778B"/>
                </a:solidFill>
              </a:defRPr>
            </a:lvl1pPr>
            <a:lvl2pPr>
              <a:defRPr sz="1200" b="0">
                <a:solidFill>
                  <a:srgbClr val="69778B"/>
                </a:solidFill>
              </a:defRPr>
            </a:lvl2pPr>
            <a:lvl3pPr>
              <a:defRPr sz="1200" b="0">
                <a:solidFill>
                  <a:srgbClr val="69778B"/>
                </a:solidFill>
              </a:defRPr>
            </a:lvl3pPr>
            <a:lvl4pPr>
              <a:defRPr sz="1200" b="0">
                <a:solidFill>
                  <a:srgbClr val="69778B"/>
                </a:solidFill>
              </a:defRPr>
            </a:lvl4pPr>
            <a:lvl5pPr>
              <a:defRPr sz="1200" b="0">
                <a:solidFill>
                  <a:srgbClr val="69778B"/>
                </a:solidFill>
              </a:defRPr>
            </a:lvl5pPr>
            <a:lvl6pPr>
              <a:defRPr sz="1200" b="0">
                <a:solidFill>
                  <a:srgbClr val="69778B"/>
                </a:solidFill>
              </a:defRPr>
            </a:lvl6pPr>
            <a:lvl7pPr>
              <a:defRPr sz="1200" b="0">
                <a:solidFill>
                  <a:srgbClr val="69778B"/>
                </a:solidFill>
              </a:defRPr>
            </a:lvl7pPr>
            <a:lvl8pPr>
              <a:defRPr sz="1200" b="0">
                <a:solidFill>
                  <a:srgbClr val="69778B"/>
                </a:solidFill>
              </a:defRPr>
            </a:lvl8pPr>
            <a:lvl9pPr>
              <a:defRPr sz="1200" b="0">
                <a:solidFill>
                  <a:srgbClr val="69778B"/>
                </a:solidFill>
              </a:defRPr>
            </a:lvl9pPr>
          </a:lstStyle>
          <a:p xmlns:a="http://schemas.openxmlformats.org/drawingml/2006/main">
            <a:pPr>
              <a:defRPr sz="1200" b="0">
                <a:solidFill>
                  <a:srgbClr val="69778B"/>
                </a:solidFill>
              </a:defRPr>
            </a:pPr>
            <a:r>
              <a:rPr sz="1200" b="0">
                <a:solidFill>
                  <a:srgbClr val="69778B"/>
                </a:solidFill>
              </a:rPr>
              <a:t>Build 3   /   Public research demonstration   /   21 October 2026</a:t>
            </a:r>
          </a:p>
        </p:txBody>
      </p:sp>
    </p:spTree>
    <p:extLst>
      <p:ext uri="{BB962C8B-B14F-4D97-AF65-F5344CB8AC3E}">
        <p14:creationId xmlns:p14="http://schemas.microsoft.com/office/powerpoint/2010/main" val="31095303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tep">
            <a:extLst xmlns:a="http://schemas.openxmlformats.org/drawingml/2006/main">
              <a:ext uri="{FF2B5EF4-FFF2-40B4-BE49-F238E27FC236}">
                <a16:creationId xmlns:a16="http://schemas.microsoft.com/office/drawing/2014/main" id="{FC63688D-3064-41A9-9849-667E45B2D964}"/>
              </a:ext>
            </a:extLst>
          </p:cNvPr>
          <p:cNvSpPr>
            <a:spLocks xmlns:a="http://schemas.openxmlformats.org/drawingml/2006/main" noGrp="1"/>
          </p:cNvSpPr>
          <p:nvPr/>
        </p:nvSpPr>
        <p:spPr>
          <a:xfrm xmlns:a="http://schemas.openxmlformats.org/drawingml/2006/main">
            <a:off x="495300" y="342900"/>
            <a:ext cx="704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087DDF"/>
                </a:solidFill>
              </a:defRPr>
            </a:defPPr>
            <a:lvl1pPr>
              <a:defRPr sz="1800" b="1">
                <a:solidFill>
                  <a:srgbClr val="087DDF"/>
                </a:solidFill>
              </a:defRPr>
            </a:lvl1pPr>
            <a:lvl2pPr>
              <a:defRPr sz="1800" b="1">
                <a:solidFill>
                  <a:srgbClr val="087DDF"/>
                </a:solidFill>
              </a:defRPr>
            </a:lvl2pPr>
            <a:lvl3pPr>
              <a:defRPr sz="1800" b="1">
                <a:solidFill>
                  <a:srgbClr val="087DDF"/>
                </a:solidFill>
              </a:defRPr>
            </a:lvl3pPr>
            <a:lvl4pPr>
              <a:defRPr sz="1800" b="1">
                <a:solidFill>
                  <a:srgbClr val="087DDF"/>
                </a:solidFill>
              </a:defRPr>
            </a:lvl4pPr>
            <a:lvl5pPr>
              <a:defRPr sz="1800" b="1">
                <a:solidFill>
                  <a:srgbClr val="087DDF"/>
                </a:solidFill>
              </a:defRPr>
            </a:lvl5pPr>
            <a:lvl6pPr>
              <a:defRPr sz="1800" b="1">
                <a:solidFill>
                  <a:srgbClr val="087DDF"/>
                </a:solidFill>
              </a:defRPr>
            </a:lvl6pPr>
            <a:lvl7pPr>
              <a:defRPr sz="1800" b="1">
                <a:solidFill>
                  <a:srgbClr val="087DDF"/>
                </a:solidFill>
              </a:defRPr>
            </a:lvl7pPr>
            <a:lvl8pPr>
              <a:defRPr sz="1800" b="1">
                <a:solidFill>
                  <a:srgbClr val="087DDF"/>
                </a:solidFill>
              </a:defRPr>
            </a:lvl8pPr>
            <a:lvl9pPr>
              <a:defRPr sz="1800" b="1">
                <a:solidFill>
                  <a:srgbClr val="087DDF"/>
                </a:solidFill>
              </a:defRPr>
            </a:lvl9pPr>
          </a:lstStyle>
          <a:p xmlns:a="http://schemas.openxmlformats.org/drawingml/2006/main">
            <a:pPr>
              <a:defRPr sz="1800" b="1">
                <a:solidFill>
                  <a:srgbClr val="087DDF"/>
                </a:solidFill>
              </a:defRPr>
            </a:pPr>
            <a:r>
              <a:rPr sz="1800" b="1">
                <a:solidFill>
                  <a:srgbClr val="087DDF"/>
                </a:solidFill>
              </a:rPr>
              <a:t>04</a:t>
            </a:r>
          </a:p>
        </p:txBody>
      </p:sp>
      <p:sp>
        <p:nvSpPr>
          <p:cNvPr id="3" name="Title">
            <a:extLst xmlns:a="http://schemas.openxmlformats.org/drawingml/2006/main">
              <a:ext uri="{FF2B5EF4-FFF2-40B4-BE49-F238E27FC236}">
                <a16:creationId xmlns:a16="http://schemas.microsoft.com/office/drawing/2014/main" id="{802DFA76-61A0-4717-BC77-5DF0AD096248}"/>
              </a:ext>
            </a:extLst>
          </p:cNvPr>
          <p:cNvSpPr>
            <a:spLocks xmlns:a="http://schemas.openxmlformats.org/drawingml/2006/main" noGrp="1"/>
          </p:cNvSpPr>
          <p:nvPr/>
        </p:nvSpPr>
        <p:spPr>
          <a:xfrm xmlns:a="http://schemas.openxmlformats.org/drawingml/2006/main">
            <a:off x="495300" y="762000"/>
            <a:ext cx="1104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744"/>
                </a:solidFill>
              </a:defRPr>
            </a:defPPr>
            <a:lvl1pPr>
              <a:defRPr sz="3300" b="1">
                <a:solidFill>
                  <a:srgbClr val="102744"/>
                </a:solidFill>
              </a:defRPr>
            </a:lvl1pPr>
            <a:lvl2pPr>
              <a:defRPr sz="3300" b="1">
                <a:solidFill>
                  <a:srgbClr val="102744"/>
                </a:solidFill>
              </a:defRPr>
            </a:lvl2pPr>
            <a:lvl3pPr>
              <a:defRPr sz="3300" b="1">
                <a:solidFill>
                  <a:srgbClr val="102744"/>
                </a:solidFill>
              </a:defRPr>
            </a:lvl3pPr>
            <a:lvl4pPr>
              <a:defRPr sz="3300" b="1">
                <a:solidFill>
                  <a:srgbClr val="102744"/>
                </a:solidFill>
              </a:defRPr>
            </a:lvl4pPr>
            <a:lvl5pPr>
              <a:defRPr sz="3300" b="1">
                <a:solidFill>
                  <a:srgbClr val="102744"/>
                </a:solidFill>
              </a:defRPr>
            </a:lvl5pPr>
            <a:lvl6pPr>
              <a:defRPr sz="3300" b="1">
                <a:solidFill>
                  <a:srgbClr val="102744"/>
                </a:solidFill>
              </a:defRPr>
            </a:lvl6pPr>
            <a:lvl7pPr>
              <a:defRPr sz="3300" b="1">
                <a:solidFill>
                  <a:srgbClr val="102744"/>
                </a:solidFill>
              </a:defRPr>
            </a:lvl7pPr>
            <a:lvl8pPr>
              <a:defRPr sz="3300" b="1">
                <a:solidFill>
                  <a:srgbClr val="102744"/>
                </a:solidFill>
              </a:defRPr>
            </a:lvl8pPr>
            <a:lvl9pPr>
              <a:defRPr sz="3300" b="1">
                <a:solidFill>
                  <a:srgbClr val="102744"/>
                </a:solidFill>
              </a:defRPr>
            </a:lvl9pPr>
          </a:lstStyle>
          <a:p xmlns:a="http://schemas.openxmlformats.org/drawingml/2006/main">
            <a:pPr>
              <a:defRPr sz="3300" b="1">
                <a:solidFill>
                  <a:srgbClr val="102744"/>
                </a:solidFill>
              </a:defRPr>
            </a:pPr>
            <a:r>
              <a:rPr sz="3300" b="1">
                <a:solidFill>
                  <a:srgbClr val="102744"/>
                </a:solidFill>
              </a:rPr>
              <a:t>The workflow upload</a:t>
            </a:r>
          </a:p>
        </p:txBody>
      </p:sp>
      <p:sp>
        <p:nvSpPr>
          <p:cNvPr id="4" name="Body">
            <a:extLst xmlns:a="http://schemas.openxmlformats.org/drawingml/2006/main">
              <a:ext uri="{FF2B5EF4-FFF2-40B4-BE49-F238E27FC236}">
                <a16:creationId xmlns:a16="http://schemas.microsoft.com/office/drawing/2014/main" id="{FA25E244-E135-43F2-92E0-F47109C5E7CE}"/>
              </a:ext>
            </a:extLst>
          </p:cNvPr>
          <p:cNvSpPr>
            <a:spLocks xmlns:a="http://schemas.openxmlformats.org/drawingml/2006/main" noGrp="1"/>
          </p:cNvSpPr>
          <p:nvPr/>
        </p:nvSpPr>
        <p:spPr>
          <a:xfrm xmlns:a="http://schemas.openxmlformats.org/drawingml/2006/main">
            <a:off x="495300" y="1847850"/>
            <a:ext cx="2857500" cy="409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25354B"/>
                </a:solidFill>
              </a:defRPr>
            </a:defPPr>
            <a:lvl1pPr>
              <a:defRPr sz="1800" b="0">
                <a:solidFill>
                  <a:srgbClr val="25354B"/>
                </a:solidFill>
              </a:defRPr>
            </a:lvl1pPr>
            <a:lvl2pPr>
              <a:defRPr sz="1800" b="0">
                <a:solidFill>
                  <a:srgbClr val="25354B"/>
                </a:solidFill>
              </a:defRPr>
            </a:lvl2pPr>
            <a:lvl3pPr>
              <a:defRPr sz="1800" b="0">
                <a:solidFill>
                  <a:srgbClr val="25354B"/>
                </a:solidFill>
              </a:defRPr>
            </a:lvl3pPr>
            <a:lvl4pPr>
              <a:defRPr sz="1800" b="0">
                <a:solidFill>
                  <a:srgbClr val="25354B"/>
                </a:solidFill>
              </a:defRPr>
            </a:lvl4pPr>
            <a:lvl5pPr>
              <a:defRPr sz="1800" b="0">
                <a:solidFill>
                  <a:srgbClr val="25354B"/>
                </a:solidFill>
              </a:defRPr>
            </a:lvl5pPr>
            <a:lvl6pPr>
              <a:defRPr sz="1800" b="0">
                <a:solidFill>
                  <a:srgbClr val="25354B"/>
                </a:solidFill>
              </a:defRPr>
            </a:lvl6pPr>
            <a:lvl7pPr>
              <a:defRPr sz="1800" b="0">
                <a:solidFill>
                  <a:srgbClr val="25354B"/>
                </a:solidFill>
              </a:defRPr>
            </a:lvl7pPr>
            <a:lvl8pPr>
              <a:defRPr sz="1800" b="0">
                <a:solidFill>
                  <a:srgbClr val="25354B"/>
                </a:solidFill>
              </a:defRPr>
            </a:lvl8pPr>
            <a:lvl9pPr>
              <a:defRPr sz="1800" b="0">
                <a:solidFill>
                  <a:srgbClr val="25354B"/>
                </a:solidFill>
              </a:defRPr>
            </a:lvl9pPr>
          </a:lstStyle>
          <a:p xmlns:a="http://schemas.openxmlformats.org/drawingml/2006/main">
            <a:pPr>
              <a:defRPr sz="1800" b="0">
                <a:solidFill>
                  <a:srgbClr val="25354B"/>
                </a:solidFill>
              </a:defRPr>
            </a:pPr>
            <a:r>
              <a:rPr sz="1800" b="0">
                <a:solidFill>
                  <a:srgbClr val="25354B"/>
                </a:solidFill>
              </a:rPr>
              <a:t>Open Sources, then Add sources.</a:t>
            </a:r>
          </a:p>
          <a:p xmlns:a="http://schemas.openxmlformats.org/drawingml/2006/main">
            <a:r>
              <a:t/>
            </a:r>
          </a:p>
          <a:p xmlns:a="http://schemas.openxmlformats.org/drawingml/2006/main">
            <a:pPr>
              <a:defRPr sz="1800" b="0">
                <a:solidFill>
                  <a:srgbClr val="25354B"/>
                </a:solidFill>
              </a:defRPr>
            </a:pPr>
            <a:r>
              <a:rPr sz="1800" b="0">
                <a:solidFill>
                  <a:srgbClr val="25354B"/>
                </a:solidFill>
              </a:rPr>
              <a:t>Choose Upload and select Build3_Prompts.docx.</a:t>
            </a:r>
          </a:p>
          <a:p xmlns:a="http://schemas.openxmlformats.org/drawingml/2006/main">
            <a:r>
              <a:t/>
            </a:r>
          </a:p>
          <a:p xmlns:a="http://schemas.openxmlformats.org/drawingml/2006/main">
            <a:pPr>
              <a:defRPr sz="1800" b="0">
                <a:solidFill>
                  <a:srgbClr val="25354B"/>
                </a:solidFill>
              </a:defRPr>
            </a:pPr>
            <a:r>
              <a:rPr sz="1800" b="0">
                <a:solidFill>
                  <a:srgbClr val="25354B"/>
                </a:solidFill>
              </a:rPr>
              <a:t>Wait for the upload to finish.</a:t>
            </a:r>
          </a:p>
        </p:txBody>
      </p:sp>
      <p:pic>
        <p:nvPicPr>
          <p:cNvPr id="5" name="">
            <a:extLst xmlns:a="http://schemas.openxmlformats.org/drawingml/2006/main">
              <a:ext uri="{FF2B5EF4-FFF2-40B4-BE49-F238E27FC236}">
                <a16:creationId xmlns:a16="http://schemas.microsoft.com/office/drawing/2014/main" id="{62D60869-4358-46F0-B20A-85721D1C3F95}"/>
              </a:ext>
            </a:extLst>
          </p:cNvPr>
          <p:cNvPicPr>
            <a:picLocks xmlns:a="http://schemas.openxmlformats.org/drawingml/2006/main" noChangeAspect="1"/>
          </p:cNvPicPr>
          <p:nvPr/>
        </p:nvPicPr>
        <p:blipFill>
          <a:blip xmlns:r="http://schemas.openxmlformats.org/officeDocument/2006/relationships" xmlns:a="http://schemas.openxmlformats.org/drawingml/2006/main" r:embed="R11dd239c7d8a40cb"/>
          <a:stretch xmlns:a="http://schemas.openxmlformats.org/drawingml/2006/main"/>
        </p:blipFill>
        <p:spPr>
          <a:xfrm xmlns:a="http://schemas.openxmlformats.org/drawingml/2006/main">
            <a:off x="5829212" y="1666875"/>
            <a:ext cx="3724451" cy="3905250"/>
          </a:xfrm>
          <a:prstGeom xmlns:a="http://schemas.openxmlformats.org/drawingml/2006/main" prst="rect">
            <a:avLst/>
          </a:prstGeom>
        </p:spPr>
      </p:pic>
      <p:sp>
        <p:nvSpPr>
          <p:cNvPr id="6" name="Caption">
            <a:extLst xmlns:a="http://schemas.openxmlformats.org/drawingml/2006/main">
              <a:ext uri="{FF2B5EF4-FFF2-40B4-BE49-F238E27FC236}">
                <a16:creationId xmlns:a16="http://schemas.microsoft.com/office/drawing/2014/main" id="{1A16C149-C00D-47DB-B21F-74E4C7BA5891}"/>
              </a:ext>
            </a:extLst>
          </p:cNvPr>
          <p:cNvSpPr>
            <a:spLocks xmlns:a="http://schemas.openxmlformats.org/drawingml/2006/main" noGrp="1"/>
          </p:cNvSpPr>
          <p:nvPr/>
        </p:nvSpPr>
        <p:spPr>
          <a:xfrm xmlns:a="http://schemas.openxmlformats.org/drawingml/2006/main">
            <a:off x="3714750" y="5810250"/>
            <a:ext cx="79533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0">
                <a:solidFill>
                  <a:srgbClr val="087DDF"/>
                </a:solidFill>
              </a:defRPr>
            </a:defPPr>
            <a:lvl1pPr>
              <a:defRPr sz="1425" b="0">
                <a:solidFill>
                  <a:srgbClr val="087DDF"/>
                </a:solidFill>
              </a:defRPr>
            </a:lvl1pPr>
            <a:lvl2pPr>
              <a:defRPr sz="1425" b="0">
                <a:solidFill>
                  <a:srgbClr val="087DDF"/>
                </a:solidFill>
              </a:defRPr>
            </a:lvl2pPr>
            <a:lvl3pPr>
              <a:defRPr sz="1425" b="0">
                <a:solidFill>
                  <a:srgbClr val="087DDF"/>
                </a:solidFill>
              </a:defRPr>
            </a:lvl3pPr>
            <a:lvl4pPr>
              <a:defRPr sz="1425" b="0">
                <a:solidFill>
                  <a:srgbClr val="087DDF"/>
                </a:solidFill>
              </a:defRPr>
            </a:lvl4pPr>
            <a:lvl5pPr>
              <a:defRPr sz="1425" b="0">
                <a:solidFill>
                  <a:srgbClr val="087DDF"/>
                </a:solidFill>
              </a:defRPr>
            </a:lvl5pPr>
            <a:lvl6pPr>
              <a:defRPr sz="1425" b="0">
                <a:solidFill>
                  <a:srgbClr val="087DDF"/>
                </a:solidFill>
              </a:defRPr>
            </a:lvl6pPr>
            <a:lvl7pPr>
              <a:defRPr sz="1425" b="0">
                <a:solidFill>
                  <a:srgbClr val="087DDF"/>
                </a:solidFill>
              </a:defRPr>
            </a:lvl7pPr>
            <a:lvl8pPr>
              <a:defRPr sz="1425" b="0">
                <a:solidFill>
                  <a:srgbClr val="087DDF"/>
                </a:solidFill>
              </a:defRPr>
            </a:lvl8pPr>
            <a:lvl9pPr>
              <a:defRPr sz="1425" b="0">
                <a:solidFill>
                  <a:srgbClr val="087DDF"/>
                </a:solidFill>
              </a:defRPr>
            </a:lvl9pPr>
          </a:lstStyle>
          <a:p xmlns:a="http://schemas.openxmlformats.org/drawingml/2006/main">
            <a:pPr>
              <a:defRPr sz="1425" b="0">
                <a:solidFill>
                  <a:srgbClr val="087DDF"/>
                </a:solidFill>
              </a:defRPr>
            </a:pPr>
            <a:r>
              <a:rPr sz="1425" b="0">
                <a:solidFill>
                  <a:srgbClr val="087DDF"/>
                </a:solidFill>
              </a:rPr>
              <a:t>Upload the complete prompt so all scoring and evidence rules are available.</a:t>
            </a:r>
          </a:p>
        </p:txBody>
      </p:sp>
      <p:sp>
        <p:nvSpPr>
          <p:cNvPr id="7" name="Footer">
            <a:extLst xmlns:a="http://schemas.openxmlformats.org/drawingml/2006/main">
              <a:ext uri="{FF2B5EF4-FFF2-40B4-BE49-F238E27FC236}">
                <a16:creationId xmlns:a16="http://schemas.microsoft.com/office/drawing/2014/main" id="{E2BEF323-9B6A-4E93-9BBB-27541EA975E0}"/>
              </a:ext>
            </a:extLst>
          </p:cNvPr>
          <p:cNvSpPr>
            <a:spLocks xmlns:a="http://schemas.openxmlformats.org/drawingml/2006/main" noGrp="1"/>
          </p:cNvSpPr>
          <p:nvPr/>
        </p:nvSpPr>
        <p:spPr>
          <a:xfrm xmlns:a="http://schemas.openxmlformats.org/drawingml/2006/main">
            <a:off x="495300" y="6419850"/>
            <a:ext cx="10953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9778B"/>
                </a:solidFill>
              </a:defRPr>
            </a:defPPr>
            <a:lvl1pPr>
              <a:defRPr sz="1200" b="0">
                <a:solidFill>
                  <a:srgbClr val="69778B"/>
                </a:solidFill>
              </a:defRPr>
            </a:lvl1pPr>
            <a:lvl2pPr>
              <a:defRPr sz="1200" b="0">
                <a:solidFill>
                  <a:srgbClr val="69778B"/>
                </a:solidFill>
              </a:defRPr>
            </a:lvl2pPr>
            <a:lvl3pPr>
              <a:defRPr sz="1200" b="0">
                <a:solidFill>
                  <a:srgbClr val="69778B"/>
                </a:solidFill>
              </a:defRPr>
            </a:lvl3pPr>
            <a:lvl4pPr>
              <a:defRPr sz="1200" b="0">
                <a:solidFill>
                  <a:srgbClr val="69778B"/>
                </a:solidFill>
              </a:defRPr>
            </a:lvl4pPr>
            <a:lvl5pPr>
              <a:defRPr sz="1200" b="0">
                <a:solidFill>
                  <a:srgbClr val="69778B"/>
                </a:solidFill>
              </a:defRPr>
            </a:lvl5pPr>
            <a:lvl6pPr>
              <a:defRPr sz="1200" b="0">
                <a:solidFill>
                  <a:srgbClr val="69778B"/>
                </a:solidFill>
              </a:defRPr>
            </a:lvl6pPr>
            <a:lvl7pPr>
              <a:defRPr sz="1200" b="0">
                <a:solidFill>
                  <a:srgbClr val="69778B"/>
                </a:solidFill>
              </a:defRPr>
            </a:lvl7pPr>
            <a:lvl8pPr>
              <a:defRPr sz="1200" b="0">
                <a:solidFill>
                  <a:srgbClr val="69778B"/>
                </a:solidFill>
              </a:defRPr>
            </a:lvl8pPr>
            <a:lvl9pPr>
              <a:defRPr sz="1200" b="0">
                <a:solidFill>
                  <a:srgbClr val="69778B"/>
                </a:solidFill>
              </a:defRPr>
            </a:lvl9pPr>
          </a:lstStyle>
          <a:p xmlns:a="http://schemas.openxmlformats.org/drawingml/2006/main">
            <a:pPr>
              <a:defRPr sz="1200" b="0">
                <a:solidFill>
                  <a:srgbClr val="69778B"/>
                </a:solidFill>
              </a:defRPr>
            </a:pPr>
            <a:r>
              <a:rPr sz="1200" b="0">
                <a:solidFill>
                  <a:srgbClr val="69778B"/>
                </a:solidFill>
              </a:rPr>
              <a:t>Build 3   /   Public research demonstration   /   21 October 2026</a:t>
            </a:r>
          </a:p>
        </p:txBody>
      </p:sp>
    </p:spTree>
    <p:extLst>
      <p:ext uri="{BB962C8B-B14F-4D97-AF65-F5344CB8AC3E}">
        <p14:creationId xmlns:p14="http://schemas.microsoft.com/office/powerpoint/2010/main" val="139596086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tep">
            <a:extLst xmlns:a="http://schemas.openxmlformats.org/drawingml/2006/main">
              <a:ext uri="{FF2B5EF4-FFF2-40B4-BE49-F238E27FC236}">
                <a16:creationId xmlns:a16="http://schemas.microsoft.com/office/drawing/2014/main" id="{EFEDFCCA-533B-4E43-9A64-4F889463995E}"/>
              </a:ext>
            </a:extLst>
          </p:cNvPr>
          <p:cNvSpPr>
            <a:spLocks xmlns:a="http://schemas.openxmlformats.org/drawingml/2006/main" noGrp="1"/>
          </p:cNvSpPr>
          <p:nvPr/>
        </p:nvSpPr>
        <p:spPr>
          <a:xfrm xmlns:a="http://schemas.openxmlformats.org/drawingml/2006/main">
            <a:off x="495300" y="342900"/>
            <a:ext cx="704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087DDF"/>
                </a:solidFill>
              </a:defRPr>
            </a:defPPr>
            <a:lvl1pPr>
              <a:defRPr sz="1800" b="1">
                <a:solidFill>
                  <a:srgbClr val="087DDF"/>
                </a:solidFill>
              </a:defRPr>
            </a:lvl1pPr>
            <a:lvl2pPr>
              <a:defRPr sz="1800" b="1">
                <a:solidFill>
                  <a:srgbClr val="087DDF"/>
                </a:solidFill>
              </a:defRPr>
            </a:lvl2pPr>
            <a:lvl3pPr>
              <a:defRPr sz="1800" b="1">
                <a:solidFill>
                  <a:srgbClr val="087DDF"/>
                </a:solidFill>
              </a:defRPr>
            </a:lvl3pPr>
            <a:lvl4pPr>
              <a:defRPr sz="1800" b="1">
                <a:solidFill>
                  <a:srgbClr val="087DDF"/>
                </a:solidFill>
              </a:defRPr>
            </a:lvl4pPr>
            <a:lvl5pPr>
              <a:defRPr sz="1800" b="1">
                <a:solidFill>
                  <a:srgbClr val="087DDF"/>
                </a:solidFill>
              </a:defRPr>
            </a:lvl5pPr>
            <a:lvl6pPr>
              <a:defRPr sz="1800" b="1">
                <a:solidFill>
                  <a:srgbClr val="087DDF"/>
                </a:solidFill>
              </a:defRPr>
            </a:lvl6pPr>
            <a:lvl7pPr>
              <a:defRPr sz="1800" b="1">
                <a:solidFill>
                  <a:srgbClr val="087DDF"/>
                </a:solidFill>
              </a:defRPr>
            </a:lvl7pPr>
            <a:lvl8pPr>
              <a:defRPr sz="1800" b="1">
                <a:solidFill>
                  <a:srgbClr val="087DDF"/>
                </a:solidFill>
              </a:defRPr>
            </a:lvl8pPr>
            <a:lvl9pPr>
              <a:defRPr sz="1800" b="1">
                <a:solidFill>
                  <a:srgbClr val="087DDF"/>
                </a:solidFill>
              </a:defRPr>
            </a:lvl9pPr>
          </a:lstStyle>
          <a:p xmlns:a="http://schemas.openxmlformats.org/drawingml/2006/main">
            <a:pPr>
              <a:defRPr sz="1800" b="1">
                <a:solidFill>
                  <a:srgbClr val="087DDF"/>
                </a:solidFill>
              </a:defRPr>
            </a:pPr>
            <a:r>
              <a:rPr sz="1800" b="1">
                <a:solidFill>
                  <a:srgbClr val="087DDF"/>
                </a:solidFill>
              </a:rPr>
              <a:t>05</a:t>
            </a:r>
          </a:p>
        </p:txBody>
      </p:sp>
      <p:sp>
        <p:nvSpPr>
          <p:cNvPr id="3" name="Title">
            <a:extLst xmlns:a="http://schemas.openxmlformats.org/drawingml/2006/main">
              <a:ext uri="{FF2B5EF4-FFF2-40B4-BE49-F238E27FC236}">
                <a16:creationId xmlns:a16="http://schemas.microsoft.com/office/drawing/2014/main" id="{711A214F-040C-44AB-B9D5-6DD090FAD5D4}"/>
              </a:ext>
            </a:extLst>
          </p:cNvPr>
          <p:cNvSpPr>
            <a:spLocks xmlns:a="http://schemas.openxmlformats.org/drawingml/2006/main" noGrp="1"/>
          </p:cNvSpPr>
          <p:nvPr/>
        </p:nvSpPr>
        <p:spPr>
          <a:xfrm xmlns:a="http://schemas.openxmlformats.org/drawingml/2006/main">
            <a:off x="495300" y="762000"/>
            <a:ext cx="1104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744"/>
                </a:solidFill>
              </a:defRPr>
            </a:defPPr>
            <a:lvl1pPr>
              <a:defRPr sz="3300" b="1">
                <a:solidFill>
                  <a:srgbClr val="102744"/>
                </a:solidFill>
              </a:defRPr>
            </a:lvl1pPr>
            <a:lvl2pPr>
              <a:defRPr sz="3300" b="1">
                <a:solidFill>
                  <a:srgbClr val="102744"/>
                </a:solidFill>
              </a:defRPr>
            </a:lvl2pPr>
            <a:lvl3pPr>
              <a:defRPr sz="3300" b="1">
                <a:solidFill>
                  <a:srgbClr val="102744"/>
                </a:solidFill>
              </a:defRPr>
            </a:lvl3pPr>
            <a:lvl4pPr>
              <a:defRPr sz="3300" b="1">
                <a:solidFill>
                  <a:srgbClr val="102744"/>
                </a:solidFill>
              </a:defRPr>
            </a:lvl4pPr>
            <a:lvl5pPr>
              <a:defRPr sz="3300" b="1">
                <a:solidFill>
                  <a:srgbClr val="102744"/>
                </a:solidFill>
              </a:defRPr>
            </a:lvl5pPr>
            <a:lvl6pPr>
              <a:defRPr sz="3300" b="1">
                <a:solidFill>
                  <a:srgbClr val="102744"/>
                </a:solidFill>
              </a:defRPr>
            </a:lvl6pPr>
            <a:lvl7pPr>
              <a:defRPr sz="3300" b="1">
                <a:solidFill>
                  <a:srgbClr val="102744"/>
                </a:solidFill>
              </a:defRPr>
            </a:lvl7pPr>
            <a:lvl8pPr>
              <a:defRPr sz="3300" b="1">
                <a:solidFill>
                  <a:srgbClr val="102744"/>
                </a:solidFill>
              </a:defRPr>
            </a:lvl8pPr>
            <a:lvl9pPr>
              <a:defRPr sz="3300" b="1">
                <a:solidFill>
                  <a:srgbClr val="102744"/>
                </a:solidFill>
              </a:defRPr>
            </a:lvl9pPr>
          </a:lstStyle>
          <a:p xmlns:a="http://schemas.openxmlformats.org/drawingml/2006/main">
            <a:pPr>
              <a:defRPr sz="3300" b="1">
                <a:solidFill>
                  <a:srgbClr val="102744"/>
                </a:solidFill>
              </a:defRPr>
            </a:pPr>
            <a:r>
              <a:rPr sz="3300" b="1">
                <a:solidFill>
                  <a:srgbClr val="102744"/>
                </a:solidFill>
              </a:rPr>
              <a:t>The source is ready</a:t>
            </a:r>
          </a:p>
        </p:txBody>
      </p:sp>
      <p:sp>
        <p:nvSpPr>
          <p:cNvPr id="4" name="Body">
            <a:extLst xmlns:a="http://schemas.openxmlformats.org/drawingml/2006/main">
              <a:ext uri="{FF2B5EF4-FFF2-40B4-BE49-F238E27FC236}">
                <a16:creationId xmlns:a16="http://schemas.microsoft.com/office/drawing/2014/main" id="{91AC3C20-19DA-4170-AE08-91EAE51BE639}"/>
              </a:ext>
            </a:extLst>
          </p:cNvPr>
          <p:cNvSpPr>
            <a:spLocks xmlns:a="http://schemas.openxmlformats.org/drawingml/2006/main" noGrp="1"/>
          </p:cNvSpPr>
          <p:nvPr/>
        </p:nvSpPr>
        <p:spPr>
          <a:xfrm xmlns:a="http://schemas.openxmlformats.org/drawingml/2006/main">
            <a:off x="495300" y="1847850"/>
            <a:ext cx="2857500" cy="409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25354B"/>
                </a:solidFill>
              </a:defRPr>
            </a:defPPr>
            <a:lvl1pPr>
              <a:defRPr sz="1800" b="0">
                <a:solidFill>
                  <a:srgbClr val="25354B"/>
                </a:solidFill>
              </a:defRPr>
            </a:lvl1pPr>
            <a:lvl2pPr>
              <a:defRPr sz="1800" b="0">
                <a:solidFill>
                  <a:srgbClr val="25354B"/>
                </a:solidFill>
              </a:defRPr>
            </a:lvl2pPr>
            <a:lvl3pPr>
              <a:defRPr sz="1800" b="0">
                <a:solidFill>
                  <a:srgbClr val="25354B"/>
                </a:solidFill>
              </a:defRPr>
            </a:lvl3pPr>
            <a:lvl4pPr>
              <a:defRPr sz="1800" b="0">
                <a:solidFill>
                  <a:srgbClr val="25354B"/>
                </a:solidFill>
              </a:defRPr>
            </a:lvl4pPr>
            <a:lvl5pPr>
              <a:defRPr sz="1800" b="0">
                <a:solidFill>
                  <a:srgbClr val="25354B"/>
                </a:solidFill>
              </a:defRPr>
            </a:lvl5pPr>
            <a:lvl6pPr>
              <a:defRPr sz="1800" b="0">
                <a:solidFill>
                  <a:srgbClr val="25354B"/>
                </a:solidFill>
              </a:defRPr>
            </a:lvl6pPr>
            <a:lvl7pPr>
              <a:defRPr sz="1800" b="0">
                <a:solidFill>
                  <a:srgbClr val="25354B"/>
                </a:solidFill>
              </a:defRPr>
            </a:lvl7pPr>
            <a:lvl8pPr>
              <a:defRPr sz="1800" b="0">
                <a:solidFill>
                  <a:srgbClr val="25354B"/>
                </a:solidFill>
              </a:defRPr>
            </a:lvl8pPr>
            <a:lvl9pPr>
              <a:defRPr sz="1800" b="0">
                <a:solidFill>
                  <a:srgbClr val="25354B"/>
                </a:solidFill>
              </a:defRPr>
            </a:lvl9pPr>
          </a:lstStyle>
          <a:p xmlns:a="http://schemas.openxmlformats.org/drawingml/2006/main">
            <a:pPr>
              <a:defRPr sz="1800" b="0">
                <a:solidFill>
                  <a:srgbClr val="25354B"/>
                </a:solidFill>
              </a:defRPr>
            </a:pPr>
            <a:r>
              <a:rPr sz="1800" b="0">
                <a:solidFill>
                  <a:srgbClr val="25354B"/>
                </a:solidFill>
              </a:rPr>
              <a:t>Confirm that Build3_Prompts.docx appears in Sources.</a:t>
            </a:r>
          </a:p>
          <a:p xmlns:a="http://schemas.openxmlformats.org/drawingml/2006/main">
            <a:r>
              <a:t/>
            </a:r>
          </a:p>
          <a:p xmlns:a="http://schemas.openxmlformats.org/drawingml/2006/main">
            <a:pPr>
              <a:defRPr sz="1800" b="0">
                <a:solidFill>
                  <a:srgbClr val="25354B"/>
                </a:solidFill>
              </a:defRPr>
            </a:pPr>
            <a:r>
              <a:rPr sz="1800" b="0">
                <a:solidFill>
                  <a:srgbClr val="25354B"/>
                </a:solidFill>
              </a:rPr>
              <a:t>Click the filename to preview it.</a:t>
            </a:r>
          </a:p>
          <a:p xmlns:a="http://schemas.openxmlformats.org/drawingml/2006/main">
            <a:r>
              <a:t/>
            </a:r>
          </a:p>
          <a:p xmlns:a="http://schemas.openxmlformats.org/drawingml/2006/main">
            <a:pPr>
              <a:defRPr sz="1800" b="0">
                <a:solidFill>
                  <a:srgbClr val="25354B"/>
                </a:solidFill>
              </a:defRPr>
            </a:pPr>
            <a:r>
              <a:rPr sz="1800" b="0">
                <a:solidFill>
                  <a:srgbClr val="25354B"/>
                </a:solidFill>
              </a:rPr>
              <a:t>Check the file before starting the research.</a:t>
            </a:r>
          </a:p>
        </p:txBody>
      </p:sp>
      <p:pic>
        <p:nvPicPr>
          <p:cNvPr id="5" name="">
            <a:extLst xmlns:a="http://schemas.openxmlformats.org/drawingml/2006/main">
              <a:ext uri="{FF2B5EF4-FFF2-40B4-BE49-F238E27FC236}">
                <a16:creationId xmlns:a16="http://schemas.microsoft.com/office/drawing/2014/main" id="{CE4F0DC8-38D3-48F6-8355-E125E2BC46FA}"/>
              </a:ext>
            </a:extLst>
          </p:cNvPr>
          <p:cNvPicPr>
            <a:picLocks xmlns:a="http://schemas.openxmlformats.org/drawingml/2006/main" noChangeAspect="1"/>
          </p:cNvPicPr>
          <p:nvPr/>
        </p:nvPicPr>
        <p:blipFill>
          <a:blip xmlns:r="http://schemas.openxmlformats.org/officeDocument/2006/relationships" xmlns:a="http://schemas.openxmlformats.org/drawingml/2006/main" r:embed="Rc244fae5c21c4f9e"/>
          <a:stretch xmlns:a="http://schemas.openxmlformats.org/drawingml/2006/main"/>
        </p:blipFill>
        <p:spPr>
          <a:xfrm xmlns:a="http://schemas.openxmlformats.org/drawingml/2006/main">
            <a:off x="3714750" y="2478900"/>
            <a:ext cx="7953375" cy="2281201"/>
          </a:xfrm>
          <a:prstGeom xmlns:a="http://schemas.openxmlformats.org/drawingml/2006/main" prst="rect">
            <a:avLst/>
          </a:prstGeom>
        </p:spPr>
      </p:pic>
      <p:sp>
        <p:nvSpPr>
          <p:cNvPr id="6" name="Caption">
            <a:extLst xmlns:a="http://schemas.openxmlformats.org/drawingml/2006/main">
              <a:ext uri="{FF2B5EF4-FFF2-40B4-BE49-F238E27FC236}">
                <a16:creationId xmlns:a16="http://schemas.microsoft.com/office/drawing/2014/main" id="{A385E81F-8A6B-452F-AF37-988A22225807}"/>
              </a:ext>
            </a:extLst>
          </p:cNvPr>
          <p:cNvSpPr>
            <a:spLocks xmlns:a="http://schemas.openxmlformats.org/drawingml/2006/main" noGrp="1"/>
          </p:cNvSpPr>
          <p:nvPr/>
        </p:nvSpPr>
        <p:spPr>
          <a:xfrm xmlns:a="http://schemas.openxmlformats.org/drawingml/2006/main">
            <a:off x="3714750" y="5810250"/>
            <a:ext cx="79533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0">
                <a:solidFill>
                  <a:srgbClr val="087DDF"/>
                </a:solidFill>
              </a:defRPr>
            </a:defPPr>
            <a:lvl1pPr>
              <a:defRPr sz="1425" b="0">
                <a:solidFill>
                  <a:srgbClr val="087DDF"/>
                </a:solidFill>
              </a:defRPr>
            </a:lvl1pPr>
            <a:lvl2pPr>
              <a:defRPr sz="1425" b="0">
                <a:solidFill>
                  <a:srgbClr val="087DDF"/>
                </a:solidFill>
              </a:defRPr>
            </a:lvl2pPr>
            <a:lvl3pPr>
              <a:defRPr sz="1425" b="0">
                <a:solidFill>
                  <a:srgbClr val="087DDF"/>
                </a:solidFill>
              </a:defRPr>
            </a:lvl3pPr>
            <a:lvl4pPr>
              <a:defRPr sz="1425" b="0">
                <a:solidFill>
                  <a:srgbClr val="087DDF"/>
                </a:solidFill>
              </a:defRPr>
            </a:lvl4pPr>
            <a:lvl5pPr>
              <a:defRPr sz="1425" b="0">
                <a:solidFill>
                  <a:srgbClr val="087DDF"/>
                </a:solidFill>
              </a:defRPr>
            </a:lvl5pPr>
            <a:lvl6pPr>
              <a:defRPr sz="1425" b="0">
                <a:solidFill>
                  <a:srgbClr val="087DDF"/>
                </a:solidFill>
              </a:defRPr>
            </a:lvl6pPr>
            <a:lvl7pPr>
              <a:defRPr sz="1425" b="0">
                <a:solidFill>
                  <a:srgbClr val="087DDF"/>
                </a:solidFill>
              </a:defRPr>
            </a:lvl7pPr>
            <a:lvl8pPr>
              <a:defRPr sz="1425" b="0">
                <a:solidFill>
                  <a:srgbClr val="087DDF"/>
                </a:solidFill>
              </a:defRPr>
            </a:lvl8pPr>
            <a:lvl9pPr>
              <a:defRPr sz="1425" b="0">
                <a:solidFill>
                  <a:srgbClr val="087DDF"/>
                </a:solidFill>
              </a:defRPr>
            </a:lvl9pPr>
          </a:lstStyle>
          <a:p xmlns:a="http://schemas.openxmlformats.org/drawingml/2006/main">
            <a:pPr>
              <a:defRPr sz="1425" b="0">
                <a:solidFill>
                  <a:srgbClr val="087DDF"/>
                </a:solidFill>
              </a:defRPr>
            </a:pPr>
            <a:r>
              <a:rPr sz="1425" b="0">
                <a:solidFill>
                  <a:srgbClr val="087DDF"/>
                </a:solidFill>
              </a:rPr>
              <a:t>The project has the complete workflow as its source.</a:t>
            </a:r>
          </a:p>
        </p:txBody>
      </p:sp>
      <p:sp>
        <p:nvSpPr>
          <p:cNvPr id="7" name="Footer">
            <a:extLst xmlns:a="http://schemas.openxmlformats.org/drawingml/2006/main">
              <a:ext uri="{FF2B5EF4-FFF2-40B4-BE49-F238E27FC236}">
                <a16:creationId xmlns:a16="http://schemas.microsoft.com/office/drawing/2014/main" id="{73CEB295-003E-4047-9C5C-35E32F52FC4B}"/>
              </a:ext>
            </a:extLst>
          </p:cNvPr>
          <p:cNvSpPr>
            <a:spLocks xmlns:a="http://schemas.openxmlformats.org/drawingml/2006/main" noGrp="1"/>
          </p:cNvSpPr>
          <p:nvPr/>
        </p:nvSpPr>
        <p:spPr>
          <a:xfrm xmlns:a="http://schemas.openxmlformats.org/drawingml/2006/main">
            <a:off x="495300" y="6419850"/>
            <a:ext cx="10953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9778B"/>
                </a:solidFill>
              </a:defRPr>
            </a:defPPr>
            <a:lvl1pPr>
              <a:defRPr sz="1200" b="0">
                <a:solidFill>
                  <a:srgbClr val="69778B"/>
                </a:solidFill>
              </a:defRPr>
            </a:lvl1pPr>
            <a:lvl2pPr>
              <a:defRPr sz="1200" b="0">
                <a:solidFill>
                  <a:srgbClr val="69778B"/>
                </a:solidFill>
              </a:defRPr>
            </a:lvl2pPr>
            <a:lvl3pPr>
              <a:defRPr sz="1200" b="0">
                <a:solidFill>
                  <a:srgbClr val="69778B"/>
                </a:solidFill>
              </a:defRPr>
            </a:lvl3pPr>
            <a:lvl4pPr>
              <a:defRPr sz="1200" b="0">
                <a:solidFill>
                  <a:srgbClr val="69778B"/>
                </a:solidFill>
              </a:defRPr>
            </a:lvl4pPr>
            <a:lvl5pPr>
              <a:defRPr sz="1200" b="0">
                <a:solidFill>
                  <a:srgbClr val="69778B"/>
                </a:solidFill>
              </a:defRPr>
            </a:lvl5pPr>
            <a:lvl6pPr>
              <a:defRPr sz="1200" b="0">
                <a:solidFill>
                  <a:srgbClr val="69778B"/>
                </a:solidFill>
              </a:defRPr>
            </a:lvl6pPr>
            <a:lvl7pPr>
              <a:defRPr sz="1200" b="0">
                <a:solidFill>
                  <a:srgbClr val="69778B"/>
                </a:solidFill>
              </a:defRPr>
            </a:lvl7pPr>
            <a:lvl8pPr>
              <a:defRPr sz="1200" b="0">
                <a:solidFill>
                  <a:srgbClr val="69778B"/>
                </a:solidFill>
              </a:defRPr>
            </a:lvl8pPr>
            <a:lvl9pPr>
              <a:defRPr sz="1200" b="0">
                <a:solidFill>
                  <a:srgbClr val="69778B"/>
                </a:solidFill>
              </a:defRPr>
            </a:lvl9pPr>
          </a:lstStyle>
          <a:p xmlns:a="http://schemas.openxmlformats.org/drawingml/2006/main">
            <a:pPr>
              <a:defRPr sz="1200" b="0">
                <a:solidFill>
                  <a:srgbClr val="69778B"/>
                </a:solidFill>
              </a:defRPr>
            </a:pPr>
            <a:r>
              <a:rPr sz="1200" b="0">
                <a:solidFill>
                  <a:srgbClr val="69778B"/>
                </a:solidFill>
              </a:rPr>
              <a:t>Build 3   /   Public research demonstration   /   21 October 2026</a:t>
            </a:r>
          </a:p>
        </p:txBody>
      </p:sp>
    </p:spTree>
    <p:extLst>
      <p:ext uri="{BB962C8B-B14F-4D97-AF65-F5344CB8AC3E}">
        <p14:creationId xmlns:p14="http://schemas.microsoft.com/office/powerpoint/2010/main" val="10864929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tep">
            <a:extLst xmlns:a="http://schemas.openxmlformats.org/drawingml/2006/main">
              <a:ext uri="{FF2B5EF4-FFF2-40B4-BE49-F238E27FC236}">
                <a16:creationId xmlns:a16="http://schemas.microsoft.com/office/drawing/2014/main" id="{830A94F7-26AD-4AC3-8094-E164A1AFB625}"/>
              </a:ext>
            </a:extLst>
          </p:cNvPr>
          <p:cNvSpPr>
            <a:spLocks xmlns:a="http://schemas.openxmlformats.org/drawingml/2006/main" noGrp="1"/>
          </p:cNvSpPr>
          <p:nvPr/>
        </p:nvSpPr>
        <p:spPr>
          <a:xfrm xmlns:a="http://schemas.openxmlformats.org/drawingml/2006/main">
            <a:off x="495300" y="342900"/>
            <a:ext cx="704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087DDF"/>
                </a:solidFill>
              </a:defRPr>
            </a:defPPr>
            <a:lvl1pPr>
              <a:defRPr sz="1800" b="1">
                <a:solidFill>
                  <a:srgbClr val="087DDF"/>
                </a:solidFill>
              </a:defRPr>
            </a:lvl1pPr>
            <a:lvl2pPr>
              <a:defRPr sz="1800" b="1">
                <a:solidFill>
                  <a:srgbClr val="087DDF"/>
                </a:solidFill>
              </a:defRPr>
            </a:lvl2pPr>
            <a:lvl3pPr>
              <a:defRPr sz="1800" b="1">
                <a:solidFill>
                  <a:srgbClr val="087DDF"/>
                </a:solidFill>
              </a:defRPr>
            </a:lvl3pPr>
            <a:lvl4pPr>
              <a:defRPr sz="1800" b="1">
                <a:solidFill>
                  <a:srgbClr val="087DDF"/>
                </a:solidFill>
              </a:defRPr>
            </a:lvl4pPr>
            <a:lvl5pPr>
              <a:defRPr sz="1800" b="1">
                <a:solidFill>
                  <a:srgbClr val="087DDF"/>
                </a:solidFill>
              </a:defRPr>
            </a:lvl5pPr>
            <a:lvl6pPr>
              <a:defRPr sz="1800" b="1">
                <a:solidFill>
                  <a:srgbClr val="087DDF"/>
                </a:solidFill>
              </a:defRPr>
            </a:lvl6pPr>
            <a:lvl7pPr>
              <a:defRPr sz="1800" b="1">
                <a:solidFill>
                  <a:srgbClr val="087DDF"/>
                </a:solidFill>
              </a:defRPr>
            </a:lvl7pPr>
            <a:lvl8pPr>
              <a:defRPr sz="1800" b="1">
                <a:solidFill>
                  <a:srgbClr val="087DDF"/>
                </a:solidFill>
              </a:defRPr>
            </a:lvl8pPr>
            <a:lvl9pPr>
              <a:defRPr sz="1800" b="1">
                <a:solidFill>
                  <a:srgbClr val="087DDF"/>
                </a:solidFill>
              </a:defRPr>
            </a:lvl9pPr>
          </a:lstStyle>
          <a:p xmlns:a="http://schemas.openxmlformats.org/drawingml/2006/main">
            <a:pPr>
              <a:defRPr sz="1800" b="1">
                <a:solidFill>
                  <a:srgbClr val="087DDF"/>
                </a:solidFill>
              </a:defRPr>
            </a:pPr>
            <a:r>
              <a:rPr sz="1800" b="1">
                <a:solidFill>
                  <a:srgbClr val="087DDF"/>
                </a:solidFill>
              </a:rPr>
              <a:t>06</a:t>
            </a:r>
          </a:p>
        </p:txBody>
      </p:sp>
      <p:sp>
        <p:nvSpPr>
          <p:cNvPr id="3" name="Title">
            <a:extLst xmlns:a="http://schemas.openxmlformats.org/drawingml/2006/main">
              <a:ext uri="{FF2B5EF4-FFF2-40B4-BE49-F238E27FC236}">
                <a16:creationId xmlns:a16="http://schemas.microsoft.com/office/drawing/2014/main" id="{C3F8A20A-B1B4-4AB7-B446-2E5A0F53EB7F}"/>
              </a:ext>
            </a:extLst>
          </p:cNvPr>
          <p:cNvSpPr>
            <a:spLocks xmlns:a="http://schemas.openxmlformats.org/drawingml/2006/main" noGrp="1"/>
          </p:cNvSpPr>
          <p:nvPr/>
        </p:nvSpPr>
        <p:spPr>
          <a:xfrm xmlns:a="http://schemas.openxmlformats.org/drawingml/2006/main">
            <a:off x="495300" y="762000"/>
            <a:ext cx="1104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744"/>
                </a:solidFill>
              </a:defRPr>
            </a:defPPr>
            <a:lvl1pPr>
              <a:defRPr sz="3300" b="1">
                <a:solidFill>
                  <a:srgbClr val="102744"/>
                </a:solidFill>
              </a:defRPr>
            </a:lvl1pPr>
            <a:lvl2pPr>
              <a:defRPr sz="3300" b="1">
                <a:solidFill>
                  <a:srgbClr val="102744"/>
                </a:solidFill>
              </a:defRPr>
            </a:lvl2pPr>
            <a:lvl3pPr>
              <a:defRPr sz="3300" b="1">
                <a:solidFill>
                  <a:srgbClr val="102744"/>
                </a:solidFill>
              </a:defRPr>
            </a:lvl3pPr>
            <a:lvl4pPr>
              <a:defRPr sz="3300" b="1">
                <a:solidFill>
                  <a:srgbClr val="102744"/>
                </a:solidFill>
              </a:defRPr>
            </a:lvl4pPr>
            <a:lvl5pPr>
              <a:defRPr sz="3300" b="1">
                <a:solidFill>
                  <a:srgbClr val="102744"/>
                </a:solidFill>
              </a:defRPr>
            </a:lvl5pPr>
            <a:lvl6pPr>
              <a:defRPr sz="3300" b="1">
                <a:solidFill>
                  <a:srgbClr val="102744"/>
                </a:solidFill>
              </a:defRPr>
            </a:lvl6pPr>
            <a:lvl7pPr>
              <a:defRPr sz="3300" b="1">
                <a:solidFill>
                  <a:srgbClr val="102744"/>
                </a:solidFill>
              </a:defRPr>
            </a:lvl7pPr>
            <a:lvl8pPr>
              <a:defRPr sz="3300" b="1">
                <a:solidFill>
                  <a:srgbClr val="102744"/>
                </a:solidFill>
              </a:defRPr>
            </a:lvl8pPr>
            <a:lvl9pPr>
              <a:defRPr sz="3300" b="1">
                <a:solidFill>
                  <a:srgbClr val="102744"/>
                </a:solidFill>
              </a:defRPr>
            </a:lvl9pPr>
          </a:lstStyle>
          <a:p xmlns:a="http://schemas.openxmlformats.org/drawingml/2006/main">
            <a:pPr>
              <a:defRPr sz="3300" b="1">
                <a:solidFill>
                  <a:srgbClr val="102744"/>
                </a:solidFill>
              </a:defRPr>
            </a:pPr>
            <a:r>
              <a:rPr sz="3300" b="1">
                <a:solidFill>
                  <a:srgbClr val="102744"/>
                </a:solidFill>
              </a:rPr>
              <a:t>Project instructions</a:t>
            </a:r>
          </a:p>
        </p:txBody>
      </p:sp>
      <p:sp>
        <p:nvSpPr>
          <p:cNvPr id="4" name="Body">
            <a:extLst xmlns:a="http://schemas.openxmlformats.org/drawingml/2006/main">
              <a:ext uri="{FF2B5EF4-FFF2-40B4-BE49-F238E27FC236}">
                <a16:creationId xmlns:a16="http://schemas.microsoft.com/office/drawing/2014/main" id="{833F4E9F-FBEB-4EDE-9BE4-72C41F6143BE}"/>
              </a:ext>
            </a:extLst>
          </p:cNvPr>
          <p:cNvSpPr>
            <a:spLocks xmlns:a="http://schemas.openxmlformats.org/drawingml/2006/main" noGrp="1"/>
          </p:cNvSpPr>
          <p:nvPr/>
        </p:nvSpPr>
        <p:spPr>
          <a:xfrm xmlns:a="http://schemas.openxmlformats.org/drawingml/2006/main">
            <a:off x="495300" y="1847850"/>
            <a:ext cx="2857500" cy="409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25354B"/>
                </a:solidFill>
              </a:defRPr>
            </a:defPPr>
            <a:lvl1pPr>
              <a:defRPr sz="1800" b="0">
                <a:solidFill>
                  <a:srgbClr val="25354B"/>
                </a:solidFill>
              </a:defRPr>
            </a:lvl1pPr>
            <a:lvl2pPr>
              <a:defRPr sz="1800" b="0">
                <a:solidFill>
                  <a:srgbClr val="25354B"/>
                </a:solidFill>
              </a:defRPr>
            </a:lvl2pPr>
            <a:lvl3pPr>
              <a:defRPr sz="1800" b="0">
                <a:solidFill>
                  <a:srgbClr val="25354B"/>
                </a:solidFill>
              </a:defRPr>
            </a:lvl3pPr>
            <a:lvl4pPr>
              <a:defRPr sz="1800" b="0">
                <a:solidFill>
                  <a:srgbClr val="25354B"/>
                </a:solidFill>
              </a:defRPr>
            </a:lvl4pPr>
            <a:lvl5pPr>
              <a:defRPr sz="1800" b="0">
                <a:solidFill>
                  <a:srgbClr val="25354B"/>
                </a:solidFill>
              </a:defRPr>
            </a:lvl5pPr>
            <a:lvl6pPr>
              <a:defRPr sz="1800" b="0">
                <a:solidFill>
                  <a:srgbClr val="25354B"/>
                </a:solidFill>
              </a:defRPr>
            </a:lvl6pPr>
            <a:lvl7pPr>
              <a:defRPr sz="1800" b="0">
                <a:solidFill>
                  <a:srgbClr val="25354B"/>
                </a:solidFill>
              </a:defRPr>
            </a:lvl7pPr>
            <a:lvl8pPr>
              <a:defRPr sz="1800" b="0">
                <a:solidFill>
                  <a:srgbClr val="25354B"/>
                </a:solidFill>
              </a:defRPr>
            </a:lvl8pPr>
            <a:lvl9pPr>
              <a:defRPr sz="1800" b="0">
                <a:solidFill>
                  <a:srgbClr val="25354B"/>
                </a:solidFill>
              </a:defRPr>
            </a:lvl9pPr>
          </a:lstStyle>
          <a:p xmlns:a="http://schemas.openxmlformats.org/drawingml/2006/main">
            <a:pPr>
              <a:defRPr sz="1800" b="0">
                <a:solidFill>
                  <a:srgbClr val="25354B"/>
                </a:solidFill>
              </a:defRPr>
            </a:pPr>
            <a:r>
              <a:rPr sz="1800" b="0">
                <a:solidFill>
                  <a:srgbClr val="25354B"/>
                </a:solidFill>
              </a:rPr>
              <a:t>Open the project menu and choose Project settings.</a:t>
            </a:r>
          </a:p>
          <a:p xmlns:a="http://schemas.openxmlformats.org/drawingml/2006/main">
            <a:r>
              <a:t/>
            </a:r>
          </a:p>
          <a:p xmlns:a="http://schemas.openxmlformats.org/drawingml/2006/main">
            <a:pPr>
              <a:defRPr sz="1800" b="0">
                <a:solidFill>
                  <a:srgbClr val="25354B"/>
                </a:solidFill>
              </a:defRPr>
            </a:pPr>
            <a:r>
              <a:rPr sz="1800" b="0">
                <a:solidFill>
                  <a:srgbClr val="25354B"/>
                </a:solidFill>
              </a:rPr>
              <a:t>Tell ChatGPT to follow Build3_Prompts.docx and use public web sources.</a:t>
            </a:r>
          </a:p>
          <a:p xmlns:a="http://schemas.openxmlformats.org/drawingml/2006/main">
            <a:r>
              <a:t/>
            </a:r>
          </a:p>
          <a:p xmlns:a="http://schemas.openxmlformats.org/drawingml/2006/main">
            <a:pPr>
              <a:defRPr sz="1800" b="0">
                <a:solidFill>
                  <a:srgbClr val="25354B"/>
                </a:solidFill>
              </a:defRPr>
            </a:pPr>
            <a:r>
              <a:rPr sz="1800" b="0">
                <a:solidFill>
                  <a:srgbClr val="25354B"/>
                </a:solidFill>
              </a:rPr>
              <a:t>Save before running.</a:t>
            </a:r>
          </a:p>
        </p:txBody>
      </p:sp>
      <p:pic>
        <p:nvPicPr>
          <p:cNvPr id="5" name="">
            <a:extLst xmlns:a="http://schemas.openxmlformats.org/drawingml/2006/main">
              <a:ext uri="{FF2B5EF4-FFF2-40B4-BE49-F238E27FC236}">
                <a16:creationId xmlns:a16="http://schemas.microsoft.com/office/drawing/2014/main" id="{F3B0D54B-5250-4F5C-A8E3-0238943EDEDD}"/>
              </a:ext>
            </a:extLst>
          </p:cNvPr>
          <p:cNvPicPr>
            <a:picLocks xmlns:a="http://schemas.openxmlformats.org/drawingml/2006/main" noChangeAspect="1"/>
          </p:cNvPicPr>
          <p:nvPr/>
        </p:nvPicPr>
        <p:blipFill>
          <a:blip xmlns:r="http://schemas.openxmlformats.org/officeDocument/2006/relationships" xmlns:a="http://schemas.openxmlformats.org/drawingml/2006/main" r:embed="Rab4378c889284bcd"/>
          <a:stretch xmlns:a="http://schemas.openxmlformats.org/drawingml/2006/main"/>
        </p:blipFill>
        <p:spPr>
          <a:xfrm xmlns:a="http://schemas.openxmlformats.org/drawingml/2006/main">
            <a:off x="3966986" y="1666875"/>
            <a:ext cx="7448903" cy="3905250"/>
          </a:xfrm>
          <a:prstGeom xmlns:a="http://schemas.openxmlformats.org/drawingml/2006/main" prst="rect">
            <a:avLst/>
          </a:prstGeom>
        </p:spPr>
      </p:pic>
      <p:sp>
        <p:nvSpPr>
          <p:cNvPr id="6" name="Caption">
            <a:extLst xmlns:a="http://schemas.openxmlformats.org/drawingml/2006/main">
              <a:ext uri="{FF2B5EF4-FFF2-40B4-BE49-F238E27FC236}">
                <a16:creationId xmlns:a16="http://schemas.microsoft.com/office/drawing/2014/main" id="{B6938E9A-D33E-406D-BCAF-DA602DA8071B}"/>
              </a:ext>
            </a:extLst>
          </p:cNvPr>
          <p:cNvSpPr>
            <a:spLocks xmlns:a="http://schemas.openxmlformats.org/drawingml/2006/main" noGrp="1"/>
          </p:cNvSpPr>
          <p:nvPr/>
        </p:nvSpPr>
        <p:spPr>
          <a:xfrm xmlns:a="http://schemas.openxmlformats.org/drawingml/2006/main">
            <a:off x="3714750" y="5810250"/>
            <a:ext cx="79533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0">
                <a:solidFill>
                  <a:srgbClr val="087DDF"/>
                </a:solidFill>
              </a:defRPr>
            </a:defPPr>
            <a:lvl1pPr>
              <a:defRPr sz="1425" b="0">
                <a:solidFill>
                  <a:srgbClr val="087DDF"/>
                </a:solidFill>
              </a:defRPr>
            </a:lvl1pPr>
            <a:lvl2pPr>
              <a:defRPr sz="1425" b="0">
                <a:solidFill>
                  <a:srgbClr val="087DDF"/>
                </a:solidFill>
              </a:defRPr>
            </a:lvl2pPr>
            <a:lvl3pPr>
              <a:defRPr sz="1425" b="0">
                <a:solidFill>
                  <a:srgbClr val="087DDF"/>
                </a:solidFill>
              </a:defRPr>
            </a:lvl3pPr>
            <a:lvl4pPr>
              <a:defRPr sz="1425" b="0">
                <a:solidFill>
                  <a:srgbClr val="087DDF"/>
                </a:solidFill>
              </a:defRPr>
            </a:lvl4pPr>
            <a:lvl5pPr>
              <a:defRPr sz="1425" b="0">
                <a:solidFill>
                  <a:srgbClr val="087DDF"/>
                </a:solidFill>
              </a:defRPr>
            </a:lvl5pPr>
            <a:lvl6pPr>
              <a:defRPr sz="1425" b="0">
                <a:solidFill>
                  <a:srgbClr val="087DDF"/>
                </a:solidFill>
              </a:defRPr>
            </a:lvl6pPr>
            <a:lvl7pPr>
              <a:defRPr sz="1425" b="0">
                <a:solidFill>
                  <a:srgbClr val="087DDF"/>
                </a:solidFill>
              </a:defRPr>
            </a:lvl7pPr>
            <a:lvl8pPr>
              <a:defRPr sz="1425" b="0">
                <a:solidFill>
                  <a:srgbClr val="087DDF"/>
                </a:solidFill>
              </a:defRPr>
            </a:lvl8pPr>
            <a:lvl9pPr>
              <a:defRPr sz="1425" b="0">
                <a:solidFill>
                  <a:srgbClr val="087DDF"/>
                </a:solidFill>
              </a:defRPr>
            </a:lvl9pPr>
          </a:lstStyle>
          <a:p xmlns:a="http://schemas.openxmlformats.org/drawingml/2006/main">
            <a:pPr>
              <a:defRPr sz="1425" b="0">
                <a:solidFill>
                  <a:srgbClr val="087DDF"/>
                </a:solidFill>
              </a:defRPr>
            </a:pPr>
            <a:r>
              <a:rPr sz="1425" b="0">
                <a:solidFill>
                  <a:srgbClr val="087DDF"/>
                </a:solidFill>
              </a:rPr>
              <a:t>The saved instructions require separate scores, source links and a confidential PDF.</a:t>
            </a:r>
          </a:p>
        </p:txBody>
      </p:sp>
      <p:sp>
        <p:nvSpPr>
          <p:cNvPr id="7" name="Footer">
            <a:extLst xmlns:a="http://schemas.openxmlformats.org/drawingml/2006/main">
              <a:ext uri="{FF2B5EF4-FFF2-40B4-BE49-F238E27FC236}">
                <a16:creationId xmlns:a16="http://schemas.microsoft.com/office/drawing/2014/main" id="{6F36DEC5-EA2F-4E3A-927C-50292EFAE2B7}"/>
              </a:ext>
            </a:extLst>
          </p:cNvPr>
          <p:cNvSpPr>
            <a:spLocks xmlns:a="http://schemas.openxmlformats.org/drawingml/2006/main" noGrp="1"/>
          </p:cNvSpPr>
          <p:nvPr/>
        </p:nvSpPr>
        <p:spPr>
          <a:xfrm xmlns:a="http://schemas.openxmlformats.org/drawingml/2006/main">
            <a:off x="495300" y="6419850"/>
            <a:ext cx="10953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9778B"/>
                </a:solidFill>
              </a:defRPr>
            </a:defPPr>
            <a:lvl1pPr>
              <a:defRPr sz="1200" b="0">
                <a:solidFill>
                  <a:srgbClr val="69778B"/>
                </a:solidFill>
              </a:defRPr>
            </a:lvl1pPr>
            <a:lvl2pPr>
              <a:defRPr sz="1200" b="0">
                <a:solidFill>
                  <a:srgbClr val="69778B"/>
                </a:solidFill>
              </a:defRPr>
            </a:lvl2pPr>
            <a:lvl3pPr>
              <a:defRPr sz="1200" b="0">
                <a:solidFill>
                  <a:srgbClr val="69778B"/>
                </a:solidFill>
              </a:defRPr>
            </a:lvl3pPr>
            <a:lvl4pPr>
              <a:defRPr sz="1200" b="0">
                <a:solidFill>
                  <a:srgbClr val="69778B"/>
                </a:solidFill>
              </a:defRPr>
            </a:lvl4pPr>
            <a:lvl5pPr>
              <a:defRPr sz="1200" b="0">
                <a:solidFill>
                  <a:srgbClr val="69778B"/>
                </a:solidFill>
              </a:defRPr>
            </a:lvl5pPr>
            <a:lvl6pPr>
              <a:defRPr sz="1200" b="0">
                <a:solidFill>
                  <a:srgbClr val="69778B"/>
                </a:solidFill>
              </a:defRPr>
            </a:lvl6pPr>
            <a:lvl7pPr>
              <a:defRPr sz="1200" b="0">
                <a:solidFill>
                  <a:srgbClr val="69778B"/>
                </a:solidFill>
              </a:defRPr>
            </a:lvl7pPr>
            <a:lvl8pPr>
              <a:defRPr sz="1200" b="0">
                <a:solidFill>
                  <a:srgbClr val="69778B"/>
                </a:solidFill>
              </a:defRPr>
            </a:lvl8pPr>
            <a:lvl9pPr>
              <a:defRPr sz="1200" b="0">
                <a:solidFill>
                  <a:srgbClr val="69778B"/>
                </a:solidFill>
              </a:defRPr>
            </a:lvl9pPr>
          </a:lstStyle>
          <a:p xmlns:a="http://schemas.openxmlformats.org/drawingml/2006/main">
            <a:pPr>
              <a:defRPr sz="1200" b="0">
                <a:solidFill>
                  <a:srgbClr val="69778B"/>
                </a:solidFill>
              </a:defRPr>
            </a:pPr>
            <a:r>
              <a:rPr sz="1200" b="0">
                <a:solidFill>
                  <a:srgbClr val="69778B"/>
                </a:solidFill>
              </a:rPr>
              <a:t>Build 3   /   Public research demonstration   /   21 October 2026</a:t>
            </a:r>
          </a:p>
        </p:txBody>
      </p:sp>
    </p:spTree>
    <p:extLst>
      <p:ext uri="{BB962C8B-B14F-4D97-AF65-F5344CB8AC3E}">
        <p14:creationId xmlns:p14="http://schemas.microsoft.com/office/powerpoint/2010/main" val="65286738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tep">
            <a:extLst xmlns:a="http://schemas.openxmlformats.org/drawingml/2006/main">
              <a:ext uri="{FF2B5EF4-FFF2-40B4-BE49-F238E27FC236}">
                <a16:creationId xmlns:a16="http://schemas.microsoft.com/office/drawing/2014/main" id="{4B558F4B-F90D-423D-ACBF-C054C6DD33CA}"/>
              </a:ext>
            </a:extLst>
          </p:cNvPr>
          <p:cNvSpPr>
            <a:spLocks xmlns:a="http://schemas.openxmlformats.org/drawingml/2006/main" noGrp="1"/>
          </p:cNvSpPr>
          <p:nvPr/>
        </p:nvSpPr>
        <p:spPr>
          <a:xfrm xmlns:a="http://schemas.openxmlformats.org/drawingml/2006/main">
            <a:off x="495300" y="342900"/>
            <a:ext cx="704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087DDF"/>
                </a:solidFill>
              </a:defRPr>
            </a:defPPr>
            <a:lvl1pPr>
              <a:defRPr sz="1800" b="1">
                <a:solidFill>
                  <a:srgbClr val="087DDF"/>
                </a:solidFill>
              </a:defRPr>
            </a:lvl1pPr>
            <a:lvl2pPr>
              <a:defRPr sz="1800" b="1">
                <a:solidFill>
                  <a:srgbClr val="087DDF"/>
                </a:solidFill>
              </a:defRPr>
            </a:lvl2pPr>
            <a:lvl3pPr>
              <a:defRPr sz="1800" b="1">
                <a:solidFill>
                  <a:srgbClr val="087DDF"/>
                </a:solidFill>
              </a:defRPr>
            </a:lvl3pPr>
            <a:lvl4pPr>
              <a:defRPr sz="1800" b="1">
                <a:solidFill>
                  <a:srgbClr val="087DDF"/>
                </a:solidFill>
              </a:defRPr>
            </a:lvl4pPr>
            <a:lvl5pPr>
              <a:defRPr sz="1800" b="1">
                <a:solidFill>
                  <a:srgbClr val="087DDF"/>
                </a:solidFill>
              </a:defRPr>
            </a:lvl5pPr>
            <a:lvl6pPr>
              <a:defRPr sz="1800" b="1">
                <a:solidFill>
                  <a:srgbClr val="087DDF"/>
                </a:solidFill>
              </a:defRPr>
            </a:lvl6pPr>
            <a:lvl7pPr>
              <a:defRPr sz="1800" b="1">
                <a:solidFill>
                  <a:srgbClr val="087DDF"/>
                </a:solidFill>
              </a:defRPr>
            </a:lvl7pPr>
            <a:lvl8pPr>
              <a:defRPr sz="1800" b="1">
                <a:solidFill>
                  <a:srgbClr val="087DDF"/>
                </a:solidFill>
              </a:defRPr>
            </a:lvl8pPr>
            <a:lvl9pPr>
              <a:defRPr sz="1800" b="1">
                <a:solidFill>
                  <a:srgbClr val="087DDF"/>
                </a:solidFill>
              </a:defRPr>
            </a:lvl9pPr>
          </a:lstStyle>
          <a:p xmlns:a="http://schemas.openxmlformats.org/drawingml/2006/main">
            <a:pPr>
              <a:defRPr sz="1800" b="1">
                <a:solidFill>
                  <a:srgbClr val="087DDF"/>
                </a:solidFill>
              </a:defRPr>
            </a:pPr>
            <a:r>
              <a:rPr sz="1800" b="1">
                <a:solidFill>
                  <a:srgbClr val="087DDF"/>
                </a:solidFill>
              </a:rPr>
              <a:t>07</a:t>
            </a:r>
          </a:p>
        </p:txBody>
      </p:sp>
      <p:sp>
        <p:nvSpPr>
          <p:cNvPr id="3" name="Title">
            <a:extLst xmlns:a="http://schemas.openxmlformats.org/drawingml/2006/main">
              <a:ext uri="{FF2B5EF4-FFF2-40B4-BE49-F238E27FC236}">
                <a16:creationId xmlns:a16="http://schemas.microsoft.com/office/drawing/2014/main" id="{F7B1DC24-C4F5-4CA1-B638-AFFD3C30570E}"/>
              </a:ext>
            </a:extLst>
          </p:cNvPr>
          <p:cNvSpPr>
            <a:spLocks xmlns:a="http://schemas.openxmlformats.org/drawingml/2006/main" noGrp="1"/>
          </p:cNvSpPr>
          <p:nvPr/>
        </p:nvSpPr>
        <p:spPr>
          <a:xfrm xmlns:a="http://schemas.openxmlformats.org/drawingml/2006/main">
            <a:off x="495300" y="762000"/>
            <a:ext cx="1104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744"/>
                </a:solidFill>
              </a:defRPr>
            </a:defPPr>
            <a:lvl1pPr>
              <a:defRPr sz="3300" b="1">
                <a:solidFill>
                  <a:srgbClr val="102744"/>
                </a:solidFill>
              </a:defRPr>
            </a:lvl1pPr>
            <a:lvl2pPr>
              <a:defRPr sz="3300" b="1">
                <a:solidFill>
                  <a:srgbClr val="102744"/>
                </a:solidFill>
              </a:defRPr>
            </a:lvl2pPr>
            <a:lvl3pPr>
              <a:defRPr sz="3300" b="1">
                <a:solidFill>
                  <a:srgbClr val="102744"/>
                </a:solidFill>
              </a:defRPr>
            </a:lvl3pPr>
            <a:lvl4pPr>
              <a:defRPr sz="3300" b="1">
                <a:solidFill>
                  <a:srgbClr val="102744"/>
                </a:solidFill>
              </a:defRPr>
            </a:lvl4pPr>
            <a:lvl5pPr>
              <a:defRPr sz="3300" b="1">
                <a:solidFill>
                  <a:srgbClr val="102744"/>
                </a:solidFill>
              </a:defRPr>
            </a:lvl5pPr>
            <a:lvl6pPr>
              <a:defRPr sz="3300" b="1">
                <a:solidFill>
                  <a:srgbClr val="102744"/>
                </a:solidFill>
              </a:defRPr>
            </a:lvl6pPr>
            <a:lvl7pPr>
              <a:defRPr sz="3300" b="1">
                <a:solidFill>
                  <a:srgbClr val="102744"/>
                </a:solidFill>
              </a:defRPr>
            </a:lvl7pPr>
            <a:lvl8pPr>
              <a:defRPr sz="3300" b="1">
                <a:solidFill>
                  <a:srgbClr val="102744"/>
                </a:solidFill>
              </a:defRPr>
            </a:lvl8pPr>
            <a:lvl9pPr>
              <a:defRPr sz="3300" b="1">
                <a:solidFill>
                  <a:srgbClr val="102744"/>
                </a:solidFill>
              </a:defRPr>
            </a:lvl9pPr>
          </a:lstStyle>
          <a:p xmlns:a="http://schemas.openxmlformats.org/drawingml/2006/main">
            <a:pPr>
              <a:defRPr sz="3300" b="1">
                <a:solidFill>
                  <a:srgbClr val="102744"/>
                </a:solidFill>
              </a:defRPr>
            </a:pPr>
            <a:r>
              <a:rPr sz="3300" b="1">
                <a:solidFill>
                  <a:srgbClr val="102744"/>
                </a:solidFill>
              </a:rPr>
              <a:t>Public sources guide the research</a:t>
            </a:r>
          </a:p>
        </p:txBody>
      </p:sp>
      <p:sp>
        <p:nvSpPr>
          <p:cNvPr id="4" name="Body">
            <a:extLst xmlns:a="http://schemas.openxmlformats.org/drawingml/2006/main">
              <a:ext uri="{FF2B5EF4-FFF2-40B4-BE49-F238E27FC236}">
                <a16:creationId xmlns:a16="http://schemas.microsoft.com/office/drawing/2014/main" id="{891CCE5C-55E8-4B4A-BF9B-CC44B1BB8A2A}"/>
              </a:ext>
            </a:extLst>
          </p:cNvPr>
          <p:cNvSpPr>
            <a:spLocks xmlns:a="http://schemas.openxmlformats.org/drawingml/2006/main" noGrp="1"/>
          </p:cNvSpPr>
          <p:nvPr/>
        </p:nvSpPr>
        <p:spPr>
          <a:xfrm xmlns:a="http://schemas.openxmlformats.org/drawingml/2006/main">
            <a:off x="495300" y="1847850"/>
            <a:ext cx="2857500" cy="409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25354B"/>
                </a:solidFill>
              </a:defRPr>
            </a:defPPr>
            <a:lvl1pPr>
              <a:defRPr sz="1800" b="0">
                <a:solidFill>
                  <a:srgbClr val="25354B"/>
                </a:solidFill>
              </a:defRPr>
            </a:lvl1pPr>
            <a:lvl2pPr>
              <a:defRPr sz="1800" b="0">
                <a:solidFill>
                  <a:srgbClr val="25354B"/>
                </a:solidFill>
              </a:defRPr>
            </a:lvl2pPr>
            <a:lvl3pPr>
              <a:defRPr sz="1800" b="0">
                <a:solidFill>
                  <a:srgbClr val="25354B"/>
                </a:solidFill>
              </a:defRPr>
            </a:lvl3pPr>
            <a:lvl4pPr>
              <a:defRPr sz="1800" b="0">
                <a:solidFill>
                  <a:srgbClr val="25354B"/>
                </a:solidFill>
              </a:defRPr>
            </a:lvl4pPr>
            <a:lvl5pPr>
              <a:defRPr sz="1800" b="0">
                <a:solidFill>
                  <a:srgbClr val="25354B"/>
                </a:solidFill>
              </a:defRPr>
            </a:lvl5pPr>
            <a:lvl6pPr>
              <a:defRPr sz="1800" b="0">
                <a:solidFill>
                  <a:srgbClr val="25354B"/>
                </a:solidFill>
              </a:defRPr>
            </a:lvl6pPr>
            <a:lvl7pPr>
              <a:defRPr sz="1800" b="0">
                <a:solidFill>
                  <a:srgbClr val="25354B"/>
                </a:solidFill>
              </a:defRPr>
            </a:lvl7pPr>
            <a:lvl8pPr>
              <a:defRPr sz="1800" b="0">
                <a:solidFill>
                  <a:srgbClr val="25354B"/>
                </a:solidFill>
              </a:defRPr>
            </a:lvl8pPr>
            <a:lvl9pPr>
              <a:defRPr sz="1800" b="0">
                <a:solidFill>
                  <a:srgbClr val="25354B"/>
                </a:solidFill>
              </a:defRPr>
            </a:lvl9pPr>
          </a:lstStyle>
          <a:p xmlns:a="http://schemas.openxmlformats.org/drawingml/2006/main">
            <a:pPr>
              <a:defRPr sz="1800" b="0">
                <a:solidFill>
                  <a:srgbClr val="25354B"/>
                </a:solidFill>
              </a:defRPr>
            </a:pPr>
            <a:r>
              <a:rPr sz="1800" b="0">
                <a:solidFill>
                  <a:srgbClr val="25354B"/>
                </a:solidFill>
              </a:rPr>
              <a:t>The workflow prioritizes official company information and public records.</a:t>
            </a:r>
          </a:p>
          <a:p xmlns:a="http://schemas.openxmlformats.org/drawingml/2006/main">
            <a:r>
              <a:t/>
            </a:r>
          </a:p>
          <a:p xmlns:a="http://schemas.openxmlformats.org/drawingml/2006/main">
            <a:pPr>
              <a:defRPr sz="1800" b="0">
                <a:solidFill>
                  <a:srgbClr val="25354B"/>
                </a:solidFill>
              </a:defRPr>
            </a:pPr>
            <a:r>
              <a:rPr sz="1800" b="0">
                <a:solidFill>
                  <a:srgbClr val="25354B"/>
                </a:solidFill>
              </a:rPr>
              <a:t>It also considers news, hiring activity and accessible reviews.</a:t>
            </a:r>
          </a:p>
          <a:p xmlns:a="http://schemas.openxmlformats.org/drawingml/2006/main">
            <a:r>
              <a:t/>
            </a:r>
          </a:p>
          <a:p xmlns:a="http://schemas.openxmlformats.org/drawingml/2006/main">
            <a:pPr>
              <a:defRPr sz="1800" b="0">
                <a:solidFill>
                  <a:srgbClr val="25354B"/>
                </a:solidFill>
              </a:defRPr>
            </a:pPr>
            <a:r>
              <a:rPr sz="1800" b="0">
                <a:solidFill>
                  <a:srgbClr val="25354B"/>
                </a:solidFill>
              </a:rPr>
              <a:t>Every important claim needs supporting evidence.</a:t>
            </a:r>
          </a:p>
        </p:txBody>
      </p:sp>
      <p:pic>
        <p:nvPicPr>
          <p:cNvPr id="5" name="">
            <a:extLst xmlns:a="http://schemas.openxmlformats.org/drawingml/2006/main">
              <a:ext uri="{FF2B5EF4-FFF2-40B4-BE49-F238E27FC236}">
                <a16:creationId xmlns:a16="http://schemas.microsoft.com/office/drawing/2014/main" id="{2A6AA169-5172-4B9F-AAD4-B8006E4EB8A8}"/>
              </a:ext>
            </a:extLst>
          </p:cNvPr>
          <p:cNvPicPr>
            <a:picLocks xmlns:a="http://schemas.openxmlformats.org/drawingml/2006/main" noChangeAspect="1"/>
          </p:cNvPicPr>
          <p:nvPr/>
        </p:nvPicPr>
        <p:blipFill>
          <a:blip xmlns:r="http://schemas.openxmlformats.org/officeDocument/2006/relationships" xmlns:a="http://schemas.openxmlformats.org/drawingml/2006/main" r:embed="Rcc352ecf0b75426b"/>
          <a:stretch xmlns:a="http://schemas.openxmlformats.org/drawingml/2006/main"/>
        </p:blipFill>
        <p:spPr>
          <a:xfrm xmlns:a="http://schemas.openxmlformats.org/drawingml/2006/main">
            <a:off x="5388814" y="1666875"/>
            <a:ext cx="4605248" cy="3905250"/>
          </a:xfrm>
          <a:prstGeom xmlns:a="http://schemas.openxmlformats.org/drawingml/2006/main" prst="rect">
            <a:avLst/>
          </a:prstGeom>
        </p:spPr>
      </p:pic>
      <p:sp>
        <p:nvSpPr>
          <p:cNvPr id="6" name="Caption">
            <a:extLst xmlns:a="http://schemas.openxmlformats.org/drawingml/2006/main">
              <a:ext uri="{FF2B5EF4-FFF2-40B4-BE49-F238E27FC236}">
                <a16:creationId xmlns:a16="http://schemas.microsoft.com/office/drawing/2014/main" id="{60A347CD-6AEB-4248-BDAF-333CE1865ECB}"/>
              </a:ext>
            </a:extLst>
          </p:cNvPr>
          <p:cNvSpPr>
            <a:spLocks xmlns:a="http://schemas.openxmlformats.org/drawingml/2006/main" noGrp="1"/>
          </p:cNvSpPr>
          <p:nvPr/>
        </p:nvSpPr>
        <p:spPr>
          <a:xfrm xmlns:a="http://schemas.openxmlformats.org/drawingml/2006/main">
            <a:off x="3714750" y="5810250"/>
            <a:ext cx="79533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0">
                <a:solidFill>
                  <a:srgbClr val="087DDF"/>
                </a:solidFill>
              </a:defRPr>
            </a:defPPr>
            <a:lvl1pPr>
              <a:defRPr sz="1425" b="0">
                <a:solidFill>
                  <a:srgbClr val="087DDF"/>
                </a:solidFill>
              </a:defRPr>
            </a:lvl1pPr>
            <a:lvl2pPr>
              <a:defRPr sz="1425" b="0">
                <a:solidFill>
                  <a:srgbClr val="087DDF"/>
                </a:solidFill>
              </a:defRPr>
            </a:lvl2pPr>
            <a:lvl3pPr>
              <a:defRPr sz="1425" b="0">
                <a:solidFill>
                  <a:srgbClr val="087DDF"/>
                </a:solidFill>
              </a:defRPr>
            </a:lvl3pPr>
            <a:lvl4pPr>
              <a:defRPr sz="1425" b="0">
                <a:solidFill>
                  <a:srgbClr val="087DDF"/>
                </a:solidFill>
              </a:defRPr>
            </a:lvl4pPr>
            <a:lvl5pPr>
              <a:defRPr sz="1425" b="0">
                <a:solidFill>
                  <a:srgbClr val="087DDF"/>
                </a:solidFill>
              </a:defRPr>
            </a:lvl5pPr>
            <a:lvl6pPr>
              <a:defRPr sz="1425" b="0">
                <a:solidFill>
                  <a:srgbClr val="087DDF"/>
                </a:solidFill>
              </a:defRPr>
            </a:lvl6pPr>
            <a:lvl7pPr>
              <a:defRPr sz="1425" b="0">
                <a:solidFill>
                  <a:srgbClr val="087DDF"/>
                </a:solidFill>
              </a:defRPr>
            </a:lvl7pPr>
            <a:lvl8pPr>
              <a:defRPr sz="1425" b="0">
                <a:solidFill>
                  <a:srgbClr val="087DDF"/>
                </a:solidFill>
              </a:defRPr>
            </a:lvl8pPr>
            <a:lvl9pPr>
              <a:defRPr sz="1425" b="0">
                <a:solidFill>
                  <a:srgbClr val="087DDF"/>
                </a:solidFill>
              </a:defRPr>
            </a:lvl9pPr>
          </a:lstStyle>
          <a:p xmlns:a="http://schemas.openxmlformats.org/drawingml/2006/main">
            <a:pPr>
              <a:defRPr sz="1425" b="0">
                <a:solidFill>
                  <a:srgbClr val="087DDF"/>
                </a:solidFill>
              </a:defRPr>
            </a:pPr>
            <a:r>
              <a:rPr sz="1425" b="0">
                <a:solidFill>
                  <a:srgbClr val="087DDF"/>
                </a:solidFill>
              </a:rPr>
              <a:t>The source document defines which evidence the agent should examine.</a:t>
            </a:r>
          </a:p>
        </p:txBody>
      </p:sp>
      <p:sp>
        <p:nvSpPr>
          <p:cNvPr id="7" name="Footer">
            <a:extLst xmlns:a="http://schemas.openxmlformats.org/drawingml/2006/main">
              <a:ext uri="{FF2B5EF4-FFF2-40B4-BE49-F238E27FC236}">
                <a16:creationId xmlns:a16="http://schemas.microsoft.com/office/drawing/2014/main" id="{4C22B99A-99FB-4E94-B6A2-EA68C3C64A65}"/>
              </a:ext>
            </a:extLst>
          </p:cNvPr>
          <p:cNvSpPr>
            <a:spLocks xmlns:a="http://schemas.openxmlformats.org/drawingml/2006/main" noGrp="1"/>
          </p:cNvSpPr>
          <p:nvPr/>
        </p:nvSpPr>
        <p:spPr>
          <a:xfrm xmlns:a="http://schemas.openxmlformats.org/drawingml/2006/main">
            <a:off x="495300" y="6419850"/>
            <a:ext cx="10953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9778B"/>
                </a:solidFill>
              </a:defRPr>
            </a:defPPr>
            <a:lvl1pPr>
              <a:defRPr sz="1200" b="0">
                <a:solidFill>
                  <a:srgbClr val="69778B"/>
                </a:solidFill>
              </a:defRPr>
            </a:lvl1pPr>
            <a:lvl2pPr>
              <a:defRPr sz="1200" b="0">
                <a:solidFill>
                  <a:srgbClr val="69778B"/>
                </a:solidFill>
              </a:defRPr>
            </a:lvl2pPr>
            <a:lvl3pPr>
              <a:defRPr sz="1200" b="0">
                <a:solidFill>
                  <a:srgbClr val="69778B"/>
                </a:solidFill>
              </a:defRPr>
            </a:lvl3pPr>
            <a:lvl4pPr>
              <a:defRPr sz="1200" b="0">
                <a:solidFill>
                  <a:srgbClr val="69778B"/>
                </a:solidFill>
              </a:defRPr>
            </a:lvl4pPr>
            <a:lvl5pPr>
              <a:defRPr sz="1200" b="0">
                <a:solidFill>
                  <a:srgbClr val="69778B"/>
                </a:solidFill>
              </a:defRPr>
            </a:lvl5pPr>
            <a:lvl6pPr>
              <a:defRPr sz="1200" b="0">
                <a:solidFill>
                  <a:srgbClr val="69778B"/>
                </a:solidFill>
              </a:defRPr>
            </a:lvl6pPr>
            <a:lvl7pPr>
              <a:defRPr sz="1200" b="0">
                <a:solidFill>
                  <a:srgbClr val="69778B"/>
                </a:solidFill>
              </a:defRPr>
            </a:lvl7pPr>
            <a:lvl8pPr>
              <a:defRPr sz="1200" b="0">
                <a:solidFill>
                  <a:srgbClr val="69778B"/>
                </a:solidFill>
              </a:defRPr>
            </a:lvl8pPr>
            <a:lvl9pPr>
              <a:defRPr sz="1200" b="0">
                <a:solidFill>
                  <a:srgbClr val="69778B"/>
                </a:solidFill>
              </a:defRPr>
            </a:lvl9pPr>
          </a:lstStyle>
          <a:p xmlns:a="http://schemas.openxmlformats.org/drawingml/2006/main">
            <a:pPr>
              <a:defRPr sz="1200" b="0">
                <a:solidFill>
                  <a:srgbClr val="69778B"/>
                </a:solidFill>
              </a:defRPr>
            </a:pPr>
            <a:r>
              <a:rPr sz="1200" b="0">
                <a:solidFill>
                  <a:srgbClr val="69778B"/>
                </a:solidFill>
              </a:rPr>
              <a:t>Build 3   /   Public research demonstration   /   21 October 2026</a:t>
            </a:r>
          </a:p>
        </p:txBody>
      </p:sp>
    </p:spTree>
    <p:extLst>
      <p:ext uri="{BB962C8B-B14F-4D97-AF65-F5344CB8AC3E}">
        <p14:creationId xmlns:p14="http://schemas.microsoft.com/office/powerpoint/2010/main" val="199440145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tep">
            <a:extLst xmlns:a="http://schemas.openxmlformats.org/drawingml/2006/main">
              <a:ext uri="{FF2B5EF4-FFF2-40B4-BE49-F238E27FC236}">
                <a16:creationId xmlns:a16="http://schemas.microsoft.com/office/drawing/2014/main" id="{9FA97389-FE2D-422A-928C-0253BAFE26E0}"/>
              </a:ext>
            </a:extLst>
          </p:cNvPr>
          <p:cNvSpPr>
            <a:spLocks xmlns:a="http://schemas.openxmlformats.org/drawingml/2006/main" noGrp="1"/>
          </p:cNvSpPr>
          <p:nvPr/>
        </p:nvSpPr>
        <p:spPr>
          <a:xfrm xmlns:a="http://schemas.openxmlformats.org/drawingml/2006/main">
            <a:off x="495300" y="342900"/>
            <a:ext cx="704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087DDF"/>
                </a:solidFill>
              </a:defRPr>
            </a:defPPr>
            <a:lvl1pPr>
              <a:defRPr sz="1800" b="1">
                <a:solidFill>
                  <a:srgbClr val="087DDF"/>
                </a:solidFill>
              </a:defRPr>
            </a:lvl1pPr>
            <a:lvl2pPr>
              <a:defRPr sz="1800" b="1">
                <a:solidFill>
                  <a:srgbClr val="087DDF"/>
                </a:solidFill>
              </a:defRPr>
            </a:lvl2pPr>
            <a:lvl3pPr>
              <a:defRPr sz="1800" b="1">
                <a:solidFill>
                  <a:srgbClr val="087DDF"/>
                </a:solidFill>
              </a:defRPr>
            </a:lvl3pPr>
            <a:lvl4pPr>
              <a:defRPr sz="1800" b="1">
                <a:solidFill>
                  <a:srgbClr val="087DDF"/>
                </a:solidFill>
              </a:defRPr>
            </a:lvl4pPr>
            <a:lvl5pPr>
              <a:defRPr sz="1800" b="1">
                <a:solidFill>
                  <a:srgbClr val="087DDF"/>
                </a:solidFill>
              </a:defRPr>
            </a:lvl5pPr>
            <a:lvl6pPr>
              <a:defRPr sz="1800" b="1">
                <a:solidFill>
                  <a:srgbClr val="087DDF"/>
                </a:solidFill>
              </a:defRPr>
            </a:lvl6pPr>
            <a:lvl7pPr>
              <a:defRPr sz="1800" b="1">
                <a:solidFill>
                  <a:srgbClr val="087DDF"/>
                </a:solidFill>
              </a:defRPr>
            </a:lvl7pPr>
            <a:lvl8pPr>
              <a:defRPr sz="1800" b="1">
                <a:solidFill>
                  <a:srgbClr val="087DDF"/>
                </a:solidFill>
              </a:defRPr>
            </a:lvl8pPr>
            <a:lvl9pPr>
              <a:defRPr sz="1800" b="1">
                <a:solidFill>
                  <a:srgbClr val="087DDF"/>
                </a:solidFill>
              </a:defRPr>
            </a:lvl9pPr>
          </a:lstStyle>
          <a:p xmlns:a="http://schemas.openxmlformats.org/drawingml/2006/main">
            <a:pPr>
              <a:defRPr sz="1800" b="1">
                <a:solidFill>
                  <a:srgbClr val="087DDF"/>
                </a:solidFill>
              </a:defRPr>
            </a:pPr>
            <a:r>
              <a:rPr sz="1800" b="1">
                <a:solidFill>
                  <a:srgbClr val="087DDF"/>
                </a:solidFill>
              </a:rPr>
              <a:t>08</a:t>
            </a:r>
          </a:p>
        </p:txBody>
      </p:sp>
      <p:sp>
        <p:nvSpPr>
          <p:cNvPr id="3" name="Title">
            <a:extLst xmlns:a="http://schemas.openxmlformats.org/drawingml/2006/main">
              <a:ext uri="{FF2B5EF4-FFF2-40B4-BE49-F238E27FC236}">
                <a16:creationId xmlns:a16="http://schemas.microsoft.com/office/drawing/2014/main" id="{18CF34FF-2F83-4B1A-ACE4-C3380751B8DB}"/>
              </a:ext>
            </a:extLst>
          </p:cNvPr>
          <p:cNvSpPr>
            <a:spLocks xmlns:a="http://schemas.openxmlformats.org/drawingml/2006/main" noGrp="1"/>
          </p:cNvSpPr>
          <p:nvPr/>
        </p:nvSpPr>
        <p:spPr>
          <a:xfrm xmlns:a="http://schemas.openxmlformats.org/drawingml/2006/main">
            <a:off x="495300" y="762000"/>
            <a:ext cx="1104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744"/>
                </a:solidFill>
              </a:defRPr>
            </a:defPPr>
            <a:lvl1pPr>
              <a:defRPr sz="3300" b="1">
                <a:solidFill>
                  <a:srgbClr val="102744"/>
                </a:solidFill>
              </a:defRPr>
            </a:lvl1pPr>
            <a:lvl2pPr>
              <a:defRPr sz="3300" b="1">
                <a:solidFill>
                  <a:srgbClr val="102744"/>
                </a:solidFill>
              </a:defRPr>
            </a:lvl2pPr>
            <a:lvl3pPr>
              <a:defRPr sz="3300" b="1">
                <a:solidFill>
                  <a:srgbClr val="102744"/>
                </a:solidFill>
              </a:defRPr>
            </a:lvl3pPr>
            <a:lvl4pPr>
              <a:defRPr sz="3300" b="1">
                <a:solidFill>
                  <a:srgbClr val="102744"/>
                </a:solidFill>
              </a:defRPr>
            </a:lvl4pPr>
            <a:lvl5pPr>
              <a:defRPr sz="3300" b="1">
                <a:solidFill>
                  <a:srgbClr val="102744"/>
                </a:solidFill>
              </a:defRPr>
            </a:lvl5pPr>
            <a:lvl6pPr>
              <a:defRPr sz="3300" b="1">
                <a:solidFill>
                  <a:srgbClr val="102744"/>
                </a:solidFill>
              </a:defRPr>
            </a:lvl6pPr>
            <a:lvl7pPr>
              <a:defRPr sz="3300" b="1">
                <a:solidFill>
                  <a:srgbClr val="102744"/>
                </a:solidFill>
              </a:defRPr>
            </a:lvl7pPr>
            <a:lvl8pPr>
              <a:defRPr sz="3300" b="1">
                <a:solidFill>
                  <a:srgbClr val="102744"/>
                </a:solidFill>
              </a:defRPr>
            </a:lvl8pPr>
            <a:lvl9pPr>
              <a:defRPr sz="3300" b="1">
                <a:solidFill>
                  <a:srgbClr val="102744"/>
                </a:solidFill>
              </a:defRPr>
            </a:lvl9pPr>
          </a:lstStyle>
          <a:p xmlns:a="http://schemas.openxmlformats.org/drawingml/2006/main">
            <a:pPr>
              <a:defRPr sz="3300" b="1">
                <a:solidFill>
                  <a:srgbClr val="102744"/>
                </a:solidFill>
              </a:defRPr>
            </a:pPr>
            <a:r>
              <a:rPr sz="3300" b="1">
                <a:solidFill>
                  <a:srgbClr val="102744"/>
                </a:solidFill>
              </a:rPr>
              <a:t>The company research request</a:t>
            </a:r>
          </a:p>
        </p:txBody>
      </p:sp>
      <p:sp>
        <p:nvSpPr>
          <p:cNvPr id="4" name="Body">
            <a:extLst xmlns:a="http://schemas.openxmlformats.org/drawingml/2006/main">
              <a:ext uri="{FF2B5EF4-FFF2-40B4-BE49-F238E27FC236}">
                <a16:creationId xmlns:a16="http://schemas.microsoft.com/office/drawing/2014/main" id="{601D72AD-5FCC-4495-BD57-817B81D5700A}"/>
              </a:ext>
            </a:extLst>
          </p:cNvPr>
          <p:cNvSpPr>
            <a:spLocks xmlns:a="http://schemas.openxmlformats.org/drawingml/2006/main" noGrp="1"/>
          </p:cNvSpPr>
          <p:nvPr/>
        </p:nvSpPr>
        <p:spPr>
          <a:xfrm xmlns:a="http://schemas.openxmlformats.org/drawingml/2006/main">
            <a:off x="495300" y="1847850"/>
            <a:ext cx="2857500" cy="409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25354B"/>
                </a:solidFill>
              </a:defRPr>
            </a:defPPr>
            <a:lvl1pPr>
              <a:defRPr sz="1800" b="0">
                <a:solidFill>
                  <a:srgbClr val="25354B"/>
                </a:solidFill>
              </a:defRPr>
            </a:lvl1pPr>
            <a:lvl2pPr>
              <a:defRPr sz="1800" b="0">
                <a:solidFill>
                  <a:srgbClr val="25354B"/>
                </a:solidFill>
              </a:defRPr>
            </a:lvl2pPr>
            <a:lvl3pPr>
              <a:defRPr sz="1800" b="0">
                <a:solidFill>
                  <a:srgbClr val="25354B"/>
                </a:solidFill>
              </a:defRPr>
            </a:lvl3pPr>
            <a:lvl4pPr>
              <a:defRPr sz="1800" b="0">
                <a:solidFill>
                  <a:srgbClr val="25354B"/>
                </a:solidFill>
              </a:defRPr>
            </a:lvl4pPr>
            <a:lvl5pPr>
              <a:defRPr sz="1800" b="0">
                <a:solidFill>
                  <a:srgbClr val="25354B"/>
                </a:solidFill>
              </a:defRPr>
            </a:lvl5pPr>
            <a:lvl6pPr>
              <a:defRPr sz="1800" b="0">
                <a:solidFill>
                  <a:srgbClr val="25354B"/>
                </a:solidFill>
              </a:defRPr>
            </a:lvl6pPr>
            <a:lvl7pPr>
              <a:defRPr sz="1800" b="0">
                <a:solidFill>
                  <a:srgbClr val="25354B"/>
                </a:solidFill>
              </a:defRPr>
            </a:lvl7pPr>
            <a:lvl8pPr>
              <a:defRPr sz="1800" b="0">
                <a:solidFill>
                  <a:srgbClr val="25354B"/>
                </a:solidFill>
              </a:defRPr>
            </a:lvl8pPr>
            <a:lvl9pPr>
              <a:defRPr sz="1800" b="0">
                <a:solidFill>
                  <a:srgbClr val="25354B"/>
                </a:solidFill>
              </a:defRPr>
            </a:lvl9pPr>
          </a:lstStyle>
          <a:p xmlns:a="http://schemas.openxmlformats.org/drawingml/2006/main">
            <a:pPr>
              <a:defRPr sz="1800" b="0">
                <a:solidFill>
                  <a:srgbClr val="25354B"/>
                </a:solidFill>
              </a:defRPr>
            </a:pPr>
            <a:r>
              <a:rPr sz="1800" b="0">
                <a:solidFill>
                  <a:srgbClr val="25354B"/>
                </a:solidFill>
              </a:rPr>
              <a:t>Enter the legal company name, country and website.</a:t>
            </a:r>
          </a:p>
          <a:p xmlns:a="http://schemas.openxmlformats.org/drawingml/2006/main">
            <a:r>
              <a:t/>
            </a:r>
          </a:p>
          <a:p xmlns:a="http://schemas.openxmlformats.org/drawingml/2006/main">
            <a:pPr>
              <a:defRPr sz="1800" b="0">
                <a:solidFill>
                  <a:srgbClr val="25354B"/>
                </a:solidFill>
              </a:defRPr>
            </a:pPr>
            <a:r>
              <a:rPr sz="1800" b="0">
                <a:solidFill>
                  <a:srgbClr val="25354B"/>
                </a:solidFill>
              </a:rPr>
              <a:t>Ask for separate scores, evidence coverage and source links.</a:t>
            </a:r>
          </a:p>
          <a:p xmlns:a="http://schemas.openxmlformats.org/drawingml/2006/main">
            <a:r>
              <a:t/>
            </a:r>
          </a:p>
          <a:p xmlns:a="http://schemas.openxmlformats.org/drawingml/2006/main">
            <a:pPr>
              <a:defRPr sz="1800" b="0">
                <a:solidFill>
                  <a:srgbClr val="25354B"/>
                </a:solidFill>
              </a:defRPr>
            </a:pPr>
            <a:r>
              <a:rPr sz="1800" b="0">
                <a:solidFill>
                  <a:srgbClr val="25354B"/>
                </a:solidFill>
              </a:rPr>
              <a:t>Request the confidential PDF and a draft outreach email.</a:t>
            </a:r>
          </a:p>
        </p:txBody>
      </p:sp>
      <p:pic>
        <p:nvPicPr>
          <p:cNvPr id="5" name="">
            <a:extLst xmlns:a="http://schemas.openxmlformats.org/drawingml/2006/main">
              <a:ext uri="{FF2B5EF4-FFF2-40B4-BE49-F238E27FC236}">
                <a16:creationId xmlns:a16="http://schemas.microsoft.com/office/drawing/2014/main" id="{8ACA45F6-02B5-4640-BF3F-A94B37023990}"/>
              </a:ext>
            </a:extLst>
          </p:cNvPr>
          <p:cNvPicPr>
            <a:picLocks xmlns:a="http://schemas.openxmlformats.org/drawingml/2006/main" noChangeAspect="1"/>
          </p:cNvPicPr>
          <p:nvPr/>
        </p:nvPicPr>
        <p:blipFill>
          <a:blip xmlns:r="http://schemas.openxmlformats.org/officeDocument/2006/relationships" xmlns:a="http://schemas.openxmlformats.org/drawingml/2006/main" r:embed="Rdea80f1e2846470a"/>
          <a:stretch xmlns:a="http://schemas.openxmlformats.org/drawingml/2006/main"/>
        </p:blipFill>
        <p:spPr>
          <a:xfrm xmlns:a="http://schemas.openxmlformats.org/drawingml/2006/main">
            <a:off x="4940966" y="1666875"/>
            <a:ext cx="5500944" cy="3905250"/>
          </a:xfrm>
          <a:prstGeom xmlns:a="http://schemas.openxmlformats.org/drawingml/2006/main" prst="rect">
            <a:avLst/>
          </a:prstGeom>
        </p:spPr>
      </p:pic>
      <p:sp>
        <p:nvSpPr>
          <p:cNvPr id="6" name="Caption">
            <a:extLst xmlns:a="http://schemas.openxmlformats.org/drawingml/2006/main">
              <a:ext uri="{FF2B5EF4-FFF2-40B4-BE49-F238E27FC236}">
                <a16:creationId xmlns:a16="http://schemas.microsoft.com/office/drawing/2014/main" id="{E7A21C81-545D-4335-8C10-E28578B6D873}"/>
              </a:ext>
            </a:extLst>
          </p:cNvPr>
          <p:cNvSpPr>
            <a:spLocks xmlns:a="http://schemas.openxmlformats.org/drawingml/2006/main" noGrp="1"/>
          </p:cNvSpPr>
          <p:nvPr/>
        </p:nvSpPr>
        <p:spPr>
          <a:xfrm xmlns:a="http://schemas.openxmlformats.org/drawingml/2006/main">
            <a:off x="3714750" y="5810250"/>
            <a:ext cx="79533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0">
                <a:solidFill>
                  <a:srgbClr val="087DDF"/>
                </a:solidFill>
              </a:defRPr>
            </a:defPPr>
            <a:lvl1pPr>
              <a:defRPr sz="1425" b="0">
                <a:solidFill>
                  <a:srgbClr val="087DDF"/>
                </a:solidFill>
              </a:defRPr>
            </a:lvl1pPr>
            <a:lvl2pPr>
              <a:defRPr sz="1425" b="0">
                <a:solidFill>
                  <a:srgbClr val="087DDF"/>
                </a:solidFill>
              </a:defRPr>
            </a:lvl2pPr>
            <a:lvl3pPr>
              <a:defRPr sz="1425" b="0">
                <a:solidFill>
                  <a:srgbClr val="087DDF"/>
                </a:solidFill>
              </a:defRPr>
            </a:lvl3pPr>
            <a:lvl4pPr>
              <a:defRPr sz="1425" b="0">
                <a:solidFill>
                  <a:srgbClr val="087DDF"/>
                </a:solidFill>
              </a:defRPr>
            </a:lvl4pPr>
            <a:lvl5pPr>
              <a:defRPr sz="1425" b="0">
                <a:solidFill>
                  <a:srgbClr val="087DDF"/>
                </a:solidFill>
              </a:defRPr>
            </a:lvl5pPr>
            <a:lvl6pPr>
              <a:defRPr sz="1425" b="0">
                <a:solidFill>
                  <a:srgbClr val="087DDF"/>
                </a:solidFill>
              </a:defRPr>
            </a:lvl6pPr>
            <a:lvl7pPr>
              <a:defRPr sz="1425" b="0">
                <a:solidFill>
                  <a:srgbClr val="087DDF"/>
                </a:solidFill>
              </a:defRPr>
            </a:lvl7pPr>
            <a:lvl8pPr>
              <a:defRPr sz="1425" b="0">
                <a:solidFill>
                  <a:srgbClr val="087DDF"/>
                </a:solidFill>
              </a:defRPr>
            </a:lvl8pPr>
            <a:lvl9pPr>
              <a:defRPr sz="1425" b="0">
                <a:solidFill>
                  <a:srgbClr val="087DDF"/>
                </a:solidFill>
              </a:defRPr>
            </a:lvl9pPr>
          </a:lstStyle>
          <a:p xmlns:a="http://schemas.openxmlformats.org/drawingml/2006/main">
            <a:pPr>
              <a:defRPr sz="1425" b="0">
                <a:solidFill>
                  <a:srgbClr val="087DDF"/>
                </a:solidFill>
              </a:defRPr>
            </a:pPr>
            <a:r>
              <a:rPr sz="1425" b="0">
                <a:solidFill>
                  <a:srgbClr val="087DDF"/>
                </a:solidFill>
              </a:rPr>
              <a:t>The live example researches Cargill, Incorporated in the United States.</a:t>
            </a:r>
          </a:p>
        </p:txBody>
      </p:sp>
      <p:sp>
        <p:nvSpPr>
          <p:cNvPr id="7" name="Footer">
            <a:extLst xmlns:a="http://schemas.openxmlformats.org/drawingml/2006/main">
              <a:ext uri="{FF2B5EF4-FFF2-40B4-BE49-F238E27FC236}">
                <a16:creationId xmlns:a16="http://schemas.microsoft.com/office/drawing/2014/main" id="{15749F61-B426-4F5A-B030-BEECEAFDEFB3}"/>
              </a:ext>
            </a:extLst>
          </p:cNvPr>
          <p:cNvSpPr>
            <a:spLocks xmlns:a="http://schemas.openxmlformats.org/drawingml/2006/main" noGrp="1"/>
          </p:cNvSpPr>
          <p:nvPr/>
        </p:nvSpPr>
        <p:spPr>
          <a:xfrm xmlns:a="http://schemas.openxmlformats.org/drawingml/2006/main">
            <a:off x="495300" y="6419850"/>
            <a:ext cx="10953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9778B"/>
                </a:solidFill>
              </a:defRPr>
            </a:defPPr>
            <a:lvl1pPr>
              <a:defRPr sz="1200" b="0">
                <a:solidFill>
                  <a:srgbClr val="69778B"/>
                </a:solidFill>
              </a:defRPr>
            </a:lvl1pPr>
            <a:lvl2pPr>
              <a:defRPr sz="1200" b="0">
                <a:solidFill>
                  <a:srgbClr val="69778B"/>
                </a:solidFill>
              </a:defRPr>
            </a:lvl2pPr>
            <a:lvl3pPr>
              <a:defRPr sz="1200" b="0">
                <a:solidFill>
                  <a:srgbClr val="69778B"/>
                </a:solidFill>
              </a:defRPr>
            </a:lvl3pPr>
            <a:lvl4pPr>
              <a:defRPr sz="1200" b="0">
                <a:solidFill>
                  <a:srgbClr val="69778B"/>
                </a:solidFill>
              </a:defRPr>
            </a:lvl4pPr>
            <a:lvl5pPr>
              <a:defRPr sz="1200" b="0">
                <a:solidFill>
                  <a:srgbClr val="69778B"/>
                </a:solidFill>
              </a:defRPr>
            </a:lvl5pPr>
            <a:lvl6pPr>
              <a:defRPr sz="1200" b="0">
                <a:solidFill>
                  <a:srgbClr val="69778B"/>
                </a:solidFill>
              </a:defRPr>
            </a:lvl6pPr>
            <a:lvl7pPr>
              <a:defRPr sz="1200" b="0">
                <a:solidFill>
                  <a:srgbClr val="69778B"/>
                </a:solidFill>
              </a:defRPr>
            </a:lvl7pPr>
            <a:lvl8pPr>
              <a:defRPr sz="1200" b="0">
                <a:solidFill>
                  <a:srgbClr val="69778B"/>
                </a:solidFill>
              </a:defRPr>
            </a:lvl8pPr>
            <a:lvl9pPr>
              <a:defRPr sz="1200" b="0">
                <a:solidFill>
                  <a:srgbClr val="69778B"/>
                </a:solidFill>
              </a:defRPr>
            </a:lvl9pPr>
          </a:lstStyle>
          <a:p xmlns:a="http://schemas.openxmlformats.org/drawingml/2006/main">
            <a:pPr>
              <a:defRPr sz="1200" b="0">
                <a:solidFill>
                  <a:srgbClr val="69778B"/>
                </a:solidFill>
              </a:defRPr>
            </a:pPr>
            <a:r>
              <a:rPr sz="1200" b="0">
                <a:solidFill>
                  <a:srgbClr val="69778B"/>
                </a:solidFill>
              </a:rPr>
              <a:t>Build 3   /   Public research demonstration   /   21 October 2026</a:t>
            </a:r>
          </a:p>
        </p:txBody>
      </p:sp>
    </p:spTree>
    <p:extLst>
      <p:ext uri="{BB962C8B-B14F-4D97-AF65-F5344CB8AC3E}">
        <p14:creationId xmlns:p14="http://schemas.microsoft.com/office/powerpoint/2010/main" val="16296056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tep">
            <a:extLst xmlns:a="http://schemas.openxmlformats.org/drawingml/2006/main">
              <a:ext uri="{FF2B5EF4-FFF2-40B4-BE49-F238E27FC236}">
                <a16:creationId xmlns:a16="http://schemas.microsoft.com/office/drawing/2014/main" id="{F4F55C3E-748B-43EF-BF88-9B2961C17D66}"/>
              </a:ext>
            </a:extLst>
          </p:cNvPr>
          <p:cNvSpPr>
            <a:spLocks xmlns:a="http://schemas.openxmlformats.org/drawingml/2006/main" noGrp="1"/>
          </p:cNvSpPr>
          <p:nvPr/>
        </p:nvSpPr>
        <p:spPr>
          <a:xfrm xmlns:a="http://schemas.openxmlformats.org/drawingml/2006/main">
            <a:off x="495300" y="342900"/>
            <a:ext cx="704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087DDF"/>
                </a:solidFill>
              </a:defRPr>
            </a:defPPr>
            <a:lvl1pPr>
              <a:defRPr sz="1800" b="1">
                <a:solidFill>
                  <a:srgbClr val="087DDF"/>
                </a:solidFill>
              </a:defRPr>
            </a:lvl1pPr>
            <a:lvl2pPr>
              <a:defRPr sz="1800" b="1">
                <a:solidFill>
                  <a:srgbClr val="087DDF"/>
                </a:solidFill>
              </a:defRPr>
            </a:lvl2pPr>
            <a:lvl3pPr>
              <a:defRPr sz="1800" b="1">
                <a:solidFill>
                  <a:srgbClr val="087DDF"/>
                </a:solidFill>
              </a:defRPr>
            </a:lvl3pPr>
            <a:lvl4pPr>
              <a:defRPr sz="1800" b="1">
                <a:solidFill>
                  <a:srgbClr val="087DDF"/>
                </a:solidFill>
              </a:defRPr>
            </a:lvl4pPr>
            <a:lvl5pPr>
              <a:defRPr sz="1800" b="1">
                <a:solidFill>
                  <a:srgbClr val="087DDF"/>
                </a:solidFill>
              </a:defRPr>
            </a:lvl5pPr>
            <a:lvl6pPr>
              <a:defRPr sz="1800" b="1">
                <a:solidFill>
                  <a:srgbClr val="087DDF"/>
                </a:solidFill>
              </a:defRPr>
            </a:lvl6pPr>
            <a:lvl7pPr>
              <a:defRPr sz="1800" b="1">
                <a:solidFill>
                  <a:srgbClr val="087DDF"/>
                </a:solidFill>
              </a:defRPr>
            </a:lvl7pPr>
            <a:lvl8pPr>
              <a:defRPr sz="1800" b="1">
                <a:solidFill>
                  <a:srgbClr val="087DDF"/>
                </a:solidFill>
              </a:defRPr>
            </a:lvl8pPr>
            <a:lvl9pPr>
              <a:defRPr sz="1800" b="1">
                <a:solidFill>
                  <a:srgbClr val="087DDF"/>
                </a:solidFill>
              </a:defRPr>
            </a:lvl9pPr>
          </a:lstStyle>
          <a:p xmlns:a="http://schemas.openxmlformats.org/drawingml/2006/main">
            <a:pPr>
              <a:defRPr sz="1800" b="1">
                <a:solidFill>
                  <a:srgbClr val="087DDF"/>
                </a:solidFill>
              </a:defRPr>
            </a:pPr>
            <a:r>
              <a:rPr sz="1800" b="1">
                <a:solidFill>
                  <a:srgbClr val="087DDF"/>
                </a:solidFill>
              </a:rPr>
              <a:t>09</a:t>
            </a:r>
          </a:p>
        </p:txBody>
      </p:sp>
      <p:sp>
        <p:nvSpPr>
          <p:cNvPr id="3" name="Title">
            <a:extLst xmlns:a="http://schemas.openxmlformats.org/drawingml/2006/main">
              <a:ext uri="{FF2B5EF4-FFF2-40B4-BE49-F238E27FC236}">
                <a16:creationId xmlns:a16="http://schemas.microsoft.com/office/drawing/2014/main" id="{9B04A0E9-8602-497D-9869-D2A1DA0584D7}"/>
              </a:ext>
            </a:extLst>
          </p:cNvPr>
          <p:cNvSpPr>
            <a:spLocks xmlns:a="http://schemas.openxmlformats.org/drawingml/2006/main" noGrp="1"/>
          </p:cNvSpPr>
          <p:nvPr/>
        </p:nvSpPr>
        <p:spPr>
          <a:xfrm xmlns:a="http://schemas.openxmlformats.org/drawingml/2006/main">
            <a:off x="495300" y="762000"/>
            <a:ext cx="1104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744"/>
                </a:solidFill>
              </a:defRPr>
            </a:defPPr>
            <a:lvl1pPr>
              <a:defRPr sz="3300" b="1">
                <a:solidFill>
                  <a:srgbClr val="102744"/>
                </a:solidFill>
              </a:defRPr>
            </a:lvl1pPr>
            <a:lvl2pPr>
              <a:defRPr sz="3300" b="1">
                <a:solidFill>
                  <a:srgbClr val="102744"/>
                </a:solidFill>
              </a:defRPr>
            </a:lvl2pPr>
            <a:lvl3pPr>
              <a:defRPr sz="3300" b="1">
                <a:solidFill>
                  <a:srgbClr val="102744"/>
                </a:solidFill>
              </a:defRPr>
            </a:lvl3pPr>
            <a:lvl4pPr>
              <a:defRPr sz="3300" b="1">
                <a:solidFill>
                  <a:srgbClr val="102744"/>
                </a:solidFill>
              </a:defRPr>
            </a:lvl4pPr>
            <a:lvl5pPr>
              <a:defRPr sz="3300" b="1">
                <a:solidFill>
                  <a:srgbClr val="102744"/>
                </a:solidFill>
              </a:defRPr>
            </a:lvl5pPr>
            <a:lvl6pPr>
              <a:defRPr sz="3300" b="1">
                <a:solidFill>
                  <a:srgbClr val="102744"/>
                </a:solidFill>
              </a:defRPr>
            </a:lvl6pPr>
            <a:lvl7pPr>
              <a:defRPr sz="3300" b="1">
                <a:solidFill>
                  <a:srgbClr val="102744"/>
                </a:solidFill>
              </a:defRPr>
            </a:lvl7pPr>
            <a:lvl8pPr>
              <a:defRPr sz="3300" b="1">
                <a:solidFill>
                  <a:srgbClr val="102744"/>
                </a:solidFill>
              </a:defRPr>
            </a:lvl8pPr>
            <a:lvl9pPr>
              <a:defRPr sz="3300" b="1">
                <a:solidFill>
                  <a:srgbClr val="102744"/>
                </a:solidFill>
              </a:defRPr>
            </a:lvl9pPr>
          </a:lstStyle>
          <a:p xmlns:a="http://schemas.openxmlformats.org/drawingml/2006/main">
            <a:pPr>
              <a:defRPr sz="3300" b="1">
                <a:solidFill>
                  <a:srgbClr val="102744"/>
                </a:solidFill>
              </a:defRPr>
            </a:pPr>
            <a:r>
              <a:rPr sz="3300" b="1">
                <a:solidFill>
                  <a:srgbClr val="102744"/>
                </a:solidFill>
              </a:rPr>
              <a:t>The live public research</a:t>
            </a:r>
          </a:p>
        </p:txBody>
      </p:sp>
      <p:sp>
        <p:nvSpPr>
          <p:cNvPr id="4" name="Body">
            <a:extLst xmlns:a="http://schemas.openxmlformats.org/drawingml/2006/main">
              <a:ext uri="{FF2B5EF4-FFF2-40B4-BE49-F238E27FC236}">
                <a16:creationId xmlns:a16="http://schemas.microsoft.com/office/drawing/2014/main" id="{EF4745EE-9950-4072-B1F6-2C2556A8A82D}"/>
              </a:ext>
            </a:extLst>
          </p:cNvPr>
          <p:cNvSpPr>
            <a:spLocks xmlns:a="http://schemas.openxmlformats.org/drawingml/2006/main" noGrp="1"/>
          </p:cNvSpPr>
          <p:nvPr/>
        </p:nvSpPr>
        <p:spPr>
          <a:xfrm xmlns:a="http://schemas.openxmlformats.org/drawingml/2006/main">
            <a:off x="495300" y="1847850"/>
            <a:ext cx="2857500" cy="409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25354B"/>
                </a:solidFill>
              </a:defRPr>
            </a:defPPr>
            <a:lvl1pPr>
              <a:defRPr sz="1800" b="0">
                <a:solidFill>
                  <a:srgbClr val="25354B"/>
                </a:solidFill>
              </a:defRPr>
            </a:lvl1pPr>
            <a:lvl2pPr>
              <a:defRPr sz="1800" b="0">
                <a:solidFill>
                  <a:srgbClr val="25354B"/>
                </a:solidFill>
              </a:defRPr>
            </a:lvl2pPr>
            <a:lvl3pPr>
              <a:defRPr sz="1800" b="0">
                <a:solidFill>
                  <a:srgbClr val="25354B"/>
                </a:solidFill>
              </a:defRPr>
            </a:lvl3pPr>
            <a:lvl4pPr>
              <a:defRPr sz="1800" b="0">
                <a:solidFill>
                  <a:srgbClr val="25354B"/>
                </a:solidFill>
              </a:defRPr>
            </a:lvl4pPr>
            <a:lvl5pPr>
              <a:defRPr sz="1800" b="0">
                <a:solidFill>
                  <a:srgbClr val="25354B"/>
                </a:solidFill>
              </a:defRPr>
            </a:lvl5pPr>
            <a:lvl6pPr>
              <a:defRPr sz="1800" b="0">
                <a:solidFill>
                  <a:srgbClr val="25354B"/>
                </a:solidFill>
              </a:defRPr>
            </a:lvl6pPr>
            <a:lvl7pPr>
              <a:defRPr sz="1800" b="0">
                <a:solidFill>
                  <a:srgbClr val="25354B"/>
                </a:solidFill>
              </a:defRPr>
            </a:lvl7pPr>
            <a:lvl8pPr>
              <a:defRPr sz="1800" b="0">
                <a:solidFill>
                  <a:srgbClr val="25354B"/>
                </a:solidFill>
              </a:defRPr>
            </a:lvl8pPr>
            <a:lvl9pPr>
              <a:defRPr sz="1800" b="0">
                <a:solidFill>
                  <a:srgbClr val="25354B"/>
                </a:solidFill>
              </a:defRPr>
            </a:lvl9pPr>
          </a:lstStyle>
          <a:p xmlns:a="http://schemas.openxmlformats.org/drawingml/2006/main">
            <a:pPr>
              <a:defRPr sz="1800" b="0">
                <a:solidFill>
                  <a:srgbClr val="25354B"/>
                </a:solidFill>
              </a:defRPr>
            </a:pPr>
            <a:r>
              <a:rPr sz="1800" b="0">
                <a:solidFill>
                  <a:srgbClr val="25354B"/>
                </a:solidFill>
              </a:rPr>
              <a:t>ChatGPT reads the workflow, then searches public sources.</a:t>
            </a:r>
          </a:p>
          <a:p xmlns:a="http://schemas.openxmlformats.org/drawingml/2006/main">
            <a:r>
              <a:t/>
            </a:r>
          </a:p>
          <a:p xmlns:a="http://schemas.openxmlformats.org/drawingml/2006/main">
            <a:pPr>
              <a:defRPr sz="1800" b="0">
                <a:solidFill>
                  <a:srgbClr val="25354B"/>
                </a:solidFill>
              </a:defRPr>
            </a:pPr>
            <a:r>
              <a:rPr sz="1800" b="0">
                <a:solidFill>
                  <a:srgbClr val="25354B"/>
                </a:solidFill>
              </a:rPr>
              <a:t>The progress message identifies restricted financial data.</a:t>
            </a:r>
          </a:p>
          <a:p xmlns:a="http://schemas.openxmlformats.org/drawingml/2006/main">
            <a:r>
              <a:t/>
            </a:r>
          </a:p>
          <a:p xmlns:a="http://schemas.openxmlformats.org/drawingml/2006/main">
            <a:pPr>
              <a:defRPr sz="1800" b="0">
                <a:solidFill>
                  <a:srgbClr val="25354B"/>
                </a:solidFill>
              </a:defRPr>
            </a:pPr>
            <a:r>
              <a:rPr sz="1800" b="0">
                <a:solidFill>
                  <a:srgbClr val="25354B"/>
                </a:solidFill>
              </a:rPr>
              <a:t>Missing evidence remains Unknown.</a:t>
            </a:r>
          </a:p>
        </p:txBody>
      </p:sp>
      <p:pic>
        <p:nvPicPr>
          <p:cNvPr id="5" name="">
            <a:extLst xmlns:a="http://schemas.openxmlformats.org/drawingml/2006/main">
              <a:ext uri="{FF2B5EF4-FFF2-40B4-BE49-F238E27FC236}">
                <a16:creationId xmlns:a16="http://schemas.microsoft.com/office/drawing/2014/main" id="{644F27A3-FF95-4308-AB8F-EB6FF9708972}"/>
              </a:ext>
            </a:extLst>
          </p:cNvPr>
          <p:cNvPicPr>
            <a:picLocks xmlns:a="http://schemas.openxmlformats.org/drawingml/2006/main" noChangeAspect="1"/>
          </p:cNvPicPr>
          <p:nvPr/>
        </p:nvPicPr>
        <p:blipFill>
          <a:blip xmlns:r="http://schemas.openxmlformats.org/officeDocument/2006/relationships" xmlns:a="http://schemas.openxmlformats.org/drawingml/2006/main" r:embed="R342cd571d627443d"/>
          <a:stretch xmlns:a="http://schemas.openxmlformats.org/drawingml/2006/main"/>
        </p:blipFill>
        <p:spPr>
          <a:xfrm xmlns:a="http://schemas.openxmlformats.org/drawingml/2006/main">
            <a:off x="3714750" y="2149636"/>
            <a:ext cx="7953375" cy="2939728"/>
          </a:xfrm>
          <a:prstGeom xmlns:a="http://schemas.openxmlformats.org/drawingml/2006/main" prst="rect">
            <a:avLst/>
          </a:prstGeom>
        </p:spPr>
      </p:pic>
      <p:sp>
        <p:nvSpPr>
          <p:cNvPr id="6" name="Caption">
            <a:extLst xmlns:a="http://schemas.openxmlformats.org/drawingml/2006/main">
              <a:ext uri="{FF2B5EF4-FFF2-40B4-BE49-F238E27FC236}">
                <a16:creationId xmlns:a16="http://schemas.microsoft.com/office/drawing/2014/main" id="{72946ABF-5A08-41A1-9F8E-2AC1DCB36748}"/>
              </a:ext>
            </a:extLst>
          </p:cNvPr>
          <p:cNvSpPr>
            <a:spLocks xmlns:a="http://schemas.openxmlformats.org/drawingml/2006/main" noGrp="1"/>
          </p:cNvSpPr>
          <p:nvPr/>
        </p:nvSpPr>
        <p:spPr>
          <a:xfrm xmlns:a="http://schemas.openxmlformats.org/drawingml/2006/main">
            <a:off x="3714750" y="5810250"/>
            <a:ext cx="79533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0">
                <a:solidFill>
                  <a:srgbClr val="087DDF"/>
                </a:solidFill>
              </a:defRPr>
            </a:defPPr>
            <a:lvl1pPr>
              <a:defRPr sz="1425" b="0">
                <a:solidFill>
                  <a:srgbClr val="087DDF"/>
                </a:solidFill>
              </a:defRPr>
            </a:lvl1pPr>
            <a:lvl2pPr>
              <a:defRPr sz="1425" b="0">
                <a:solidFill>
                  <a:srgbClr val="087DDF"/>
                </a:solidFill>
              </a:defRPr>
            </a:lvl2pPr>
            <a:lvl3pPr>
              <a:defRPr sz="1425" b="0">
                <a:solidFill>
                  <a:srgbClr val="087DDF"/>
                </a:solidFill>
              </a:defRPr>
            </a:lvl3pPr>
            <a:lvl4pPr>
              <a:defRPr sz="1425" b="0">
                <a:solidFill>
                  <a:srgbClr val="087DDF"/>
                </a:solidFill>
              </a:defRPr>
            </a:lvl4pPr>
            <a:lvl5pPr>
              <a:defRPr sz="1425" b="0">
                <a:solidFill>
                  <a:srgbClr val="087DDF"/>
                </a:solidFill>
              </a:defRPr>
            </a:lvl5pPr>
            <a:lvl6pPr>
              <a:defRPr sz="1425" b="0">
                <a:solidFill>
                  <a:srgbClr val="087DDF"/>
                </a:solidFill>
              </a:defRPr>
            </a:lvl6pPr>
            <a:lvl7pPr>
              <a:defRPr sz="1425" b="0">
                <a:solidFill>
                  <a:srgbClr val="087DDF"/>
                </a:solidFill>
              </a:defRPr>
            </a:lvl7pPr>
            <a:lvl8pPr>
              <a:defRPr sz="1425" b="0">
                <a:solidFill>
                  <a:srgbClr val="087DDF"/>
                </a:solidFill>
              </a:defRPr>
            </a:lvl8pPr>
            <a:lvl9pPr>
              <a:defRPr sz="1425" b="0">
                <a:solidFill>
                  <a:srgbClr val="087DDF"/>
                </a:solidFill>
              </a:defRPr>
            </a:lvl9pPr>
          </a:lstStyle>
          <a:p xmlns:a="http://schemas.openxmlformats.org/drawingml/2006/main">
            <a:pPr>
              <a:defRPr sz="1425" b="0">
                <a:solidFill>
                  <a:srgbClr val="087DDF"/>
                </a:solidFill>
              </a:defRPr>
            </a:pPr>
            <a:r>
              <a:rPr sz="1425" b="0">
                <a:solidFill>
                  <a:srgbClr val="087DDF"/>
                </a:solidFill>
              </a:rPr>
              <a:t>Actual progress capture. The complete run took 5m 18s.</a:t>
            </a:r>
          </a:p>
        </p:txBody>
      </p:sp>
      <p:sp>
        <p:nvSpPr>
          <p:cNvPr id="7" name="Footer">
            <a:extLst xmlns:a="http://schemas.openxmlformats.org/drawingml/2006/main">
              <a:ext uri="{FF2B5EF4-FFF2-40B4-BE49-F238E27FC236}">
                <a16:creationId xmlns:a16="http://schemas.microsoft.com/office/drawing/2014/main" id="{29BCF147-CD2C-4B25-A97F-81AA033AB754}"/>
              </a:ext>
            </a:extLst>
          </p:cNvPr>
          <p:cNvSpPr>
            <a:spLocks xmlns:a="http://schemas.openxmlformats.org/drawingml/2006/main" noGrp="1"/>
          </p:cNvSpPr>
          <p:nvPr/>
        </p:nvSpPr>
        <p:spPr>
          <a:xfrm xmlns:a="http://schemas.openxmlformats.org/drawingml/2006/main">
            <a:off x="495300" y="6419850"/>
            <a:ext cx="10953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9778B"/>
                </a:solidFill>
              </a:defRPr>
            </a:defPPr>
            <a:lvl1pPr>
              <a:defRPr sz="1200" b="0">
                <a:solidFill>
                  <a:srgbClr val="69778B"/>
                </a:solidFill>
              </a:defRPr>
            </a:lvl1pPr>
            <a:lvl2pPr>
              <a:defRPr sz="1200" b="0">
                <a:solidFill>
                  <a:srgbClr val="69778B"/>
                </a:solidFill>
              </a:defRPr>
            </a:lvl2pPr>
            <a:lvl3pPr>
              <a:defRPr sz="1200" b="0">
                <a:solidFill>
                  <a:srgbClr val="69778B"/>
                </a:solidFill>
              </a:defRPr>
            </a:lvl3pPr>
            <a:lvl4pPr>
              <a:defRPr sz="1200" b="0">
                <a:solidFill>
                  <a:srgbClr val="69778B"/>
                </a:solidFill>
              </a:defRPr>
            </a:lvl4pPr>
            <a:lvl5pPr>
              <a:defRPr sz="1200" b="0">
                <a:solidFill>
                  <a:srgbClr val="69778B"/>
                </a:solidFill>
              </a:defRPr>
            </a:lvl5pPr>
            <a:lvl6pPr>
              <a:defRPr sz="1200" b="0">
                <a:solidFill>
                  <a:srgbClr val="69778B"/>
                </a:solidFill>
              </a:defRPr>
            </a:lvl6pPr>
            <a:lvl7pPr>
              <a:defRPr sz="1200" b="0">
                <a:solidFill>
                  <a:srgbClr val="69778B"/>
                </a:solidFill>
              </a:defRPr>
            </a:lvl7pPr>
            <a:lvl8pPr>
              <a:defRPr sz="1200" b="0">
                <a:solidFill>
                  <a:srgbClr val="69778B"/>
                </a:solidFill>
              </a:defRPr>
            </a:lvl8pPr>
            <a:lvl9pPr>
              <a:defRPr sz="1200" b="0">
                <a:solidFill>
                  <a:srgbClr val="69778B"/>
                </a:solidFill>
              </a:defRPr>
            </a:lvl9pPr>
          </a:lstStyle>
          <a:p xmlns:a="http://schemas.openxmlformats.org/drawingml/2006/main">
            <a:pPr>
              <a:defRPr sz="1200" b="0">
                <a:solidFill>
                  <a:srgbClr val="69778B"/>
                </a:solidFill>
              </a:defRPr>
            </a:pPr>
            <a:r>
              <a:rPr sz="1200" b="0">
                <a:solidFill>
                  <a:srgbClr val="69778B"/>
                </a:solidFill>
              </a:rPr>
              <a:t>Build 3   /   Public research demonstration   /   21 October 2026</a:t>
            </a:r>
          </a:p>
        </p:txBody>
      </p:sp>
    </p:spTree>
    <p:extLst>
      <p:ext uri="{BB962C8B-B14F-4D97-AF65-F5344CB8AC3E}">
        <p14:creationId xmlns:p14="http://schemas.microsoft.com/office/powerpoint/2010/main" val="17949217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tep">
            <a:extLst xmlns:a="http://schemas.openxmlformats.org/drawingml/2006/main">
              <a:ext uri="{FF2B5EF4-FFF2-40B4-BE49-F238E27FC236}">
                <a16:creationId xmlns:a16="http://schemas.microsoft.com/office/drawing/2014/main" id="{25380252-A898-4E57-9806-26C261173477}"/>
              </a:ext>
            </a:extLst>
          </p:cNvPr>
          <p:cNvSpPr>
            <a:spLocks xmlns:a="http://schemas.openxmlformats.org/drawingml/2006/main" noGrp="1"/>
          </p:cNvSpPr>
          <p:nvPr/>
        </p:nvSpPr>
        <p:spPr>
          <a:xfrm xmlns:a="http://schemas.openxmlformats.org/drawingml/2006/main">
            <a:off x="495300" y="342900"/>
            <a:ext cx="704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087DDF"/>
                </a:solidFill>
              </a:defRPr>
            </a:defPPr>
            <a:lvl1pPr>
              <a:defRPr sz="1800" b="1">
                <a:solidFill>
                  <a:srgbClr val="087DDF"/>
                </a:solidFill>
              </a:defRPr>
            </a:lvl1pPr>
            <a:lvl2pPr>
              <a:defRPr sz="1800" b="1">
                <a:solidFill>
                  <a:srgbClr val="087DDF"/>
                </a:solidFill>
              </a:defRPr>
            </a:lvl2pPr>
            <a:lvl3pPr>
              <a:defRPr sz="1800" b="1">
                <a:solidFill>
                  <a:srgbClr val="087DDF"/>
                </a:solidFill>
              </a:defRPr>
            </a:lvl3pPr>
            <a:lvl4pPr>
              <a:defRPr sz="1800" b="1">
                <a:solidFill>
                  <a:srgbClr val="087DDF"/>
                </a:solidFill>
              </a:defRPr>
            </a:lvl4pPr>
            <a:lvl5pPr>
              <a:defRPr sz="1800" b="1">
                <a:solidFill>
                  <a:srgbClr val="087DDF"/>
                </a:solidFill>
              </a:defRPr>
            </a:lvl5pPr>
            <a:lvl6pPr>
              <a:defRPr sz="1800" b="1">
                <a:solidFill>
                  <a:srgbClr val="087DDF"/>
                </a:solidFill>
              </a:defRPr>
            </a:lvl6pPr>
            <a:lvl7pPr>
              <a:defRPr sz="1800" b="1">
                <a:solidFill>
                  <a:srgbClr val="087DDF"/>
                </a:solidFill>
              </a:defRPr>
            </a:lvl7pPr>
            <a:lvl8pPr>
              <a:defRPr sz="1800" b="1">
                <a:solidFill>
                  <a:srgbClr val="087DDF"/>
                </a:solidFill>
              </a:defRPr>
            </a:lvl8pPr>
            <a:lvl9pPr>
              <a:defRPr sz="1800" b="1">
                <a:solidFill>
                  <a:srgbClr val="087DDF"/>
                </a:solidFill>
              </a:defRPr>
            </a:lvl9pPr>
          </a:lstStyle>
          <a:p xmlns:a="http://schemas.openxmlformats.org/drawingml/2006/main">
            <a:pPr>
              <a:defRPr sz="1800" b="1">
                <a:solidFill>
                  <a:srgbClr val="087DDF"/>
                </a:solidFill>
              </a:defRPr>
            </a:pPr>
            <a:r>
              <a:rPr sz="1800" b="1">
                <a:solidFill>
                  <a:srgbClr val="087DDF"/>
                </a:solidFill>
              </a:rPr>
              <a:t>10</a:t>
            </a:r>
          </a:p>
        </p:txBody>
      </p:sp>
      <p:sp>
        <p:nvSpPr>
          <p:cNvPr id="3" name="Title">
            <a:extLst xmlns:a="http://schemas.openxmlformats.org/drawingml/2006/main">
              <a:ext uri="{FF2B5EF4-FFF2-40B4-BE49-F238E27FC236}">
                <a16:creationId xmlns:a16="http://schemas.microsoft.com/office/drawing/2014/main" id="{0F5AE18B-ECD3-4C56-BBBE-BB8F546B3682}"/>
              </a:ext>
            </a:extLst>
          </p:cNvPr>
          <p:cNvSpPr>
            <a:spLocks xmlns:a="http://schemas.openxmlformats.org/drawingml/2006/main" noGrp="1"/>
          </p:cNvSpPr>
          <p:nvPr/>
        </p:nvSpPr>
        <p:spPr>
          <a:xfrm xmlns:a="http://schemas.openxmlformats.org/drawingml/2006/main">
            <a:off x="495300" y="762000"/>
            <a:ext cx="1104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744"/>
                </a:solidFill>
              </a:defRPr>
            </a:defPPr>
            <a:lvl1pPr>
              <a:defRPr sz="3300" b="1">
                <a:solidFill>
                  <a:srgbClr val="102744"/>
                </a:solidFill>
              </a:defRPr>
            </a:lvl1pPr>
            <a:lvl2pPr>
              <a:defRPr sz="3300" b="1">
                <a:solidFill>
                  <a:srgbClr val="102744"/>
                </a:solidFill>
              </a:defRPr>
            </a:lvl2pPr>
            <a:lvl3pPr>
              <a:defRPr sz="3300" b="1">
                <a:solidFill>
                  <a:srgbClr val="102744"/>
                </a:solidFill>
              </a:defRPr>
            </a:lvl3pPr>
            <a:lvl4pPr>
              <a:defRPr sz="3300" b="1">
                <a:solidFill>
                  <a:srgbClr val="102744"/>
                </a:solidFill>
              </a:defRPr>
            </a:lvl4pPr>
            <a:lvl5pPr>
              <a:defRPr sz="3300" b="1">
                <a:solidFill>
                  <a:srgbClr val="102744"/>
                </a:solidFill>
              </a:defRPr>
            </a:lvl5pPr>
            <a:lvl6pPr>
              <a:defRPr sz="3300" b="1">
                <a:solidFill>
                  <a:srgbClr val="102744"/>
                </a:solidFill>
              </a:defRPr>
            </a:lvl6pPr>
            <a:lvl7pPr>
              <a:defRPr sz="3300" b="1">
                <a:solidFill>
                  <a:srgbClr val="102744"/>
                </a:solidFill>
              </a:defRPr>
            </a:lvl7pPr>
            <a:lvl8pPr>
              <a:defRPr sz="3300" b="1">
                <a:solidFill>
                  <a:srgbClr val="102744"/>
                </a:solidFill>
              </a:defRPr>
            </a:lvl8pPr>
            <a:lvl9pPr>
              <a:defRPr sz="3300" b="1">
                <a:solidFill>
                  <a:srgbClr val="102744"/>
                </a:solidFill>
              </a:defRPr>
            </a:lvl9pPr>
          </a:lstStyle>
          <a:p xmlns:a="http://schemas.openxmlformats.org/drawingml/2006/main">
            <a:pPr>
              <a:defRPr sz="3300" b="1">
                <a:solidFill>
                  <a:srgbClr val="102744"/>
                </a:solidFill>
              </a:defRPr>
            </a:pPr>
            <a:r>
              <a:rPr sz="3300" b="1">
                <a:solidFill>
                  <a:srgbClr val="102744"/>
                </a:solidFill>
              </a:rPr>
              <a:t>Two assessments in the finished brief</a:t>
            </a:r>
          </a:p>
        </p:txBody>
      </p:sp>
      <p:sp>
        <p:nvSpPr>
          <p:cNvPr id="4" name="Body">
            <a:extLst xmlns:a="http://schemas.openxmlformats.org/drawingml/2006/main">
              <a:ext uri="{FF2B5EF4-FFF2-40B4-BE49-F238E27FC236}">
                <a16:creationId xmlns:a16="http://schemas.microsoft.com/office/drawing/2014/main" id="{38EE9862-A6EF-4F43-9688-5B839241C772}"/>
              </a:ext>
            </a:extLst>
          </p:cNvPr>
          <p:cNvSpPr>
            <a:spLocks xmlns:a="http://schemas.openxmlformats.org/drawingml/2006/main" noGrp="1"/>
          </p:cNvSpPr>
          <p:nvPr/>
        </p:nvSpPr>
        <p:spPr>
          <a:xfrm xmlns:a="http://schemas.openxmlformats.org/drawingml/2006/main">
            <a:off x="495300" y="1847850"/>
            <a:ext cx="2857500" cy="409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25354B"/>
                </a:solidFill>
              </a:defRPr>
            </a:defPPr>
            <a:lvl1pPr>
              <a:defRPr sz="1800" b="0">
                <a:solidFill>
                  <a:srgbClr val="25354B"/>
                </a:solidFill>
              </a:defRPr>
            </a:lvl1pPr>
            <a:lvl2pPr>
              <a:defRPr sz="1800" b="0">
                <a:solidFill>
                  <a:srgbClr val="25354B"/>
                </a:solidFill>
              </a:defRPr>
            </a:lvl2pPr>
            <a:lvl3pPr>
              <a:defRPr sz="1800" b="0">
                <a:solidFill>
                  <a:srgbClr val="25354B"/>
                </a:solidFill>
              </a:defRPr>
            </a:lvl3pPr>
            <a:lvl4pPr>
              <a:defRPr sz="1800" b="0">
                <a:solidFill>
                  <a:srgbClr val="25354B"/>
                </a:solidFill>
              </a:defRPr>
            </a:lvl4pPr>
            <a:lvl5pPr>
              <a:defRPr sz="1800" b="0">
                <a:solidFill>
                  <a:srgbClr val="25354B"/>
                </a:solidFill>
              </a:defRPr>
            </a:lvl5pPr>
            <a:lvl6pPr>
              <a:defRPr sz="1800" b="0">
                <a:solidFill>
                  <a:srgbClr val="25354B"/>
                </a:solidFill>
              </a:defRPr>
            </a:lvl6pPr>
            <a:lvl7pPr>
              <a:defRPr sz="1800" b="0">
                <a:solidFill>
                  <a:srgbClr val="25354B"/>
                </a:solidFill>
              </a:defRPr>
            </a:lvl7pPr>
            <a:lvl8pPr>
              <a:defRPr sz="1800" b="0">
                <a:solidFill>
                  <a:srgbClr val="25354B"/>
                </a:solidFill>
              </a:defRPr>
            </a:lvl8pPr>
            <a:lvl9pPr>
              <a:defRPr sz="1800" b="0">
                <a:solidFill>
                  <a:srgbClr val="25354B"/>
                </a:solidFill>
              </a:defRPr>
            </a:lvl9pPr>
          </a:lstStyle>
          <a:p xmlns:a="http://schemas.openxmlformats.org/drawingml/2006/main">
            <a:pPr>
              <a:defRPr sz="1800" b="0">
                <a:solidFill>
                  <a:srgbClr val="25354B"/>
                </a:solidFill>
              </a:defRPr>
            </a:pPr>
            <a:r>
              <a:rPr sz="1800" b="0">
                <a:solidFill>
                  <a:srgbClr val="25354B"/>
                </a:solidFill>
              </a:rPr>
              <a:t>Financial Strength:</a:t>
            </a:r>
          </a:p>
          <a:p xmlns:a="http://schemas.openxmlformats.org/drawingml/2006/main">
            <a:pPr>
              <a:defRPr sz="1800" b="0">
                <a:solidFill>
                  <a:srgbClr val="25354B"/>
                </a:solidFill>
              </a:defRPr>
            </a:pPr>
            <a:r>
              <a:rPr sz="1800" b="0">
                <a:solidFill>
                  <a:srgbClr val="25354B"/>
                </a:solidFill>
              </a:rPr>
              <a:t>5–100; Low confidence;</a:t>
            </a:r>
          </a:p>
          <a:p xmlns:a="http://schemas.openxmlformats.org/drawingml/2006/main">
            <a:pPr>
              <a:defRPr sz="1800" b="0">
                <a:solidFill>
                  <a:srgbClr val="25354B"/>
                </a:solidFill>
              </a:defRPr>
            </a:pPr>
            <a:r>
              <a:rPr sz="1800" b="0">
                <a:solidFill>
                  <a:srgbClr val="25354B"/>
                </a:solidFill>
              </a:rPr>
              <a:t>5% weighted coverage.</a:t>
            </a:r>
          </a:p>
          <a:p xmlns:a="http://schemas.openxmlformats.org/drawingml/2006/main">
            <a:r>
              <a:t/>
            </a:r>
          </a:p>
          <a:p xmlns:a="http://schemas.openxmlformats.org/drawingml/2006/main">
            <a:pPr>
              <a:defRPr sz="1800" b="0">
                <a:solidFill>
                  <a:srgbClr val="25354B"/>
                </a:solidFill>
              </a:defRPr>
            </a:pPr>
            <a:r>
              <a:rPr sz="1800" b="0">
                <a:solidFill>
                  <a:srgbClr val="25354B"/>
                </a:solidFill>
              </a:rPr>
              <a:t>Viability:</a:t>
            </a:r>
          </a:p>
          <a:p xmlns:a="http://schemas.openxmlformats.org/drawingml/2006/main">
            <a:pPr>
              <a:defRPr sz="1800" b="0">
                <a:solidFill>
                  <a:srgbClr val="25354B"/>
                </a:solidFill>
              </a:defRPr>
            </a:pPr>
            <a:r>
              <a:rPr sz="1800" b="0">
                <a:solidFill>
                  <a:srgbClr val="25354B"/>
                </a:solidFill>
              </a:rPr>
              <a:t>40–100; Moderate confidence;</a:t>
            </a:r>
          </a:p>
          <a:p xmlns:a="http://schemas.openxmlformats.org/drawingml/2006/main">
            <a:pPr>
              <a:defRPr sz="1800" b="0">
                <a:solidFill>
                  <a:srgbClr val="25354B"/>
                </a:solidFill>
              </a:defRPr>
            </a:pPr>
            <a:r>
              <a:rPr sz="1800" b="0">
                <a:solidFill>
                  <a:srgbClr val="25354B"/>
                </a:solidFill>
              </a:rPr>
              <a:t>40% weighted coverage.</a:t>
            </a:r>
          </a:p>
          <a:p xmlns:a="http://schemas.openxmlformats.org/drawingml/2006/main">
            <a:r>
              <a:t/>
            </a:r>
          </a:p>
          <a:p xmlns:a="http://schemas.openxmlformats.org/drawingml/2006/main">
            <a:pPr>
              <a:defRPr sz="1800" b="0">
                <a:solidFill>
                  <a:srgbClr val="25354B"/>
                </a:solidFill>
              </a:defRPr>
            </a:pPr>
            <a:r>
              <a:rPr sz="1800" b="0">
                <a:solidFill>
                  <a:srgbClr val="25354B"/>
                </a:solidFill>
              </a:rPr>
              <a:t>No single band is supported.</a:t>
            </a:r>
          </a:p>
        </p:txBody>
      </p:sp>
      <p:pic>
        <p:nvPicPr>
          <p:cNvPr id="5" name="">
            <a:extLst xmlns:a="http://schemas.openxmlformats.org/drawingml/2006/main">
              <a:ext uri="{FF2B5EF4-FFF2-40B4-BE49-F238E27FC236}">
                <a16:creationId xmlns:a16="http://schemas.microsoft.com/office/drawing/2014/main" id="{18C74DC6-DAD5-409C-9DAE-DA9FCF1508E4}"/>
              </a:ext>
            </a:extLst>
          </p:cNvPr>
          <p:cNvPicPr>
            <a:picLocks xmlns:a="http://schemas.openxmlformats.org/drawingml/2006/main" noChangeAspect="1"/>
          </p:cNvPicPr>
          <p:nvPr/>
        </p:nvPicPr>
        <p:blipFill>
          <a:blip xmlns:r="http://schemas.openxmlformats.org/officeDocument/2006/relationships" xmlns:a="http://schemas.openxmlformats.org/drawingml/2006/main" r:embed="R0e80284b57a0465a"/>
          <a:stretch xmlns:a="http://schemas.openxmlformats.org/drawingml/2006/main"/>
        </p:blipFill>
        <p:spPr>
          <a:xfrm xmlns:a="http://schemas.openxmlformats.org/drawingml/2006/main">
            <a:off x="3854105" y="1666875"/>
            <a:ext cx="7674665" cy="3905250"/>
          </a:xfrm>
          <a:prstGeom xmlns:a="http://schemas.openxmlformats.org/drawingml/2006/main" prst="rect">
            <a:avLst/>
          </a:prstGeom>
        </p:spPr>
      </p:pic>
      <p:sp>
        <p:nvSpPr>
          <p:cNvPr id="6" name="Caption">
            <a:extLst xmlns:a="http://schemas.openxmlformats.org/drawingml/2006/main">
              <a:ext uri="{FF2B5EF4-FFF2-40B4-BE49-F238E27FC236}">
                <a16:creationId xmlns:a16="http://schemas.microsoft.com/office/drawing/2014/main" id="{96109FCF-E642-4B83-BC81-77D97EE9DE12}"/>
              </a:ext>
            </a:extLst>
          </p:cNvPr>
          <p:cNvSpPr>
            <a:spLocks xmlns:a="http://schemas.openxmlformats.org/drawingml/2006/main" noGrp="1"/>
          </p:cNvSpPr>
          <p:nvPr/>
        </p:nvSpPr>
        <p:spPr>
          <a:xfrm xmlns:a="http://schemas.openxmlformats.org/drawingml/2006/main">
            <a:off x="3714750" y="5810250"/>
            <a:ext cx="79533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0">
                <a:solidFill>
                  <a:srgbClr val="087DDF"/>
                </a:solidFill>
              </a:defRPr>
            </a:defPPr>
            <a:lvl1pPr>
              <a:defRPr sz="1425" b="0">
                <a:solidFill>
                  <a:srgbClr val="087DDF"/>
                </a:solidFill>
              </a:defRPr>
            </a:lvl1pPr>
            <a:lvl2pPr>
              <a:defRPr sz="1425" b="0">
                <a:solidFill>
                  <a:srgbClr val="087DDF"/>
                </a:solidFill>
              </a:defRPr>
            </a:lvl2pPr>
            <a:lvl3pPr>
              <a:defRPr sz="1425" b="0">
                <a:solidFill>
                  <a:srgbClr val="087DDF"/>
                </a:solidFill>
              </a:defRPr>
            </a:lvl3pPr>
            <a:lvl4pPr>
              <a:defRPr sz="1425" b="0">
                <a:solidFill>
                  <a:srgbClr val="087DDF"/>
                </a:solidFill>
              </a:defRPr>
            </a:lvl4pPr>
            <a:lvl5pPr>
              <a:defRPr sz="1425" b="0">
                <a:solidFill>
                  <a:srgbClr val="087DDF"/>
                </a:solidFill>
              </a:defRPr>
            </a:lvl5pPr>
            <a:lvl6pPr>
              <a:defRPr sz="1425" b="0">
                <a:solidFill>
                  <a:srgbClr val="087DDF"/>
                </a:solidFill>
              </a:defRPr>
            </a:lvl6pPr>
            <a:lvl7pPr>
              <a:defRPr sz="1425" b="0">
                <a:solidFill>
                  <a:srgbClr val="087DDF"/>
                </a:solidFill>
              </a:defRPr>
            </a:lvl7pPr>
            <a:lvl8pPr>
              <a:defRPr sz="1425" b="0">
                <a:solidFill>
                  <a:srgbClr val="087DDF"/>
                </a:solidFill>
              </a:defRPr>
            </a:lvl8pPr>
            <a:lvl9pPr>
              <a:defRPr sz="1425" b="0">
                <a:solidFill>
                  <a:srgbClr val="087DDF"/>
                </a:solidFill>
              </a:defRPr>
            </a:lvl9pPr>
          </a:lstStyle>
          <a:p xmlns:a="http://schemas.openxmlformats.org/drawingml/2006/main">
            <a:pPr>
              <a:defRPr sz="1425" b="0">
                <a:solidFill>
                  <a:srgbClr val="087DDF"/>
                </a:solidFill>
              </a:defRPr>
            </a:pPr>
            <a:r>
              <a:rPr sz="1425" b="0">
                <a:solidFill>
                  <a:srgbClr val="087DDF"/>
                </a:solidFill>
              </a:rPr>
              <a:t>The ranges show uncertainty. The endpoints are not awarded company scores.</a:t>
            </a:r>
          </a:p>
        </p:txBody>
      </p:sp>
      <p:sp>
        <p:nvSpPr>
          <p:cNvPr id="7" name="Footer">
            <a:extLst xmlns:a="http://schemas.openxmlformats.org/drawingml/2006/main">
              <a:ext uri="{FF2B5EF4-FFF2-40B4-BE49-F238E27FC236}">
                <a16:creationId xmlns:a16="http://schemas.microsoft.com/office/drawing/2014/main" id="{7394F7EE-990C-407B-B920-141170CFDD83}"/>
              </a:ext>
            </a:extLst>
          </p:cNvPr>
          <p:cNvSpPr>
            <a:spLocks xmlns:a="http://schemas.openxmlformats.org/drawingml/2006/main" noGrp="1"/>
          </p:cNvSpPr>
          <p:nvPr/>
        </p:nvSpPr>
        <p:spPr>
          <a:xfrm xmlns:a="http://schemas.openxmlformats.org/drawingml/2006/main">
            <a:off x="495300" y="6419850"/>
            <a:ext cx="10953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9778B"/>
                </a:solidFill>
              </a:defRPr>
            </a:defPPr>
            <a:lvl1pPr>
              <a:defRPr sz="1200" b="0">
                <a:solidFill>
                  <a:srgbClr val="69778B"/>
                </a:solidFill>
              </a:defRPr>
            </a:lvl1pPr>
            <a:lvl2pPr>
              <a:defRPr sz="1200" b="0">
                <a:solidFill>
                  <a:srgbClr val="69778B"/>
                </a:solidFill>
              </a:defRPr>
            </a:lvl2pPr>
            <a:lvl3pPr>
              <a:defRPr sz="1200" b="0">
                <a:solidFill>
                  <a:srgbClr val="69778B"/>
                </a:solidFill>
              </a:defRPr>
            </a:lvl3pPr>
            <a:lvl4pPr>
              <a:defRPr sz="1200" b="0">
                <a:solidFill>
                  <a:srgbClr val="69778B"/>
                </a:solidFill>
              </a:defRPr>
            </a:lvl4pPr>
            <a:lvl5pPr>
              <a:defRPr sz="1200" b="0">
                <a:solidFill>
                  <a:srgbClr val="69778B"/>
                </a:solidFill>
              </a:defRPr>
            </a:lvl5pPr>
            <a:lvl6pPr>
              <a:defRPr sz="1200" b="0">
                <a:solidFill>
                  <a:srgbClr val="69778B"/>
                </a:solidFill>
              </a:defRPr>
            </a:lvl6pPr>
            <a:lvl7pPr>
              <a:defRPr sz="1200" b="0">
                <a:solidFill>
                  <a:srgbClr val="69778B"/>
                </a:solidFill>
              </a:defRPr>
            </a:lvl7pPr>
            <a:lvl8pPr>
              <a:defRPr sz="1200" b="0">
                <a:solidFill>
                  <a:srgbClr val="69778B"/>
                </a:solidFill>
              </a:defRPr>
            </a:lvl8pPr>
            <a:lvl9pPr>
              <a:defRPr sz="1200" b="0">
                <a:solidFill>
                  <a:srgbClr val="69778B"/>
                </a:solidFill>
              </a:defRPr>
            </a:lvl9pPr>
          </a:lstStyle>
          <a:p xmlns:a="http://schemas.openxmlformats.org/drawingml/2006/main">
            <a:pPr>
              <a:defRPr sz="1200" b="0">
                <a:solidFill>
                  <a:srgbClr val="69778B"/>
                </a:solidFill>
              </a:defRPr>
            </a:pPr>
            <a:r>
              <a:rPr sz="1200" b="0">
                <a:solidFill>
                  <a:srgbClr val="69778B"/>
                </a:solidFill>
              </a:rPr>
              <a:t>Build 3   /   Public research demonstration   /   21 October 2026</a:t>
            </a:r>
          </a:p>
        </p:txBody>
      </p:sp>
    </p:spTree>
    <p:extLst>
      <p:ext uri="{BB962C8B-B14F-4D97-AF65-F5344CB8AC3E}">
        <p14:creationId xmlns:p14="http://schemas.microsoft.com/office/powerpoint/2010/main" val="159630588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tep">
            <a:extLst xmlns:a="http://schemas.openxmlformats.org/drawingml/2006/main">
              <a:ext uri="{FF2B5EF4-FFF2-40B4-BE49-F238E27FC236}">
                <a16:creationId xmlns:a16="http://schemas.microsoft.com/office/drawing/2014/main" id="{066CDAA0-0213-405D-9243-B9608D8B8746}"/>
              </a:ext>
            </a:extLst>
          </p:cNvPr>
          <p:cNvSpPr>
            <a:spLocks xmlns:a="http://schemas.openxmlformats.org/drawingml/2006/main" noGrp="1"/>
          </p:cNvSpPr>
          <p:nvPr/>
        </p:nvSpPr>
        <p:spPr>
          <a:xfrm xmlns:a="http://schemas.openxmlformats.org/drawingml/2006/main">
            <a:off x="495300" y="342900"/>
            <a:ext cx="704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087DDF"/>
                </a:solidFill>
              </a:defRPr>
            </a:defPPr>
            <a:lvl1pPr>
              <a:defRPr sz="1800" b="1">
                <a:solidFill>
                  <a:srgbClr val="087DDF"/>
                </a:solidFill>
              </a:defRPr>
            </a:lvl1pPr>
            <a:lvl2pPr>
              <a:defRPr sz="1800" b="1">
                <a:solidFill>
                  <a:srgbClr val="087DDF"/>
                </a:solidFill>
              </a:defRPr>
            </a:lvl2pPr>
            <a:lvl3pPr>
              <a:defRPr sz="1800" b="1">
                <a:solidFill>
                  <a:srgbClr val="087DDF"/>
                </a:solidFill>
              </a:defRPr>
            </a:lvl3pPr>
            <a:lvl4pPr>
              <a:defRPr sz="1800" b="1">
                <a:solidFill>
                  <a:srgbClr val="087DDF"/>
                </a:solidFill>
              </a:defRPr>
            </a:lvl4pPr>
            <a:lvl5pPr>
              <a:defRPr sz="1800" b="1">
                <a:solidFill>
                  <a:srgbClr val="087DDF"/>
                </a:solidFill>
              </a:defRPr>
            </a:lvl5pPr>
            <a:lvl6pPr>
              <a:defRPr sz="1800" b="1">
                <a:solidFill>
                  <a:srgbClr val="087DDF"/>
                </a:solidFill>
              </a:defRPr>
            </a:lvl6pPr>
            <a:lvl7pPr>
              <a:defRPr sz="1800" b="1">
                <a:solidFill>
                  <a:srgbClr val="087DDF"/>
                </a:solidFill>
              </a:defRPr>
            </a:lvl7pPr>
            <a:lvl8pPr>
              <a:defRPr sz="1800" b="1">
                <a:solidFill>
                  <a:srgbClr val="087DDF"/>
                </a:solidFill>
              </a:defRPr>
            </a:lvl8pPr>
            <a:lvl9pPr>
              <a:defRPr sz="1800" b="1">
                <a:solidFill>
                  <a:srgbClr val="087DDF"/>
                </a:solidFill>
              </a:defRPr>
            </a:lvl9pPr>
          </a:lstStyle>
          <a:p xmlns:a="http://schemas.openxmlformats.org/drawingml/2006/main">
            <a:pPr>
              <a:defRPr sz="1800" b="1">
                <a:solidFill>
                  <a:srgbClr val="087DDF"/>
                </a:solidFill>
              </a:defRPr>
            </a:pPr>
            <a:r>
              <a:rPr sz="1800" b="1">
                <a:solidFill>
                  <a:srgbClr val="087DDF"/>
                </a:solidFill>
              </a:rPr>
              <a:t>11</a:t>
            </a:r>
          </a:p>
        </p:txBody>
      </p:sp>
      <p:sp>
        <p:nvSpPr>
          <p:cNvPr id="3" name="Title">
            <a:extLst xmlns:a="http://schemas.openxmlformats.org/drawingml/2006/main">
              <a:ext uri="{FF2B5EF4-FFF2-40B4-BE49-F238E27FC236}">
                <a16:creationId xmlns:a16="http://schemas.microsoft.com/office/drawing/2014/main" id="{F7EAFC65-74D1-496B-AF32-EA788B727672}"/>
              </a:ext>
            </a:extLst>
          </p:cNvPr>
          <p:cNvSpPr>
            <a:spLocks xmlns:a="http://schemas.openxmlformats.org/drawingml/2006/main" noGrp="1"/>
          </p:cNvSpPr>
          <p:nvPr/>
        </p:nvSpPr>
        <p:spPr>
          <a:xfrm xmlns:a="http://schemas.openxmlformats.org/drawingml/2006/main">
            <a:off x="495300" y="762000"/>
            <a:ext cx="1104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744"/>
                </a:solidFill>
              </a:defRPr>
            </a:defPPr>
            <a:lvl1pPr>
              <a:defRPr sz="3300" b="1">
                <a:solidFill>
                  <a:srgbClr val="102744"/>
                </a:solidFill>
              </a:defRPr>
            </a:lvl1pPr>
            <a:lvl2pPr>
              <a:defRPr sz="3300" b="1">
                <a:solidFill>
                  <a:srgbClr val="102744"/>
                </a:solidFill>
              </a:defRPr>
            </a:lvl2pPr>
            <a:lvl3pPr>
              <a:defRPr sz="3300" b="1">
                <a:solidFill>
                  <a:srgbClr val="102744"/>
                </a:solidFill>
              </a:defRPr>
            </a:lvl3pPr>
            <a:lvl4pPr>
              <a:defRPr sz="3300" b="1">
                <a:solidFill>
                  <a:srgbClr val="102744"/>
                </a:solidFill>
              </a:defRPr>
            </a:lvl4pPr>
            <a:lvl5pPr>
              <a:defRPr sz="3300" b="1">
                <a:solidFill>
                  <a:srgbClr val="102744"/>
                </a:solidFill>
              </a:defRPr>
            </a:lvl5pPr>
            <a:lvl6pPr>
              <a:defRPr sz="3300" b="1">
                <a:solidFill>
                  <a:srgbClr val="102744"/>
                </a:solidFill>
              </a:defRPr>
            </a:lvl6pPr>
            <a:lvl7pPr>
              <a:defRPr sz="3300" b="1">
                <a:solidFill>
                  <a:srgbClr val="102744"/>
                </a:solidFill>
              </a:defRPr>
            </a:lvl7pPr>
            <a:lvl8pPr>
              <a:defRPr sz="3300" b="1">
                <a:solidFill>
                  <a:srgbClr val="102744"/>
                </a:solidFill>
              </a:defRPr>
            </a:lvl8pPr>
            <a:lvl9pPr>
              <a:defRPr sz="3300" b="1">
                <a:solidFill>
                  <a:srgbClr val="102744"/>
                </a:solidFill>
              </a:defRPr>
            </a:lvl9pPr>
          </a:lstStyle>
          <a:p xmlns:a="http://schemas.openxmlformats.org/drawingml/2006/main">
            <a:pPr>
              <a:defRPr sz="3300" b="1">
                <a:solidFill>
                  <a:srgbClr val="102744"/>
                </a:solidFill>
              </a:defRPr>
            </a:pPr>
            <a:r>
              <a:rPr sz="3300" b="1">
                <a:solidFill>
                  <a:srgbClr val="102744"/>
                </a:solidFill>
              </a:rPr>
              <a:t>Financial categories remain Unknown</a:t>
            </a:r>
          </a:p>
        </p:txBody>
      </p:sp>
      <p:sp>
        <p:nvSpPr>
          <p:cNvPr id="4" name="Body">
            <a:extLst xmlns:a="http://schemas.openxmlformats.org/drawingml/2006/main">
              <a:ext uri="{FF2B5EF4-FFF2-40B4-BE49-F238E27FC236}">
                <a16:creationId xmlns:a16="http://schemas.microsoft.com/office/drawing/2014/main" id="{AEBA2655-E396-4B30-AE10-4EBF742D3DF2}"/>
              </a:ext>
            </a:extLst>
          </p:cNvPr>
          <p:cNvSpPr>
            <a:spLocks xmlns:a="http://schemas.openxmlformats.org/drawingml/2006/main" noGrp="1"/>
          </p:cNvSpPr>
          <p:nvPr/>
        </p:nvSpPr>
        <p:spPr>
          <a:xfrm xmlns:a="http://schemas.openxmlformats.org/drawingml/2006/main">
            <a:off x="495300" y="1847850"/>
            <a:ext cx="2857500" cy="409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25354B"/>
                </a:solidFill>
              </a:defRPr>
            </a:defPPr>
            <a:lvl1pPr>
              <a:defRPr sz="1800" b="0">
                <a:solidFill>
                  <a:srgbClr val="25354B"/>
                </a:solidFill>
              </a:defRPr>
            </a:lvl1pPr>
            <a:lvl2pPr>
              <a:defRPr sz="1800" b="0">
                <a:solidFill>
                  <a:srgbClr val="25354B"/>
                </a:solidFill>
              </a:defRPr>
            </a:lvl2pPr>
            <a:lvl3pPr>
              <a:defRPr sz="1800" b="0">
                <a:solidFill>
                  <a:srgbClr val="25354B"/>
                </a:solidFill>
              </a:defRPr>
            </a:lvl3pPr>
            <a:lvl4pPr>
              <a:defRPr sz="1800" b="0">
                <a:solidFill>
                  <a:srgbClr val="25354B"/>
                </a:solidFill>
              </a:defRPr>
            </a:lvl4pPr>
            <a:lvl5pPr>
              <a:defRPr sz="1800" b="0">
                <a:solidFill>
                  <a:srgbClr val="25354B"/>
                </a:solidFill>
              </a:defRPr>
            </a:lvl5pPr>
            <a:lvl6pPr>
              <a:defRPr sz="1800" b="0">
                <a:solidFill>
                  <a:srgbClr val="25354B"/>
                </a:solidFill>
              </a:defRPr>
            </a:lvl6pPr>
            <a:lvl7pPr>
              <a:defRPr sz="1800" b="0">
                <a:solidFill>
                  <a:srgbClr val="25354B"/>
                </a:solidFill>
              </a:defRPr>
            </a:lvl7pPr>
            <a:lvl8pPr>
              <a:defRPr sz="1800" b="0">
                <a:solidFill>
                  <a:srgbClr val="25354B"/>
                </a:solidFill>
              </a:defRPr>
            </a:lvl8pPr>
            <a:lvl9pPr>
              <a:defRPr sz="1800" b="0">
                <a:solidFill>
                  <a:srgbClr val="25354B"/>
                </a:solidFill>
              </a:defRPr>
            </a:lvl9pPr>
          </a:lstStyle>
          <a:p xmlns:a="http://schemas.openxmlformats.org/drawingml/2006/main">
            <a:pPr>
              <a:defRPr sz="1800" b="0">
                <a:solidFill>
                  <a:srgbClr val="25354B"/>
                </a:solidFill>
              </a:defRPr>
            </a:pPr>
            <a:r>
              <a:rPr sz="1800" b="0">
                <a:solidFill>
                  <a:srgbClr val="25354B"/>
                </a:solidFill>
              </a:rPr>
              <a:t>Five of six categories lack enough evidence.</a:t>
            </a:r>
          </a:p>
          <a:p xmlns:a="http://schemas.openxmlformats.org/drawingml/2006/main">
            <a:r>
              <a:t/>
            </a:r>
          </a:p>
          <a:p xmlns:a="http://schemas.openxmlformats.org/drawingml/2006/main">
            <a:pPr>
              <a:defRPr sz="1800" b="0">
                <a:solidFill>
                  <a:srgbClr val="25354B"/>
                </a:solidFill>
              </a:defRPr>
            </a:pPr>
            <a:r>
              <a:rPr sz="1800" b="0">
                <a:solidFill>
                  <a:srgbClr val="25354B"/>
                </a:solidFill>
              </a:rPr>
              <a:t>The run assesses CFO continuity at zero distress points.</a:t>
            </a:r>
          </a:p>
          <a:p xmlns:a="http://schemas.openxmlformats.org/drawingml/2006/main">
            <a:r>
              <a:t/>
            </a:r>
          </a:p>
          <a:p xmlns:a="http://schemas.openxmlformats.org/drawingml/2006/main">
            <a:pPr>
              <a:defRPr sz="1800" b="0">
                <a:solidFill>
                  <a:srgbClr val="25354B"/>
                </a:solidFill>
              </a:defRPr>
            </a:pPr>
            <a:r>
              <a:rPr sz="1800" b="0">
                <a:solidFill>
                  <a:srgbClr val="25354B"/>
                </a:solidFill>
              </a:rPr>
              <a:t>Unknown categories are included in the uncertainty range.</a:t>
            </a:r>
          </a:p>
        </p:txBody>
      </p:sp>
      <p:pic>
        <p:nvPicPr>
          <p:cNvPr id="5" name="">
            <a:extLst xmlns:a="http://schemas.openxmlformats.org/drawingml/2006/main">
              <a:ext uri="{FF2B5EF4-FFF2-40B4-BE49-F238E27FC236}">
                <a16:creationId xmlns:a16="http://schemas.microsoft.com/office/drawing/2014/main" id="{03CFC2CF-05D7-46AB-8DEC-426293075D2C}"/>
              </a:ext>
            </a:extLst>
          </p:cNvPr>
          <p:cNvPicPr>
            <a:picLocks xmlns:a="http://schemas.openxmlformats.org/drawingml/2006/main" noChangeAspect="1"/>
          </p:cNvPicPr>
          <p:nvPr/>
        </p:nvPicPr>
        <p:blipFill>
          <a:blip xmlns:r="http://schemas.openxmlformats.org/officeDocument/2006/relationships" xmlns:a="http://schemas.openxmlformats.org/drawingml/2006/main" r:embed="Reb89e29ba738432d"/>
          <a:stretch xmlns:a="http://schemas.openxmlformats.org/drawingml/2006/main"/>
        </p:blipFill>
        <p:spPr>
          <a:xfrm xmlns:a="http://schemas.openxmlformats.org/drawingml/2006/main">
            <a:off x="4781897" y="1666875"/>
            <a:ext cx="5819081" cy="3905250"/>
          </a:xfrm>
          <a:prstGeom xmlns:a="http://schemas.openxmlformats.org/drawingml/2006/main" prst="rect">
            <a:avLst/>
          </a:prstGeom>
        </p:spPr>
      </p:pic>
      <p:sp>
        <p:nvSpPr>
          <p:cNvPr id="6" name="Caption">
            <a:extLst xmlns:a="http://schemas.openxmlformats.org/drawingml/2006/main">
              <a:ext uri="{FF2B5EF4-FFF2-40B4-BE49-F238E27FC236}">
                <a16:creationId xmlns:a16="http://schemas.microsoft.com/office/drawing/2014/main" id="{FDB3AA29-21DE-4413-92F7-597071E43E10}"/>
              </a:ext>
            </a:extLst>
          </p:cNvPr>
          <p:cNvSpPr>
            <a:spLocks xmlns:a="http://schemas.openxmlformats.org/drawingml/2006/main" noGrp="1"/>
          </p:cNvSpPr>
          <p:nvPr/>
        </p:nvSpPr>
        <p:spPr>
          <a:xfrm xmlns:a="http://schemas.openxmlformats.org/drawingml/2006/main">
            <a:off x="3714750" y="5810250"/>
            <a:ext cx="79533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0">
                <a:solidFill>
                  <a:srgbClr val="087DDF"/>
                </a:solidFill>
              </a:defRPr>
            </a:defPPr>
            <a:lvl1pPr>
              <a:defRPr sz="1425" b="0">
                <a:solidFill>
                  <a:srgbClr val="087DDF"/>
                </a:solidFill>
              </a:defRPr>
            </a:lvl1pPr>
            <a:lvl2pPr>
              <a:defRPr sz="1425" b="0">
                <a:solidFill>
                  <a:srgbClr val="087DDF"/>
                </a:solidFill>
              </a:defRPr>
            </a:lvl2pPr>
            <a:lvl3pPr>
              <a:defRPr sz="1425" b="0">
                <a:solidFill>
                  <a:srgbClr val="087DDF"/>
                </a:solidFill>
              </a:defRPr>
            </a:lvl3pPr>
            <a:lvl4pPr>
              <a:defRPr sz="1425" b="0">
                <a:solidFill>
                  <a:srgbClr val="087DDF"/>
                </a:solidFill>
              </a:defRPr>
            </a:lvl4pPr>
            <a:lvl5pPr>
              <a:defRPr sz="1425" b="0">
                <a:solidFill>
                  <a:srgbClr val="087DDF"/>
                </a:solidFill>
              </a:defRPr>
            </a:lvl5pPr>
            <a:lvl6pPr>
              <a:defRPr sz="1425" b="0">
                <a:solidFill>
                  <a:srgbClr val="087DDF"/>
                </a:solidFill>
              </a:defRPr>
            </a:lvl6pPr>
            <a:lvl7pPr>
              <a:defRPr sz="1425" b="0">
                <a:solidFill>
                  <a:srgbClr val="087DDF"/>
                </a:solidFill>
              </a:defRPr>
            </a:lvl7pPr>
            <a:lvl8pPr>
              <a:defRPr sz="1425" b="0">
                <a:solidFill>
                  <a:srgbClr val="087DDF"/>
                </a:solidFill>
              </a:defRPr>
            </a:lvl8pPr>
            <a:lvl9pPr>
              <a:defRPr sz="1425" b="0">
                <a:solidFill>
                  <a:srgbClr val="087DDF"/>
                </a:solidFill>
              </a:defRPr>
            </a:lvl9pPr>
          </a:lstStyle>
          <a:p xmlns:a="http://schemas.openxmlformats.org/drawingml/2006/main">
            <a:pPr>
              <a:defRPr sz="1425" b="0">
                <a:solidFill>
                  <a:srgbClr val="087DDF"/>
                </a:solidFill>
              </a:defRPr>
            </a:pPr>
            <a:r>
              <a:rPr sz="1425" b="0">
                <a:solidFill>
                  <a:srgbClr val="087DDF"/>
                </a:solidFill>
              </a:rPr>
              <a:t>A missing adverse finding is not sufficient evidence for a zero-distress assessment.</a:t>
            </a:r>
          </a:p>
        </p:txBody>
      </p:sp>
      <p:sp>
        <p:nvSpPr>
          <p:cNvPr id="7" name="Footer">
            <a:extLst xmlns:a="http://schemas.openxmlformats.org/drawingml/2006/main">
              <a:ext uri="{FF2B5EF4-FFF2-40B4-BE49-F238E27FC236}">
                <a16:creationId xmlns:a16="http://schemas.microsoft.com/office/drawing/2014/main" id="{EB86DAC6-8C1B-4379-B587-5730550FD2AE}"/>
              </a:ext>
            </a:extLst>
          </p:cNvPr>
          <p:cNvSpPr>
            <a:spLocks xmlns:a="http://schemas.openxmlformats.org/drawingml/2006/main" noGrp="1"/>
          </p:cNvSpPr>
          <p:nvPr/>
        </p:nvSpPr>
        <p:spPr>
          <a:xfrm xmlns:a="http://schemas.openxmlformats.org/drawingml/2006/main">
            <a:off x="495300" y="6419850"/>
            <a:ext cx="10953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9778B"/>
                </a:solidFill>
              </a:defRPr>
            </a:defPPr>
            <a:lvl1pPr>
              <a:defRPr sz="1200" b="0">
                <a:solidFill>
                  <a:srgbClr val="69778B"/>
                </a:solidFill>
              </a:defRPr>
            </a:lvl1pPr>
            <a:lvl2pPr>
              <a:defRPr sz="1200" b="0">
                <a:solidFill>
                  <a:srgbClr val="69778B"/>
                </a:solidFill>
              </a:defRPr>
            </a:lvl2pPr>
            <a:lvl3pPr>
              <a:defRPr sz="1200" b="0">
                <a:solidFill>
                  <a:srgbClr val="69778B"/>
                </a:solidFill>
              </a:defRPr>
            </a:lvl3pPr>
            <a:lvl4pPr>
              <a:defRPr sz="1200" b="0">
                <a:solidFill>
                  <a:srgbClr val="69778B"/>
                </a:solidFill>
              </a:defRPr>
            </a:lvl4pPr>
            <a:lvl5pPr>
              <a:defRPr sz="1200" b="0">
                <a:solidFill>
                  <a:srgbClr val="69778B"/>
                </a:solidFill>
              </a:defRPr>
            </a:lvl5pPr>
            <a:lvl6pPr>
              <a:defRPr sz="1200" b="0">
                <a:solidFill>
                  <a:srgbClr val="69778B"/>
                </a:solidFill>
              </a:defRPr>
            </a:lvl6pPr>
            <a:lvl7pPr>
              <a:defRPr sz="1200" b="0">
                <a:solidFill>
                  <a:srgbClr val="69778B"/>
                </a:solidFill>
              </a:defRPr>
            </a:lvl7pPr>
            <a:lvl8pPr>
              <a:defRPr sz="1200" b="0">
                <a:solidFill>
                  <a:srgbClr val="69778B"/>
                </a:solidFill>
              </a:defRPr>
            </a:lvl8pPr>
            <a:lvl9pPr>
              <a:defRPr sz="1200" b="0">
                <a:solidFill>
                  <a:srgbClr val="69778B"/>
                </a:solidFill>
              </a:defRPr>
            </a:lvl9pPr>
          </a:lstStyle>
          <a:p xmlns:a="http://schemas.openxmlformats.org/drawingml/2006/main">
            <a:pPr>
              <a:defRPr sz="1200" b="0">
                <a:solidFill>
                  <a:srgbClr val="69778B"/>
                </a:solidFill>
              </a:defRPr>
            </a:pPr>
            <a:r>
              <a:rPr sz="1200" b="0">
                <a:solidFill>
                  <a:srgbClr val="69778B"/>
                </a:solidFill>
              </a:rPr>
              <a:t>Build 3   /   Public research demonstration   /   21 October 2026</a:t>
            </a:r>
          </a:p>
        </p:txBody>
      </p:sp>
    </p:spTree>
    <p:extLst>
      <p:ext uri="{BB962C8B-B14F-4D97-AF65-F5344CB8AC3E}">
        <p14:creationId xmlns:p14="http://schemas.microsoft.com/office/powerpoint/2010/main" val="53170421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tep">
            <a:extLst xmlns:a="http://schemas.openxmlformats.org/drawingml/2006/main">
              <a:ext uri="{FF2B5EF4-FFF2-40B4-BE49-F238E27FC236}">
                <a16:creationId xmlns:a16="http://schemas.microsoft.com/office/drawing/2014/main" id="{A0E16362-29D0-4819-8AB8-7CA891237D30}"/>
              </a:ext>
            </a:extLst>
          </p:cNvPr>
          <p:cNvSpPr>
            <a:spLocks xmlns:a="http://schemas.openxmlformats.org/drawingml/2006/main" noGrp="1"/>
          </p:cNvSpPr>
          <p:nvPr/>
        </p:nvSpPr>
        <p:spPr>
          <a:xfrm xmlns:a="http://schemas.openxmlformats.org/drawingml/2006/main">
            <a:off x="495300" y="342900"/>
            <a:ext cx="704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087DDF"/>
                </a:solidFill>
              </a:defRPr>
            </a:defPPr>
            <a:lvl1pPr>
              <a:defRPr sz="1800" b="1">
                <a:solidFill>
                  <a:srgbClr val="087DDF"/>
                </a:solidFill>
              </a:defRPr>
            </a:lvl1pPr>
            <a:lvl2pPr>
              <a:defRPr sz="1800" b="1">
                <a:solidFill>
                  <a:srgbClr val="087DDF"/>
                </a:solidFill>
              </a:defRPr>
            </a:lvl2pPr>
            <a:lvl3pPr>
              <a:defRPr sz="1800" b="1">
                <a:solidFill>
                  <a:srgbClr val="087DDF"/>
                </a:solidFill>
              </a:defRPr>
            </a:lvl3pPr>
            <a:lvl4pPr>
              <a:defRPr sz="1800" b="1">
                <a:solidFill>
                  <a:srgbClr val="087DDF"/>
                </a:solidFill>
              </a:defRPr>
            </a:lvl4pPr>
            <a:lvl5pPr>
              <a:defRPr sz="1800" b="1">
                <a:solidFill>
                  <a:srgbClr val="087DDF"/>
                </a:solidFill>
              </a:defRPr>
            </a:lvl5pPr>
            <a:lvl6pPr>
              <a:defRPr sz="1800" b="1">
                <a:solidFill>
                  <a:srgbClr val="087DDF"/>
                </a:solidFill>
              </a:defRPr>
            </a:lvl6pPr>
            <a:lvl7pPr>
              <a:defRPr sz="1800" b="1">
                <a:solidFill>
                  <a:srgbClr val="087DDF"/>
                </a:solidFill>
              </a:defRPr>
            </a:lvl7pPr>
            <a:lvl8pPr>
              <a:defRPr sz="1800" b="1">
                <a:solidFill>
                  <a:srgbClr val="087DDF"/>
                </a:solidFill>
              </a:defRPr>
            </a:lvl8pPr>
            <a:lvl9pPr>
              <a:defRPr sz="1800" b="1">
                <a:solidFill>
                  <a:srgbClr val="087DDF"/>
                </a:solidFill>
              </a:defRPr>
            </a:lvl9pPr>
          </a:lstStyle>
          <a:p xmlns:a="http://schemas.openxmlformats.org/drawingml/2006/main">
            <a:pPr>
              <a:defRPr sz="1800" b="1">
                <a:solidFill>
                  <a:srgbClr val="087DDF"/>
                </a:solidFill>
              </a:defRPr>
            </a:pPr>
            <a:r>
              <a:rPr sz="1800" b="1">
                <a:solidFill>
                  <a:srgbClr val="087DDF"/>
                </a:solidFill>
              </a:rPr>
              <a:t>12</a:t>
            </a:r>
          </a:p>
        </p:txBody>
      </p:sp>
      <p:sp>
        <p:nvSpPr>
          <p:cNvPr id="3" name="Title">
            <a:extLst xmlns:a="http://schemas.openxmlformats.org/drawingml/2006/main">
              <a:ext uri="{FF2B5EF4-FFF2-40B4-BE49-F238E27FC236}">
                <a16:creationId xmlns:a16="http://schemas.microsoft.com/office/drawing/2014/main" id="{7704C6EE-AF67-4615-A1FB-BF2BF855CC84}"/>
              </a:ext>
            </a:extLst>
          </p:cNvPr>
          <p:cNvSpPr>
            <a:spLocks xmlns:a="http://schemas.openxmlformats.org/drawingml/2006/main" noGrp="1"/>
          </p:cNvSpPr>
          <p:nvPr/>
        </p:nvSpPr>
        <p:spPr>
          <a:xfrm xmlns:a="http://schemas.openxmlformats.org/drawingml/2006/main">
            <a:off x="495300" y="762000"/>
            <a:ext cx="1104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744"/>
                </a:solidFill>
              </a:defRPr>
            </a:defPPr>
            <a:lvl1pPr>
              <a:defRPr sz="3300" b="1">
                <a:solidFill>
                  <a:srgbClr val="102744"/>
                </a:solidFill>
              </a:defRPr>
            </a:lvl1pPr>
            <a:lvl2pPr>
              <a:defRPr sz="3300" b="1">
                <a:solidFill>
                  <a:srgbClr val="102744"/>
                </a:solidFill>
              </a:defRPr>
            </a:lvl2pPr>
            <a:lvl3pPr>
              <a:defRPr sz="3300" b="1">
                <a:solidFill>
                  <a:srgbClr val="102744"/>
                </a:solidFill>
              </a:defRPr>
            </a:lvl3pPr>
            <a:lvl4pPr>
              <a:defRPr sz="3300" b="1">
                <a:solidFill>
                  <a:srgbClr val="102744"/>
                </a:solidFill>
              </a:defRPr>
            </a:lvl4pPr>
            <a:lvl5pPr>
              <a:defRPr sz="3300" b="1">
                <a:solidFill>
                  <a:srgbClr val="102744"/>
                </a:solidFill>
              </a:defRPr>
            </a:lvl5pPr>
            <a:lvl6pPr>
              <a:defRPr sz="3300" b="1">
                <a:solidFill>
                  <a:srgbClr val="102744"/>
                </a:solidFill>
              </a:defRPr>
            </a:lvl6pPr>
            <a:lvl7pPr>
              <a:defRPr sz="3300" b="1">
                <a:solidFill>
                  <a:srgbClr val="102744"/>
                </a:solidFill>
              </a:defRPr>
            </a:lvl7pPr>
            <a:lvl8pPr>
              <a:defRPr sz="3300" b="1">
                <a:solidFill>
                  <a:srgbClr val="102744"/>
                </a:solidFill>
              </a:defRPr>
            </a:lvl8pPr>
            <a:lvl9pPr>
              <a:defRPr sz="3300" b="1">
                <a:solidFill>
                  <a:srgbClr val="102744"/>
                </a:solidFill>
              </a:defRPr>
            </a:lvl9pPr>
          </a:lstStyle>
          <a:p xmlns:a="http://schemas.openxmlformats.org/drawingml/2006/main">
            <a:pPr>
              <a:defRPr sz="3300" b="1">
                <a:solidFill>
                  <a:srgbClr val="102744"/>
                </a:solidFill>
              </a:defRPr>
            </a:pPr>
            <a:r>
              <a:rPr sz="3300" b="1">
                <a:solidFill>
                  <a:srgbClr val="102744"/>
                </a:solidFill>
              </a:rPr>
              <a:t>The Financial Strength range</a:t>
            </a:r>
          </a:p>
        </p:txBody>
      </p:sp>
      <p:sp>
        <p:nvSpPr>
          <p:cNvPr id="4" name="Body">
            <a:extLst xmlns:a="http://schemas.openxmlformats.org/drawingml/2006/main">
              <a:ext uri="{FF2B5EF4-FFF2-40B4-BE49-F238E27FC236}">
                <a16:creationId xmlns:a16="http://schemas.microsoft.com/office/drawing/2014/main" id="{6EBE98F5-1A2F-4E06-AACB-23CB31A74C7E}"/>
              </a:ext>
            </a:extLst>
          </p:cNvPr>
          <p:cNvSpPr>
            <a:spLocks xmlns:a="http://schemas.openxmlformats.org/drawingml/2006/main" noGrp="1"/>
          </p:cNvSpPr>
          <p:nvPr/>
        </p:nvSpPr>
        <p:spPr>
          <a:xfrm xmlns:a="http://schemas.openxmlformats.org/drawingml/2006/main">
            <a:off x="495300" y="1847850"/>
            <a:ext cx="2857500" cy="409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25354B"/>
                </a:solidFill>
              </a:defRPr>
            </a:defPPr>
            <a:lvl1pPr>
              <a:defRPr sz="1800" b="0">
                <a:solidFill>
                  <a:srgbClr val="25354B"/>
                </a:solidFill>
              </a:defRPr>
            </a:lvl1pPr>
            <a:lvl2pPr>
              <a:defRPr sz="1800" b="0">
                <a:solidFill>
                  <a:srgbClr val="25354B"/>
                </a:solidFill>
              </a:defRPr>
            </a:lvl2pPr>
            <a:lvl3pPr>
              <a:defRPr sz="1800" b="0">
                <a:solidFill>
                  <a:srgbClr val="25354B"/>
                </a:solidFill>
              </a:defRPr>
            </a:lvl3pPr>
            <a:lvl4pPr>
              <a:defRPr sz="1800" b="0">
                <a:solidFill>
                  <a:srgbClr val="25354B"/>
                </a:solidFill>
              </a:defRPr>
            </a:lvl4pPr>
            <a:lvl5pPr>
              <a:defRPr sz="1800" b="0">
                <a:solidFill>
                  <a:srgbClr val="25354B"/>
                </a:solidFill>
              </a:defRPr>
            </a:lvl5pPr>
            <a:lvl6pPr>
              <a:defRPr sz="1800" b="0">
                <a:solidFill>
                  <a:srgbClr val="25354B"/>
                </a:solidFill>
              </a:defRPr>
            </a:lvl6pPr>
            <a:lvl7pPr>
              <a:defRPr sz="1800" b="0">
                <a:solidFill>
                  <a:srgbClr val="25354B"/>
                </a:solidFill>
              </a:defRPr>
            </a:lvl7pPr>
            <a:lvl8pPr>
              <a:defRPr sz="1800" b="0">
                <a:solidFill>
                  <a:srgbClr val="25354B"/>
                </a:solidFill>
              </a:defRPr>
            </a:lvl8pPr>
            <a:lvl9pPr>
              <a:defRPr sz="1800" b="0">
                <a:solidFill>
                  <a:srgbClr val="25354B"/>
                </a:solidFill>
              </a:defRPr>
            </a:lvl9pPr>
          </a:lstStyle>
          <a:p xmlns:a="http://schemas.openxmlformats.org/drawingml/2006/main">
            <a:pPr>
              <a:defRPr sz="1800" b="0">
                <a:solidFill>
                  <a:srgbClr val="25354B"/>
                </a:solidFill>
              </a:defRPr>
            </a:pPr>
            <a:r>
              <a:rPr sz="1800" b="0">
                <a:solidFill>
                  <a:srgbClr val="25354B"/>
                </a:solidFill>
              </a:rPr>
              <a:t>Supported distress D = 0.</a:t>
            </a:r>
          </a:p>
          <a:p xmlns:a="http://schemas.openxmlformats.org/drawingml/2006/main">
            <a:r>
              <a:t/>
            </a:r>
          </a:p>
          <a:p xmlns:a="http://schemas.openxmlformats.org/drawingml/2006/main">
            <a:pPr>
              <a:defRPr sz="1800" b="0">
                <a:solidFill>
                  <a:srgbClr val="25354B"/>
                </a:solidFill>
              </a:defRPr>
            </a:pPr>
            <a:r>
              <a:rPr sz="1800" b="0">
                <a:solidFill>
                  <a:srgbClr val="25354B"/>
                </a:solidFill>
              </a:rPr>
              <a:t>Unknown weight U = 95.</a:t>
            </a:r>
          </a:p>
          <a:p xmlns:a="http://schemas.openxmlformats.org/drawingml/2006/main">
            <a:r>
              <a:t/>
            </a:r>
          </a:p>
          <a:p xmlns:a="http://schemas.openxmlformats.org/drawingml/2006/main">
            <a:pPr>
              <a:defRPr sz="1800" b="0">
                <a:solidFill>
                  <a:srgbClr val="25354B"/>
                </a:solidFill>
              </a:defRPr>
            </a:pPr>
            <a:r>
              <a:rPr sz="1800" b="0">
                <a:solidFill>
                  <a:srgbClr val="25354B"/>
                </a:solidFill>
              </a:rPr>
              <a:t>100 − D − U to 100 − D</a:t>
            </a:r>
          </a:p>
          <a:p xmlns:a="http://schemas.openxmlformats.org/drawingml/2006/main">
            <a:pPr>
              <a:defRPr sz="1800" b="0">
                <a:solidFill>
                  <a:srgbClr val="25354B"/>
                </a:solidFill>
              </a:defRPr>
            </a:pPr>
            <a:r>
              <a:rPr sz="1800" b="0">
                <a:solidFill>
                  <a:srgbClr val="25354B"/>
                </a:solidFill>
              </a:rPr>
              <a:t>= 5–100.</a:t>
            </a:r>
          </a:p>
          <a:p xmlns:a="http://schemas.openxmlformats.org/drawingml/2006/main">
            <a:r>
              <a:t/>
            </a:r>
          </a:p>
          <a:p xmlns:a="http://schemas.openxmlformats.org/drawingml/2006/main">
            <a:pPr>
              <a:defRPr sz="1800" b="0">
                <a:solidFill>
                  <a:srgbClr val="25354B"/>
                </a:solidFill>
              </a:defRPr>
            </a:pPr>
            <a:r>
              <a:rPr sz="1800" b="0">
                <a:solidFill>
                  <a:srgbClr val="25354B"/>
                </a:solidFill>
              </a:rPr>
              <a:t>Weighted coverage = 5%.</a:t>
            </a:r>
          </a:p>
        </p:txBody>
      </p:sp>
      <p:pic>
        <p:nvPicPr>
          <p:cNvPr id="5" name="">
            <a:extLst xmlns:a="http://schemas.openxmlformats.org/drawingml/2006/main">
              <a:ext uri="{FF2B5EF4-FFF2-40B4-BE49-F238E27FC236}">
                <a16:creationId xmlns:a16="http://schemas.microsoft.com/office/drawing/2014/main" id="{F37145A4-B14A-42DD-8788-ED0773CB0605}"/>
              </a:ext>
            </a:extLst>
          </p:cNvPr>
          <p:cNvPicPr>
            <a:picLocks xmlns:a="http://schemas.openxmlformats.org/drawingml/2006/main" noChangeAspect="1"/>
          </p:cNvPicPr>
          <p:nvPr/>
        </p:nvPicPr>
        <p:blipFill>
          <a:blip xmlns:r="http://schemas.openxmlformats.org/officeDocument/2006/relationships" xmlns:a="http://schemas.openxmlformats.org/drawingml/2006/main" r:embed="R06dde1b71dc84a6b"/>
          <a:stretch xmlns:a="http://schemas.openxmlformats.org/drawingml/2006/main"/>
        </p:blipFill>
        <p:spPr>
          <a:xfrm xmlns:a="http://schemas.openxmlformats.org/drawingml/2006/main">
            <a:off x="3714750" y="2588507"/>
            <a:ext cx="7953375" cy="2061986"/>
          </a:xfrm>
          <a:prstGeom xmlns:a="http://schemas.openxmlformats.org/drawingml/2006/main" prst="rect">
            <a:avLst/>
          </a:prstGeom>
        </p:spPr>
      </p:pic>
      <p:sp>
        <p:nvSpPr>
          <p:cNvPr id="6" name="Caption">
            <a:extLst xmlns:a="http://schemas.openxmlformats.org/drawingml/2006/main">
              <a:ext uri="{FF2B5EF4-FFF2-40B4-BE49-F238E27FC236}">
                <a16:creationId xmlns:a16="http://schemas.microsoft.com/office/drawing/2014/main" id="{0CAE8587-F546-49CA-85F8-6AEE18902B62}"/>
              </a:ext>
            </a:extLst>
          </p:cNvPr>
          <p:cNvSpPr>
            <a:spLocks xmlns:a="http://schemas.openxmlformats.org/drawingml/2006/main" noGrp="1"/>
          </p:cNvSpPr>
          <p:nvPr/>
        </p:nvSpPr>
        <p:spPr>
          <a:xfrm xmlns:a="http://schemas.openxmlformats.org/drawingml/2006/main">
            <a:off x="3714750" y="5810250"/>
            <a:ext cx="79533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0">
                <a:solidFill>
                  <a:srgbClr val="087DDF"/>
                </a:solidFill>
              </a:defRPr>
            </a:defPPr>
            <a:lvl1pPr>
              <a:defRPr sz="1425" b="0">
                <a:solidFill>
                  <a:srgbClr val="087DDF"/>
                </a:solidFill>
              </a:defRPr>
            </a:lvl1pPr>
            <a:lvl2pPr>
              <a:defRPr sz="1425" b="0">
                <a:solidFill>
                  <a:srgbClr val="087DDF"/>
                </a:solidFill>
              </a:defRPr>
            </a:lvl2pPr>
            <a:lvl3pPr>
              <a:defRPr sz="1425" b="0">
                <a:solidFill>
                  <a:srgbClr val="087DDF"/>
                </a:solidFill>
              </a:defRPr>
            </a:lvl3pPr>
            <a:lvl4pPr>
              <a:defRPr sz="1425" b="0">
                <a:solidFill>
                  <a:srgbClr val="087DDF"/>
                </a:solidFill>
              </a:defRPr>
            </a:lvl4pPr>
            <a:lvl5pPr>
              <a:defRPr sz="1425" b="0">
                <a:solidFill>
                  <a:srgbClr val="087DDF"/>
                </a:solidFill>
              </a:defRPr>
            </a:lvl5pPr>
            <a:lvl6pPr>
              <a:defRPr sz="1425" b="0">
                <a:solidFill>
                  <a:srgbClr val="087DDF"/>
                </a:solidFill>
              </a:defRPr>
            </a:lvl6pPr>
            <a:lvl7pPr>
              <a:defRPr sz="1425" b="0">
                <a:solidFill>
                  <a:srgbClr val="087DDF"/>
                </a:solidFill>
              </a:defRPr>
            </a:lvl7pPr>
            <a:lvl8pPr>
              <a:defRPr sz="1425" b="0">
                <a:solidFill>
                  <a:srgbClr val="087DDF"/>
                </a:solidFill>
              </a:defRPr>
            </a:lvl8pPr>
            <a:lvl9pPr>
              <a:defRPr sz="1425" b="0">
                <a:solidFill>
                  <a:srgbClr val="087DDF"/>
                </a:solidFill>
              </a:defRPr>
            </a:lvl9pPr>
          </a:lstStyle>
          <a:p xmlns:a="http://schemas.openxmlformats.org/drawingml/2006/main">
            <a:pPr>
              <a:defRPr sz="1425" b="0">
                <a:solidFill>
                  <a:srgbClr val="087DDF"/>
                </a:solidFill>
              </a:defRPr>
            </a:pPr>
            <a:r>
              <a:rPr sz="1425" b="0">
                <a:solidFill>
                  <a:srgbClr val="087DDF"/>
                </a:solidFill>
              </a:rPr>
              <a:t>The wide range describes missing knowledge; it is not a finding of financial distress.</a:t>
            </a:r>
          </a:p>
        </p:txBody>
      </p:sp>
      <p:sp>
        <p:nvSpPr>
          <p:cNvPr id="7" name="Footer">
            <a:extLst xmlns:a="http://schemas.openxmlformats.org/drawingml/2006/main">
              <a:ext uri="{FF2B5EF4-FFF2-40B4-BE49-F238E27FC236}">
                <a16:creationId xmlns:a16="http://schemas.microsoft.com/office/drawing/2014/main" id="{FC373D91-81D3-4747-9B86-7F86F3E182C2}"/>
              </a:ext>
            </a:extLst>
          </p:cNvPr>
          <p:cNvSpPr>
            <a:spLocks xmlns:a="http://schemas.openxmlformats.org/drawingml/2006/main" noGrp="1"/>
          </p:cNvSpPr>
          <p:nvPr/>
        </p:nvSpPr>
        <p:spPr>
          <a:xfrm xmlns:a="http://schemas.openxmlformats.org/drawingml/2006/main">
            <a:off x="495300" y="6419850"/>
            <a:ext cx="10953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9778B"/>
                </a:solidFill>
              </a:defRPr>
            </a:defPPr>
            <a:lvl1pPr>
              <a:defRPr sz="1200" b="0">
                <a:solidFill>
                  <a:srgbClr val="69778B"/>
                </a:solidFill>
              </a:defRPr>
            </a:lvl1pPr>
            <a:lvl2pPr>
              <a:defRPr sz="1200" b="0">
                <a:solidFill>
                  <a:srgbClr val="69778B"/>
                </a:solidFill>
              </a:defRPr>
            </a:lvl2pPr>
            <a:lvl3pPr>
              <a:defRPr sz="1200" b="0">
                <a:solidFill>
                  <a:srgbClr val="69778B"/>
                </a:solidFill>
              </a:defRPr>
            </a:lvl3pPr>
            <a:lvl4pPr>
              <a:defRPr sz="1200" b="0">
                <a:solidFill>
                  <a:srgbClr val="69778B"/>
                </a:solidFill>
              </a:defRPr>
            </a:lvl4pPr>
            <a:lvl5pPr>
              <a:defRPr sz="1200" b="0">
                <a:solidFill>
                  <a:srgbClr val="69778B"/>
                </a:solidFill>
              </a:defRPr>
            </a:lvl5pPr>
            <a:lvl6pPr>
              <a:defRPr sz="1200" b="0">
                <a:solidFill>
                  <a:srgbClr val="69778B"/>
                </a:solidFill>
              </a:defRPr>
            </a:lvl6pPr>
            <a:lvl7pPr>
              <a:defRPr sz="1200" b="0">
                <a:solidFill>
                  <a:srgbClr val="69778B"/>
                </a:solidFill>
              </a:defRPr>
            </a:lvl7pPr>
            <a:lvl8pPr>
              <a:defRPr sz="1200" b="0">
                <a:solidFill>
                  <a:srgbClr val="69778B"/>
                </a:solidFill>
              </a:defRPr>
            </a:lvl8pPr>
            <a:lvl9pPr>
              <a:defRPr sz="1200" b="0">
                <a:solidFill>
                  <a:srgbClr val="69778B"/>
                </a:solidFill>
              </a:defRPr>
            </a:lvl9pPr>
          </a:lstStyle>
          <a:p xmlns:a="http://schemas.openxmlformats.org/drawingml/2006/main">
            <a:pPr>
              <a:defRPr sz="1200" b="0">
                <a:solidFill>
                  <a:srgbClr val="69778B"/>
                </a:solidFill>
              </a:defRPr>
            </a:pPr>
            <a:r>
              <a:rPr sz="1200" b="0">
                <a:solidFill>
                  <a:srgbClr val="69778B"/>
                </a:solidFill>
              </a:rPr>
              <a:t>Build 3   /   Public research demonstration   /   21 October 2026</a:t>
            </a:r>
          </a:p>
        </p:txBody>
      </p:sp>
    </p:spTree>
    <p:extLst>
      <p:ext uri="{BB962C8B-B14F-4D97-AF65-F5344CB8AC3E}">
        <p14:creationId xmlns:p14="http://schemas.microsoft.com/office/powerpoint/2010/main" val="147822084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tep">
            <a:extLst xmlns:a="http://schemas.openxmlformats.org/drawingml/2006/main">
              <a:ext uri="{FF2B5EF4-FFF2-40B4-BE49-F238E27FC236}">
                <a16:creationId xmlns:a16="http://schemas.microsoft.com/office/drawing/2014/main" id="{2413C1FB-68A3-4810-A19A-A5C09800BC2C}"/>
              </a:ext>
            </a:extLst>
          </p:cNvPr>
          <p:cNvSpPr>
            <a:spLocks xmlns:a="http://schemas.openxmlformats.org/drawingml/2006/main" noGrp="1"/>
          </p:cNvSpPr>
          <p:nvPr/>
        </p:nvSpPr>
        <p:spPr>
          <a:xfrm xmlns:a="http://schemas.openxmlformats.org/drawingml/2006/main">
            <a:off x="495300" y="342900"/>
            <a:ext cx="704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087DDF"/>
                </a:solidFill>
              </a:defRPr>
            </a:defPPr>
            <a:lvl1pPr>
              <a:defRPr sz="1800" b="1">
                <a:solidFill>
                  <a:srgbClr val="087DDF"/>
                </a:solidFill>
              </a:defRPr>
            </a:lvl1pPr>
            <a:lvl2pPr>
              <a:defRPr sz="1800" b="1">
                <a:solidFill>
                  <a:srgbClr val="087DDF"/>
                </a:solidFill>
              </a:defRPr>
            </a:lvl2pPr>
            <a:lvl3pPr>
              <a:defRPr sz="1800" b="1">
                <a:solidFill>
                  <a:srgbClr val="087DDF"/>
                </a:solidFill>
              </a:defRPr>
            </a:lvl3pPr>
            <a:lvl4pPr>
              <a:defRPr sz="1800" b="1">
                <a:solidFill>
                  <a:srgbClr val="087DDF"/>
                </a:solidFill>
              </a:defRPr>
            </a:lvl4pPr>
            <a:lvl5pPr>
              <a:defRPr sz="1800" b="1">
                <a:solidFill>
                  <a:srgbClr val="087DDF"/>
                </a:solidFill>
              </a:defRPr>
            </a:lvl5pPr>
            <a:lvl6pPr>
              <a:defRPr sz="1800" b="1">
                <a:solidFill>
                  <a:srgbClr val="087DDF"/>
                </a:solidFill>
              </a:defRPr>
            </a:lvl6pPr>
            <a:lvl7pPr>
              <a:defRPr sz="1800" b="1">
                <a:solidFill>
                  <a:srgbClr val="087DDF"/>
                </a:solidFill>
              </a:defRPr>
            </a:lvl7pPr>
            <a:lvl8pPr>
              <a:defRPr sz="1800" b="1">
                <a:solidFill>
                  <a:srgbClr val="087DDF"/>
                </a:solidFill>
              </a:defRPr>
            </a:lvl8pPr>
            <a:lvl9pPr>
              <a:defRPr sz="1800" b="1">
                <a:solidFill>
                  <a:srgbClr val="087DDF"/>
                </a:solidFill>
              </a:defRPr>
            </a:lvl9pPr>
          </a:lstStyle>
          <a:p xmlns:a="http://schemas.openxmlformats.org/drawingml/2006/main">
            <a:pPr>
              <a:defRPr sz="1800" b="1">
                <a:solidFill>
                  <a:srgbClr val="087DDF"/>
                </a:solidFill>
              </a:defRPr>
            </a:pPr>
            <a:r>
              <a:rPr sz="1800" b="1">
                <a:solidFill>
                  <a:srgbClr val="087DDF"/>
                </a:solidFill>
              </a:rPr>
              <a:t>13</a:t>
            </a:r>
          </a:p>
        </p:txBody>
      </p:sp>
      <p:sp>
        <p:nvSpPr>
          <p:cNvPr id="3" name="Title">
            <a:extLst xmlns:a="http://schemas.openxmlformats.org/drawingml/2006/main">
              <a:ext uri="{FF2B5EF4-FFF2-40B4-BE49-F238E27FC236}">
                <a16:creationId xmlns:a16="http://schemas.microsoft.com/office/drawing/2014/main" id="{BCB77ADA-C828-4965-8EE3-827F96ACA252}"/>
              </a:ext>
            </a:extLst>
          </p:cNvPr>
          <p:cNvSpPr>
            <a:spLocks xmlns:a="http://schemas.openxmlformats.org/drawingml/2006/main" noGrp="1"/>
          </p:cNvSpPr>
          <p:nvPr/>
        </p:nvSpPr>
        <p:spPr>
          <a:xfrm xmlns:a="http://schemas.openxmlformats.org/drawingml/2006/main">
            <a:off x="495300" y="762000"/>
            <a:ext cx="1104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744"/>
                </a:solidFill>
              </a:defRPr>
            </a:defPPr>
            <a:lvl1pPr>
              <a:defRPr sz="3300" b="1">
                <a:solidFill>
                  <a:srgbClr val="102744"/>
                </a:solidFill>
              </a:defRPr>
            </a:lvl1pPr>
            <a:lvl2pPr>
              <a:defRPr sz="3300" b="1">
                <a:solidFill>
                  <a:srgbClr val="102744"/>
                </a:solidFill>
              </a:defRPr>
            </a:lvl2pPr>
            <a:lvl3pPr>
              <a:defRPr sz="3300" b="1">
                <a:solidFill>
                  <a:srgbClr val="102744"/>
                </a:solidFill>
              </a:defRPr>
            </a:lvl3pPr>
            <a:lvl4pPr>
              <a:defRPr sz="3300" b="1">
                <a:solidFill>
                  <a:srgbClr val="102744"/>
                </a:solidFill>
              </a:defRPr>
            </a:lvl4pPr>
            <a:lvl5pPr>
              <a:defRPr sz="3300" b="1">
                <a:solidFill>
                  <a:srgbClr val="102744"/>
                </a:solidFill>
              </a:defRPr>
            </a:lvl5pPr>
            <a:lvl6pPr>
              <a:defRPr sz="3300" b="1">
                <a:solidFill>
                  <a:srgbClr val="102744"/>
                </a:solidFill>
              </a:defRPr>
            </a:lvl6pPr>
            <a:lvl7pPr>
              <a:defRPr sz="3300" b="1">
                <a:solidFill>
                  <a:srgbClr val="102744"/>
                </a:solidFill>
              </a:defRPr>
            </a:lvl7pPr>
            <a:lvl8pPr>
              <a:defRPr sz="3300" b="1">
                <a:solidFill>
                  <a:srgbClr val="102744"/>
                </a:solidFill>
              </a:defRPr>
            </a:lvl8pPr>
            <a:lvl9pPr>
              <a:defRPr sz="3300" b="1">
                <a:solidFill>
                  <a:srgbClr val="102744"/>
                </a:solidFill>
              </a:defRPr>
            </a:lvl9pPr>
          </a:lstStyle>
          <a:p xmlns:a="http://schemas.openxmlformats.org/drawingml/2006/main">
            <a:pPr>
              <a:defRPr sz="3300" b="1">
                <a:solidFill>
                  <a:srgbClr val="102744"/>
                </a:solidFill>
              </a:defRPr>
            </a:pPr>
            <a:r>
              <a:rPr sz="3300" b="1">
                <a:solidFill>
                  <a:srgbClr val="102744"/>
                </a:solidFill>
              </a:rPr>
              <a:t>Viability is a separate assessment</a:t>
            </a:r>
          </a:p>
        </p:txBody>
      </p:sp>
      <p:sp>
        <p:nvSpPr>
          <p:cNvPr id="4" name="Body">
            <a:extLst xmlns:a="http://schemas.openxmlformats.org/drawingml/2006/main">
              <a:ext uri="{FF2B5EF4-FFF2-40B4-BE49-F238E27FC236}">
                <a16:creationId xmlns:a16="http://schemas.microsoft.com/office/drawing/2014/main" id="{DB70FDDF-D629-4BFF-9E0F-E406BBC91FF2}"/>
              </a:ext>
            </a:extLst>
          </p:cNvPr>
          <p:cNvSpPr>
            <a:spLocks xmlns:a="http://schemas.openxmlformats.org/drawingml/2006/main" noGrp="1"/>
          </p:cNvSpPr>
          <p:nvPr/>
        </p:nvSpPr>
        <p:spPr>
          <a:xfrm xmlns:a="http://schemas.openxmlformats.org/drawingml/2006/main">
            <a:off x="495300" y="1847850"/>
            <a:ext cx="2857500" cy="409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25354B"/>
                </a:solidFill>
              </a:defRPr>
            </a:defPPr>
            <a:lvl1pPr>
              <a:defRPr sz="1800" b="0">
                <a:solidFill>
                  <a:srgbClr val="25354B"/>
                </a:solidFill>
              </a:defRPr>
            </a:lvl1pPr>
            <a:lvl2pPr>
              <a:defRPr sz="1800" b="0">
                <a:solidFill>
                  <a:srgbClr val="25354B"/>
                </a:solidFill>
              </a:defRPr>
            </a:lvl2pPr>
            <a:lvl3pPr>
              <a:defRPr sz="1800" b="0">
                <a:solidFill>
                  <a:srgbClr val="25354B"/>
                </a:solidFill>
              </a:defRPr>
            </a:lvl3pPr>
            <a:lvl4pPr>
              <a:defRPr sz="1800" b="0">
                <a:solidFill>
                  <a:srgbClr val="25354B"/>
                </a:solidFill>
              </a:defRPr>
            </a:lvl4pPr>
            <a:lvl5pPr>
              <a:defRPr sz="1800" b="0">
                <a:solidFill>
                  <a:srgbClr val="25354B"/>
                </a:solidFill>
              </a:defRPr>
            </a:lvl5pPr>
            <a:lvl6pPr>
              <a:defRPr sz="1800" b="0">
                <a:solidFill>
                  <a:srgbClr val="25354B"/>
                </a:solidFill>
              </a:defRPr>
            </a:lvl6pPr>
            <a:lvl7pPr>
              <a:defRPr sz="1800" b="0">
                <a:solidFill>
                  <a:srgbClr val="25354B"/>
                </a:solidFill>
              </a:defRPr>
            </a:lvl7pPr>
            <a:lvl8pPr>
              <a:defRPr sz="1800" b="0">
                <a:solidFill>
                  <a:srgbClr val="25354B"/>
                </a:solidFill>
              </a:defRPr>
            </a:lvl8pPr>
            <a:lvl9pPr>
              <a:defRPr sz="1800" b="0">
                <a:solidFill>
                  <a:srgbClr val="25354B"/>
                </a:solidFill>
              </a:defRPr>
            </a:lvl9pPr>
          </a:lstStyle>
          <a:p xmlns:a="http://schemas.openxmlformats.org/drawingml/2006/main">
            <a:pPr>
              <a:defRPr sz="1800" b="0">
                <a:solidFill>
                  <a:srgbClr val="25354B"/>
                </a:solidFill>
              </a:defRPr>
            </a:pPr>
            <a:r>
              <a:rPr sz="1800" b="0">
                <a:solidFill>
                  <a:srgbClr val="25354B"/>
                </a:solidFill>
              </a:rPr>
              <a:t>Current operations: 30.</a:t>
            </a:r>
          </a:p>
          <a:p xmlns:a="http://schemas.openxmlformats.org/drawingml/2006/main">
            <a:r>
              <a:t/>
            </a:r>
          </a:p>
          <a:p xmlns:a="http://schemas.openxmlformats.org/drawingml/2006/main">
            <a:pPr>
              <a:defRPr sz="1800" b="0">
                <a:solidFill>
                  <a:srgbClr val="25354B"/>
                </a:solidFill>
              </a:defRPr>
            </a:pPr>
            <a:r>
              <a:rPr sz="1800" b="0">
                <a:solidFill>
                  <a:srgbClr val="25354B"/>
                </a:solidFill>
              </a:rPr>
              <a:t>Verified social activity: 10.</a:t>
            </a:r>
          </a:p>
          <a:p xmlns:a="http://schemas.openxmlformats.org/drawingml/2006/main">
            <a:r>
              <a:t/>
            </a:r>
          </a:p>
          <a:p xmlns:a="http://schemas.openxmlformats.org/drawingml/2006/main">
            <a:pPr>
              <a:defRPr sz="1800" b="0">
                <a:solidFill>
                  <a:srgbClr val="25354B"/>
                </a:solidFill>
              </a:defRPr>
            </a:pPr>
            <a:r>
              <a:rPr sz="1800" b="0">
                <a:solidFill>
                  <a:srgbClr val="25354B"/>
                </a:solidFill>
              </a:rPr>
              <a:t>Current legal status: Unknown, weight 60.</a:t>
            </a:r>
          </a:p>
          <a:p xmlns:a="http://schemas.openxmlformats.org/drawingml/2006/main">
            <a:r>
              <a:t/>
            </a:r>
          </a:p>
          <a:p xmlns:a="http://schemas.openxmlformats.org/drawingml/2006/main">
            <a:pPr>
              <a:defRPr sz="1800" b="0">
                <a:solidFill>
                  <a:srgbClr val="25354B"/>
                </a:solidFill>
              </a:defRPr>
            </a:pPr>
            <a:r>
              <a:rPr sz="1800" b="0">
                <a:solidFill>
                  <a:srgbClr val="25354B"/>
                </a:solidFill>
              </a:rPr>
              <a:t>Range: 40–100.</a:t>
            </a:r>
          </a:p>
          <a:p xmlns:a="http://schemas.openxmlformats.org/drawingml/2006/main">
            <a:pPr>
              <a:defRPr sz="1800" b="0">
                <a:solidFill>
                  <a:srgbClr val="25354B"/>
                </a:solidFill>
              </a:defRPr>
            </a:pPr>
            <a:r>
              <a:rPr sz="1800" b="0">
                <a:solidFill>
                  <a:srgbClr val="25354B"/>
                </a:solidFill>
              </a:rPr>
              <a:t>Coverage: 40%.</a:t>
            </a:r>
          </a:p>
        </p:txBody>
      </p:sp>
      <p:pic>
        <p:nvPicPr>
          <p:cNvPr id="5" name="">
            <a:extLst xmlns:a="http://schemas.openxmlformats.org/drawingml/2006/main">
              <a:ext uri="{FF2B5EF4-FFF2-40B4-BE49-F238E27FC236}">
                <a16:creationId xmlns:a16="http://schemas.microsoft.com/office/drawing/2014/main" id="{2C6156C8-7EC9-4676-8FBF-089B28E57A4A}"/>
              </a:ext>
            </a:extLst>
          </p:cNvPr>
          <p:cNvPicPr>
            <a:picLocks xmlns:a="http://schemas.openxmlformats.org/drawingml/2006/main" noChangeAspect="1"/>
          </p:cNvPicPr>
          <p:nvPr/>
        </p:nvPicPr>
        <p:blipFill>
          <a:blip xmlns:r="http://schemas.openxmlformats.org/officeDocument/2006/relationships" xmlns:a="http://schemas.openxmlformats.org/drawingml/2006/main" r:embed="R2c86173310f34b59"/>
          <a:stretch xmlns:a="http://schemas.openxmlformats.org/drawingml/2006/main"/>
        </p:blipFill>
        <p:spPr>
          <a:xfrm xmlns:a="http://schemas.openxmlformats.org/drawingml/2006/main">
            <a:off x="5387203" y="1666875"/>
            <a:ext cx="4608468" cy="3905250"/>
          </a:xfrm>
          <a:prstGeom xmlns:a="http://schemas.openxmlformats.org/drawingml/2006/main" prst="rect">
            <a:avLst/>
          </a:prstGeom>
        </p:spPr>
      </p:pic>
      <p:sp>
        <p:nvSpPr>
          <p:cNvPr id="6" name="Caption">
            <a:extLst xmlns:a="http://schemas.openxmlformats.org/drawingml/2006/main">
              <a:ext uri="{FF2B5EF4-FFF2-40B4-BE49-F238E27FC236}">
                <a16:creationId xmlns:a16="http://schemas.microsoft.com/office/drawing/2014/main" id="{832EDD64-7C64-4F25-99A3-3D833913D10F}"/>
              </a:ext>
            </a:extLst>
          </p:cNvPr>
          <p:cNvSpPr>
            <a:spLocks xmlns:a="http://schemas.openxmlformats.org/drawingml/2006/main" noGrp="1"/>
          </p:cNvSpPr>
          <p:nvPr/>
        </p:nvSpPr>
        <p:spPr>
          <a:xfrm xmlns:a="http://schemas.openxmlformats.org/drawingml/2006/main">
            <a:off x="3714750" y="5810250"/>
            <a:ext cx="79533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0">
                <a:solidFill>
                  <a:srgbClr val="087DDF"/>
                </a:solidFill>
              </a:defRPr>
            </a:defPPr>
            <a:lvl1pPr>
              <a:defRPr sz="1425" b="0">
                <a:solidFill>
                  <a:srgbClr val="087DDF"/>
                </a:solidFill>
              </a:defRPr>
            </a:lvl1pPr>
            <a:lvl2pPr>
              <a:defRPr sz="1425" b="0">
                <a:solidFill>
                  <a:srgbClr val="087DDF"/>
                </a:solidFill>
              </a:defRPr>
            </a:lvl2pPr>
            <a:lvl3pPr>
              <a:defRPr sz="1425" b="0">
                <a:solidFill>
                  <a:srgbClr val="087DDF"/>
                </a:solidFill>
              </a:defRPr>
            </a:lvl3pPr>
            <a:lvl4pPr>
              <a:defRPr sz="1425" b="0">
                <a:solidFill>
                  <a:srgbClr val="087DDF"/>
                </a:solidFill>
              </a:defRPr>
            </a:lvl4pPr>
            <a:lvl5pPr>
              <a:defRPr sz="1425" b="0">
                <a:solidFill>
                  <a:srgbClr val="087DDF"/>
                </a:solidFill>
              </a:defRPr>
            </a:lvl5pPr>
            <a:lvl6pPr>
              <a:defRPr sz="1425" b="0">
                <a:solidFill>
                  <a:srgbClr val="087DDF"/>
                </a:solidFill>
              </a:defRPr>
            </a:lvl6pPr>
            <a:lvl7pPr>
              <a:defRPr sz="1425" b="0">
                <a:solidFill>
                  <a:srgbClr val="087DDF"/>
                </a:solidFill>
              </a:defRPr>
            </a:lvl7pPr>
            <a:lvl8pPr>
              <a:defRPr sz="1425" b="0">
                <a:solidFill>
                  <a:srgbClr val="087DDF"/>
                </a:solidFill>
              </a:defRPr>
            </a:lvl8pPr>
            <a:lvl9pPr>
              <a:defRPr sz="1425" b="0">
                <a:solidFill>
                  <a:srgbClr val="087DDF"/>
                </a:solidFill>
              </a:defRPr>
            </a:lvl9pPr>
          </a:lstStyle>
          <a:p xmlns:a="http://schemas.openxmlformats.org/drawingml/2006/main">
            <a:pPr>
              <a:defRPr sz="1425" b="0">
                <a:solidFill>
                  <a:srgbClr val="087DDF"/>
                </a:solidFill>
              </a:defRPr>
            </a:pPr>
            <a:r>
              <a:rPr sz="1425" b="0">
                <a:solidFill>
                  <a:srgbClr val="087DDF"/>
                </a:solidFill>
              </a:rPr>
              <a:t>Continued activity does not establish solvency or satisfy current legal-status verification.</a:t>
            </a:r>
          </a:p>
        </p:txBody>
      </p:sp>
      <p:sp>
        <p:nvSpPr>
          <p:cNvPr id="7" name="Footer">
            <a:extLst xmlns:a="http://schemas.openxmlformats.org/drawingml/2006/main">
              <a:ext uri="{FF2B5EF4-FFF2-40B4-BE49-F238E27FC236}">
                <a16:creationId xmlns:a16="http://schemas.microsoft.com/office/drawing/2014/main" id="{9ACAF71F-0650-4AE1-AD19-04FF1EED9150}"/>
              </a:ext>
            </a:extLst>
          </p:cNvPr>
          <p:cNvSpPr>
            <a:spLocks xmlns:a="http://schemas.openxmlformats.org/drawingml/2006/main" noGrp="1"/>
          </p:cNvSpPr>
          <p:nvPr/>
        </p:nvSpPr>
        <p:spPr>
          <a:xfrm xmlns:a="http://schemas.openxmlformats.org/drawingml/2006/main">
            <a:off x="495300" y="6419850"/>
            <a:ext cx="10953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9778B"/>
                </a:solidFill>
              </a:defRPr>
            </a:defPPr>
            <a:lvl1pPr>
              <a:defRPr sz="1200" b="0">
                <a:solidFill>
                  <a:srgbClr val="69778B"/>
                </a:solidFill>
              </a:defRPr>
            </a:lvl1pPr>
            <a:lvl2pPr>
              <a:defRPr sz="1200" b="0">
                <a:solidFill>
                  <a:srgbClr val="69778B"/>
                </a:solidFill>
              </a:defRPr>
            </a:lvl2pPr>
            <a:lvl3pPr>
              <a:defRPr sz="1200" b="0">
                <a:solidFill>
                  <a:srgbClr val="69778B"/>
                </a:solidFill>
              </a:defRPr>
            </a:lvl3pPr>
            <a:lvl4pPr>
              <a:defRPr sz="1200" b="0">
                <a:solidFill>
                  <a:srgbClr val="69778B"/>
                </a:solidFill>
              </a:defRPr>
            </a:lvl4pPr>
            <a:lvl5pPr>
              <a:defRPr sz="1200" b="0">
                <a:solidFill>
                  <a:srgbClr val="69778B"/>
                </a:solidFill>
              </a:defRPr>
            </a:lvl5pPr>
            <a:lvl6pPr>
              <a:defRPr sz="1200" b="0">
                <a:solidFill>
                  <a:srgbClr val="69778B"/>
                </a:solidFill>
              </a:defRPr>
            </a:lvl6pPr>
            <a:lvl7pPr>
              <a:defRPr sz="1200" b="0">
                <a:solidFill>
                  <a:srgbClr val="69778B"/>
                </a:solidFill>
              </a:defRPr>
            </a:lvl7pPr>
            <a:lvl8pPr>
              <a:defRPr sz="1200" b="0">
                <a:solidFill>
                  <a:srgbClr val="69778B"/>
                </a:solidFill>
              </a:defRPr>
            </a:lvl8pPr>
            <a:lvl9pPr>
              <a:defRPr sz="1200" b="0">
                <a:solidFill>
                  <a:srgbClr val="69778B"/>
                </a:solidFill>
              </a:defRPr>
            </a:lvl9pPr>
          </a:lstStyle>
          <a:p xmlns:a="http://schemas.openxmlformats.org/drawingml/2006/main">
            <a:pPr>
              <a:defRPr sz="1200" b="0">
                <a:solidFill>
                  <a:srgbClr val="69778B"/>
                </a:solidFill>
              </a:defRPr>
            </a:pPr>
            <a:r>
              <a:rPr sz="1200" b="0">
                <a:solidFill>
                  <a:srgbClr val="69778B"/>
                </a:solidFill>
              </a:rPr>
              <a:t>Build 3   /   Public research demonstration   /   21 October 2026</a:t>
            </a:r>
          </a:p>
        </p:txBody>
      </p:sp>
    </p:spTree>
    <p:extLst>
      <p:ext uri="{BB962C8B-B14F-4D97-AF65-F5344CB8AC3E}">
        <p14:creationId xmlns:p14="http://schemas.microsoft.com/office/powerpoint/2010/main" val="15583426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tep">
            <a:extLst xmlns:a="http://schemas.openxmlformats.org/drawingml/2006/main">
              <a:ext uri="{FF2B5EF4-FFF2-40B4-BE49-F238E27FC236}">
                <a16:creationId xmlns:a16="http://schemas.microsoft.com/office/drawing/2014/main" id="{1632C337-469F-4DD4-A2DB-09F1DCB30AC6}"/>
              </a:ext>
            </a:extLst>
          </p:cNvPr>
          <p:cNvSpPr>
            <a:spLocks xmlns:a="http://schemas.openxmlformats.org/drawingml/2006/main" noGrp="1"/>
          </p:cNvSpPr>
          <p:nvPr/>
        </p:nvSpPr>
        <p:spPr>
          <a:xfrm xmlns:a="http://schemas.openxmlformats.org/drawingml/2006/main">
            <a:off x="495300" y="342900"/>
            <a:ext cx="704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087DDF"/>
                </a:solidFill>
              </a:defRPr>
            </a:defPPr>
            <a:lvl1pPr>
              <a:defRPr sz="1800" b="1">
                <a:solidFill>
                  <a:srgbClr val="087DDF"/>
                </a:solidFill>
              </a:defRPr>
            </a:lvl1pPr>
            <a:lvl2pPr>
              <a:defRPr sz="1800" b="1">
                <a:solidFill>
                  <a:srgbClr val="087DDF"/>
                </a:solidFill>
              </a:defRPr>
            </a:lvl2pPr>
            <a:lvl3pPr>
              <a:defRPr sz="1800" b="1">
                <a:solidFill>
                  <a:srgbClr val="087DDF"/>
                </a:solidFill>
              </a:defRPr>
            </a:lvl3pPr>
            <a:lvl4pPr>
              <a:defRPr sz="1800" b="1">
                <a:solidFill>
                  <a:srgbClr val="087DDF"/>
                </a:solidFill>
              </a:defRPr>
            </a:lvl4pPr>
            <a:lvl5pPr>
              <a:defRPr sz="1800" b="1">
                <a:solidFill>
                  <a:srgbClr val="087DDF"/>
                </a:solidFill>
              </a:defRPr>
            </a:lvl5pPr>
            <a:lvl6pPr>
              <a:defRPr sz="1800" b="1">
                <a:solidFill>
                  <a:srgbClr val="087DDF"/>
                </a:solidFill>
              </a:defRPr>
            </a:lvl6pPr>
            <a:lvl7pPr>
              <a:defRPr sz="1800" b="1">
                <a:solidFill>
                  <a:srgbClr val="087DDF"/>
                </a:solidFill>
              </a:defRPr>
            </a:lvl7pPr>
            <a:lvl8pPr>
              <a:defRPr sz="1800" b="1">
                <a:solidFill>
                  <a:srgbClr val="087DDF"/>
                </a:solidFill>
              </a:defRPr>
            </a:lvl8pPr>
            <a:lvl9pPr>
              <a:defRPr sz="1800" b="1">
                <a:solidFill>
                  <a:srgbClr val="087DDF"/>
                </a:solidFill>
              </a:defRPr>
            </a:lvl9pPr>
          </a:lstStyle>
          <a:p xmlns:a="http://schemas.openxmlformats.org/drawingml/2006/main">
            <a:pPr>
              <a:defRPr sz="1800" b="1">
                <a:solidFill>
                  <a:srgbClr val="087DDF"/>
                </a:solidFill>
              </a:defRPr>
            </a:pPr>
            <a:r>
              <a:rPr sz="1800" b="1">
                <a:solidFill>
                  <a:srgbClr val="087DDF"/>
                </a:solidFill>
              </a:rPr>
              <a:t>14</a:t>
            </a:r>
          </a:p>
        </p:txBody>
      </p:sp>
      <p:sp>
        <p:nvSpPr>
          <p:cNvPr id="3" name="Title">
            <a:extLst xmlns:a="http://schemas.openxmlformats.org/drawingml/2006/main">
              <a:ext uri="{FF2B5EF4-FFF2-40B4-BE49-F238E27FC236}">
                <a16:creationId xmlns:a16="http://schemas.microsoft.com/office/drawing/2014/main" id="{B8635D6E-D6FE-46AC-9CCD-A10364C8E487}"/>
              </a:ext>
            </a:extLst>
          </p:cNvPr>
          <p:cNvSpPr>
            <a:spLocks xmlns:a="http://schemas.openxmlformats.org/drawingml/2006/main" noGrp="1"/>
          </p:cNvSpPr>
          <p:nvPr/>
        </p:nvSpPr>
        <p:spPr>
          <a:xfrm xmlns:a="http://schemas.openxmlformats.org/drawingml/2006/main">
            <a:off x="495300" y="762000"/>
            <a:ext cx="1104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744"/>
                </a:solidFill>
              </a:defRPr>
            </a:defPPr>
            <a:lvl1pPr>
              <a:defRPr sz="3300" b="1">
                <a:solidFill>
                  <a:srgbClr val="102744"/>
                </a:solidFill>
              </a:defRPr>
            </a:lvl1pPr>
            <a:lvl2pPr>
              <a:defRPr sz="3300" b="1">
                <a:solidFill>
                  <a:srgbClr val="102744"/>
                </a:solidFill>
              </a:defRPr>
            </a:lvl2pPr>
            <a:lvl3pPr>
              <a:defRPr sz="3300" b="1">
                <a:solidFill>
                  <a:srgbClr val="102744"/>
                </a:solidFill>
              </a:defRPr>
            </a:lvl3pPr>
            <a:lvl4pPr>
              <a:defRPr sz="3300" b="1">
                <a:solidFill>
                  <a:srgbClr val="102744"/>
                </a:solidFill>
              </a:defRPr>
            </a:lvl4pPr>
            <a:lvl5pPr>
              <a:defRPr sz="3300" b="1">
                <a:solidFill>
                  <a:srgbClr val="102744"/>
                </a:solidFill>
              </a:defRPr>
            </a:lvl5pPr>
            <a:lvl6pPr>
              <a:defRPr sz="3300" b="1">
                <a:solidFill>
                  <a:srgbClr val="102744"/>
                </a:solidFill>
              </a:defRPr>
            </a:lvl6pPr>
            <a:lvl7pPr>
              <a:defRPr sz="3300" b="1">
                <a:solidFill>
                  <a:srgbClr val="102744"/>
                </a:solidFill>
              </a:defRPr>
            </a:lvl7pPr>
            <a:lvl8pPr>
              <a:defRPr sz="3300" b="1">
                <a:solidFill>
                  <a:srgbClr val="102744"/>
                </a:solidFill>
              </a:defRPr>
            </a:lvl8pPr>
            <a:lvl9pPr>
              <a:defRPr sz="3300" b="1">
                <a:solidFill>
                  <a:srgbClr val="102744"/>
                </a:solidFill>
              </a:defRPr>
            </a:lvl9pPr>
          </a:lstStyle>
          <a:p xmlns:a="http://schemas.openxmlformats.org/drawingml/2006/main">
            <a:pPr>
              <a:defRPr sz="3300" b="1">
                <a:solidFill>
                  <a:srgbClr val="102744"/>
                </a:solidFill>
              </a:defRPr>
            </a:pPr>
            <a:r>
              <a:rPr sz="3300" b="1">
                <a:solidFill>
                  <a:srgbClr val="102744"/>
                </a:solidFill>
              </a:rPr>
              <a:t>Dated evidence and interpretation</a:t>
            </a:r>
          </a:p>
        </p:txBody>
      </p:sp>
      <p:sp>
        <p:nvSpPr>
          <p:cNvPr id="4" name="Body">
            <a:extLst xmlns:a="http://schemas.openxmlformats.org/drawingml/2006/main">
              <a:ext uri="{FF2B5EF4-FFF2-40B4-BE49-F238E27FC236}">
                <a16:creationId xmlns:a16="http://schemas.microsoft.com/office/drawing/2014/main" id="{E66B0272-1C59-4D59-806A-91A6F9FFA3A7}"/>
              </a:ext>
            </a:extLst>
          </p:cNvPr>
          <p:cNvSpPr>
            <a:spLocks xmlns:a="http://schemas.openxmlformats.org/drawingml/2006/main" noGrp="1"/>
          </p:cNvSpPr>
          <p:nvPr/>
        </p:nvSpPr>
        <p:spPr>
          <a:xfrm xmlns:a="http://schemas.openxmlformats.org/drawingml/2006/main">
            <a:off x="495300" y="1847850"/>
            <a:ext cx="2857500" cy="409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25354B"/>
                </a:solidFill>
              </a:defRPr>
            </a:defPPr>
            <a:lvl1pPr>
              <a:defRPr sz="1800" b="0">
                <a:solidFill>
                  <a:srgbClr val="25354B"/>
                </a:solidFill>
              </a:defRPr>
            </a:lvl1pPr>
            <a:lvl2pPr>
              <a:defRPr sz="1800" b="0">
                <a:solidFill>
                  <a:srgbClr val="25354B"/>
                </a:solidFill>
              </a:defRPr>
            </a:lvl2pPr>
            <a:lvl3pPr>
              <a:defRPr sz="1800" b="0">
                <a:solidFill>
                  <a:srgbClr val="25354B"/>
                </a:solidFill>
              </a:defRPr>
            </a:lvl3pPr>
            <a:lvl4pPr>
              <a:defRPr sz="1800" b="0">
                <a:solidFill>
                  <a:srgbClr val="25354B"/>
                </a:solidFill>
              </a:defRPr>
            </a:lvl4pPr>
            <a:lvl5pPr>
              <a:defRPr sz="1800" b="0">
                <a:solidFill>
                  <a:srgbClr val="25354B"/>
                </a:solidFill>
              </a:defRPr>
            </a:lvl5pPr>
            <a:lvl6pPr>
              <a:defRPr sz="1800" b="0">
                <a:solidFill>
                  <a:srgbClr val="25354B"/>
                </a:solidFill>
              </a:defRPr>
            </a:lvl6pPr>
            <a:lvl7pPr>
              <a:defRPr sz="1800" b="0">
                <a:solidFill>
                  <a:srgbClr val="25354B"/>
                </a:solidFill>
              </a:defRPr>
            </a:lvl7pPr>
            <a:lvl8pPr>
              <a:defRPr sz="1800" b="0">
                <a:solidFill>
                  <a:srgbClr val="25354B"/>
                </a:solidFill>
              </a:defRPr>
            </a:lvl8pPr>
            <a:lvl9pPr>
              <a:defRPr sz="1800" b="0">
                <a:solidFill>
                  <a:srgbClr val="25354B"/>
                </a:solidFill>
              </a:defRPr>
            </a:lvl9pPr>
          </a:lstStyle>
          <a:p xmlns:a="http://schemas.openxmlformats.org/drawingml/2006/main">
            <a:pPr>
              <a:defRPr sz="1800" b="0">
                <a:solidFill>
                  <a:srgbClr val="25354B"/>
                </a:solidFill>
              </a:defRPr>
            </a:pPr>
            <a:r>
              <a:rPr sz="1800" b="0">
                <a:solidFill>
                  <a:srgbClr val="25354B"/>
                </a:solidFill>
              </a:rPr>
              <a:t>The evidence table records dates, findings and direct links.</a:t>
            </a:r>
          </a:p>
          <a:p xmlns:a="http://schemas.openxmlformats.org/drawingml/2006/main">
            <a:r>
              <a:t/>
            </a:r>
          </a:p>
          <a:p xmlns:a="http://schemas.openxmlformats.org/drawingml/2006/main">
            <a:pPr>
              <a:defRPr sz="1800" b="0">
                <a:solidFill>
                  <a:srgbClr val="25354B"/>
                </a:solidFill>
              </a:defRPr>
            </a:pPr>
            <a:r>
              <a:rPr sz="1800" b="0">
                <a:solidFill>
                  <a:srgbClr val="25354B"/>
                </a:solidFill>
              </a:rPr>
              <a:t>It separates announcements from outcomes.</a:t>
            </a:r>
          </a:p>
          <a:p xmlns:a="http://schemas.openxmlformats.org/drawingml/2006/main">
            <a:r>
              <a:t/>
            </a:r>
          </a:p>
          <a:p xmlns:a="http://schemas.openxmlformats.org/drawingml/2006/main">
            <a:pPr>
              <a:defRPr sz="1800" b="0">
                <a:solidFill>
                  <a:srgbClr val="25354B"/>
                </a:solidFill>
              </a:defRPr>
            </a:pPr>
            <a:r>
              <a:rPr sz="1800" b="0">
                <a:solidFill>
                  <a:srgbClr val="25354B"/>
                </a:solidFill>
              </a:rPr>
              <a:t>A job advertisement alone does not prove a staff shortage.</a:t>
            </a:r>
          </a:p>
        </p:txBody>
      </p:sp>
      <p:pic>
        <p:nvPicPr>
          <p:cNvPr id="5" name="">
            <a:extLst xmlns:a="http://schemas.openxmlformats.org/drawingml/2006/main">
              <a:ext uri="{FF2B5EF4-FFF2-40B4-BE49-F238E27FC236}">
                <a16:creationId xmlns:a16="http://schemas.microsoft.com/office/drawing/2014/main" id="{CE21BB23-8E96-4BF3-860C-BE7AB68A2AE3}"/>
              </a:ext>
            </a:extLst>
          </p:cNvPr>
          <p:cNvPicPr>
            <a:picLocks xmlns:a="http://schemas.openxmlformats.org/drawingml/2006/main" noChangeAspect="1"/>
          </p:cNvPicPr>
          <p:nvPr/>
        </p:nvPicPr>
        <p:blipFill>
          <a:blip xmlns:r="http://schemas.openxmlformats.org/officeDocument/2006/relationships" xmlns:a="http://schemas.openxmlformats.org/drawingml/2006/main" r:embed="R5d9e8a9b01094689"/>
          <a:stretch xmlns:a="http://schemas.openxmlformats.org/drawingml/2006/main"/>
        </p:blipFill>
        <p:spPr>
          <a:xfrm xmlns:a="http://schemas.openxmlformats.org/drawingml/2006/main">
            <a:off x="5391225" y="1666875"/>
            <a:ext cx="4600425" cy="3905250"/>
          </a:xfrm>
          <a:prstGeom xmlns:a="http://schemas.openxmlformats.org/drawingml/2006/main" prst="rect">
            <a:avLst/>
          </a:prstGeom>
        </p:spPr>
      </p:pic>
      <p:sp>
        <p:nvSpPr>
          <p:cNvPr id="6" name="Caption">
            <a:extLst xmlns:a="http://schemas.openxmlformats.org/drawingml/2006/main">
              <a:ext uri="{FF2B5EF4-FFF2-40B4-BE49-F238E27FC236}">
                <a16:creationId xmlns:a16="http://schemas.microsoft.com/office/drawing/2014/main" id="{B6ED8643-6567-4B16-A09F-46E67418C4C6}"/>
              </a:ext>
            </a:extLst>
          </p:cNvPr>
          <p:cNvSpPr>
            <a:spLocks xmlns:a="http://schemas.openxmlformats.org/drawingml/2006/main" noGrp="1"/>
          </p:cNvSpPr>
          <p:nvPr/>
        </p:nvSpPr>
        <p:spPr>
          <a:xfrm xmlns:a="http://schemas.openxmlformats.org/drawingml/2006/main">
            <a:off x="3714750" y="5810250"/>
            <a:ext cx="79533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0">
                <a:solidFill>
                  <a:srgbClr val="087DDF"/>
                </a:solidFill>
              </a:defRPr>
            </a:defPPr>
            <a:lvl1pPr>
              <a:defRPr sz="1425" b="0">
                <a:solidFill>
                  <a:srgbClr val="087DDF"/>
                </a:solidFill>
              </a:defRPr>
            </a:lvl1pPr>
            <a:lvl2pPr>
              <a:defRPr sz="1425" b="0">
                <a:solidFill>
                  <a:srgbClr val="087DDF"/>
                </a:solidFill>
              </a:defRPr>
            </a:lvl2pPr>
            <a:lvl3pPr>
              <a:defRPr sz="1425" b="0">
                <a:solidFill>
                  <a:srgbClr val="087DDF"/>
                </a:solidFill>
              </a:defRPr>
            </a:lvl3pPr>
            <a:lvl4pPr>
              <a:defRPr sz="1425" b="0">
                <a:solidFill>
                  <a:srgbClr val="087DDF"/>
                </a:solidFill>
              </a:defRPr>
            </a:lvl4pPr>
            <a:lvl5pPr>
              <a:defRPr sz="1425" b="0">
                <a:solidFill>
                  <a:srgbClr val="087DDF"/>
                </a:solidFill>
              </a:defRPr>
            </a:lvl5pPr>
            <a:lvl6pPr>
              <a:defRPr sz="1425" b="0">
                <a:solidFill>
                  <a:srgbClr val="087DDF"/>
                </a:solidFill>
              </a:defRPr>
            </a:lvl6pPr>
            <a:lvl7pPr>
              <a:defRPr sz="1425" b="0">
                <a:solidFill>
                  <a:srgbClr val="087DDF"/>
                </a:solidFill>
              </a:defRPr>
            </a:lvl7pPr>
            <a:lvl8pPr>
              <a:defRPr sz="1425" b="0">
                <a:solidFill>
                  <a:srgbClr val="087DDF"/>
                </a:solidFill>
              </a:defRPr>
            </a:lvl8pPr>
            <a:lvl9pPr>
              <a:defRPr sz="1425" b="0">
                <a:solidFill>
                  <a:srgbClr val="087DDF"/>
                </a:solidFill>
              </a:defRPr>
            </a:lvl9pPr>
          </a:lstStyle>
          <a:p xmlns:a="http://schemas.openxmlformats.org/drawingml/2006/main">
            <a:pPr>
              <a:defRPr sz="1425" b="0">
                <a:solidFill>
                  <a:srgbClr val="087DDF"/>
                </a:solidFill>
              </a:defRPr>
            </a:pPr>
            <a:r>
              <a:rPr sz="1425" b="0">
                <a:solidFill>
                  <a:srgbClr val="087DDF"/>
                </a:solidFill>
              </a:rPr>
              <a:t>Source quality describes what a source supports, not the company’s creditworthiness.</a:t>
            </a:r>
          </a:p>
        </p:txBody>
      </p:sp>
      <p:sp>
        <p:nvSpPr>
          <p:cNvPr id="7" name="Footer">
            <a:extLst xmlns:a="http://schemas.openxmlformats.org/drawingml/2006/main">
              <a:ext uri="{FF2B5EF4-FFF2-40B4-BE49-F238E27FC236}">
                <a16:creationId xmlns:a16="http://schemas.microsoft.com/office/drawing/2014/main" id="{9FE74ABA-D3ED-47AA-B370-0FA71014FB68}"/>
              </a:ext>
            </a:extLst>
          </p:cNvPr>
          <p:cNvSpPr>
            <a:spLocks xmlns:a="http://schemas.openxmlformats.org/drawingml/2006/main" noGrp="1"/>
          </p:cNvSpPr>
          <p:nvPr/>
        </p:nvSpPr>
        <p:spPr>
          <a:xfrm xmlns:a="http://schemas.openxmlformats.org/drawingml/2006/main">
            <a:off x="495300" y="6419850"/>
            <a:ext cx="10953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9778B"/>
                </a:solidFill>
              </a:defRPr>
            </a:defPPr>
            <a:lvl1pPr>
              <a:defRPr sz="1200" b="0">
                <a:solidFill>
                  <a:srgbClr val="69778B"/>
                </a:solidFill>
              </a:defRPr>
            </a:lvl1pPr>
            <a:lvl2pPr>
              <a:defRPr sz="1200" b="0">
                <a:solidFill>
                  <a:srgbClr val="69778B"/>
                </a:solidFill>
              </a:defRPr>
            </a:lvl2pPr>
            <a:lvl3pPr>
              <a:defRPr sz="1200" b="0">
                <a:solidFill>
                  <a:srgbClr val="69778B"/>
                </a:solidFill>
              </a:defRPr>
            </a:lvl3pPr>
            <a:lvl4pPr>
              <a:defRPr sz="1200" b="0">
                <a:solidFill>
                  <a:srgbClr val="69778B"/>
                </a:solidFill>
              </a:defRPr>
            </a:lvl4pPr>
            <a:lvl5pPr>
              <a:defRPr sz="1200" b="0">
                <a:solidFill>
                  <a:srgbClr val="69778B"/>
                </a:solidFill>
              </a:defRPr>
            </a:lvl5pPr>
            <a:lvl6pPr>
              <a:defRPr sz="1200" b="0">
                <a:solidFill>
                  <a:srgbClr val="69778B"/>
                </a:solidFill>
              </a:defRPr>
            </a:lvl6pPr>
            <a:lvl7pPr>
              <a:defRPr sz="1200" b="0">
                <a:solidFill>
                  <a:srgbClr val="69778B"/>
                </a:solidFill>
              </a:defRPr>
            </a:lvl7pPr>
            <a:lvl8pPr>
              <a:defRPr sz="1200" b="0">
                <a:solidFill>
                  <a:srgbClr val="69778B"/>
                </a:solidFill>
              </a:defRPr>
            </a:lvl8pPr>
            <a:lvl9pPr>
              <a:defRPr sz="1200" b="0">
                <a:solidFill>
                  <a:srgbClr val="69778B"/>
                </a:solidFill>
              </a:defRPr>
            </a:lvl9pPr>
          </a:lstStyle>
          <a:p xmlns:a="http://schemas.openxmlformats.org/drawingml/2006/main">
            <a:pPr>
              <a:defRPr sz="1200" b="0">
                <a:solidFill>
                  <a:srgbClr val="69778B"/>
                </a:solidFill>
              </a:defRPr>
            </a:pPr>
            <a:r>
              <a:rPr sz="1200" b="0">
                <a:solidFill>
                  <a:srgbClr val="69778B"/>
                </a:solidFill>
              </a:rPr>
              <a:t>Build 3   /   Public research demonstration   /   21 October 2026</a:t>
            </a:r>
          </a:p>
        </p:txBody>
      </p:sp>
    </p:spTree>
    <p:extLst>
      <p:ext uri="{BB962C8B-B14F-4D97-AF65-F5344CB8AC3E}">
        <p14:creationId xmlns:p14="http://schemas.microsoft.com/office/powerpoint/2010/main" val="105835670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tep">
            <a:extLst xmlns:a="http://schemas.openxmlformats.org/drawingml/2006/main">
              <a:ext uri="{FF2B5EF4-FFF2-40B4-BE49-F238E27FC236}">
                <a16:creationId xmlns:a16="http://schemas.microsoft.com/office/drawing/2014/main" id="{C4F46660-0647-462B-A018-A93B9A4B9D58}"/>
              </a:ext>
            </a:extLst>
          </p:cNvPr>
          <p:cNvSpPr>
            <a:spLocks xmlns:a="http://schemas.openxmlformats.org/drawingml/2006/main" noGrp="1"/>
          </p:cNvSpPr>
          <p:nvPr/>
        </p:nvSpPr>
        <p:spPr>
          <a:xfrm xmlns:a="http://schemas.openxmlformats.org/drawingml/2006/main">
            <a:off x="495300" y="342900"/>
            <a:ext cx="704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087DDF"/>
                </a:solidFill>
              </a:defRPr>
            </a:defPPr>
            <a:lvl1pPr>
              <a:defRPr sz="1800" b="1">
                <a:solidFill>
                  <a:srgbClr val="087DDF"/>
                </a:solidFill>
              </a:defRPr>
            </a:lvl1pPr>
            <a:lvl2pPr>
              <a:defRPr sz="1800" b="1">
                <a:solidFill>
                  <a:srgbClr val="087DDF"/>
                </a:solidFill>
              </a:defRPr>
            </a:lvl2pPr>
            <a:lvl3pPr>
              <a:defRPr sz="1800" b="1">
                <a:solidFill>
                  <a:srgbClr val="087DDF"/>
                </a:solidFill>
              </a:defRPr>
            </a:lvl3pPr>
            <a:lvl4pPr>
              <a:defRPr sz="1800" b="1">
                <a:solidFill>
                  <a:srgbClr val="087DDF"/>
                </a:solidFill>
              </a:defRPr>
            </a:lvl4pPr>
            <a:lvl5pPr>
              <a:defRPr sz="1800" b="1">
                <a:solidFill>
                  <a:srgbClr val="087DDF"/>
                </a:solidFill>
              </a:defRPr>
            </a:lvl5pPr>
            <a:lvl6pPr>
              <a:defRPr sz="1800" b="1">
                <a:solidFill>
                  <a:srgbClr val="087DDF"/>
                </a:solidFill>
              </a:defRPr>
            </a:lvl6pPr>
            <a:lvl7pPr>
              <a:defRPr sz="1800" b="1">
                <a:solidFill>
                  <a:srgbClr val="087DDF"/>
                </a:solidFill>
              </a:defRPr>
            </a:lvl7pPr>
            <a:lvl8pPr>
              <a:defRPr sz="1800" b="1">
                <a:solidFill>
                  <a:srgbClr val="087DDF"/>
                </a:solidFill>
              </a:defRPr>
            </a:lvl8pPr>
            <a:lvl9pPr>
              <a:defRPr sz="1800" b="1">
                <a:solidFill>
                  <a:srgbClr val="087DDF"/>
                </a:solidFill>
              </a:defRPr>
            </a:lvl9pPr>
          </a:lstStyle>
          <a:p xmlns:a="http://schemas.openxmlformats.org/drawingml/2006/main">
            <a:pPr>
              <a:defRPr sz="1800" b="1">
                <a:solidFill>
                  <a:srgbClr val="087DDF"/>
                </a:solidFill>
              </a:defRPr>
            </a:pPr>
            <a:r>
              <a:rPr sz="1800" b="1">
                <a:solidFill>
                  <a:srgbClr val="087DDF"/>
                </a:solidFill>
              </a:rPr>
              <a:t>15</a:t>
            </a:r>
          </a:p>
        </p:txBody>
      </p:sp>
      <p:sp>
        <p:nvSpPr>
          <p:cNvPr id="3" name="Title">
            <a:extLst xmlns:a="http://schemas.openxmlformats.org/drawingml/2006/main">
              <a:ext uri="{FF2B5EF4-FFF2-40B4-BE49-F238E27FC236}">
                <a16:creationId xmlns:a16="http://schemas.microsoft.com/office/drawing/2014/main" id="{8D984B5A-691F-4236-A642-B66A8EFAD32C}"/>
              </a:ext>
            </a:extLst>
          </p:cNvPr>
          <p:cNvSpPr>
            <a:spLocks xmlns:a="http://schemas.openxmlformats.org/drawingml/2006/main" noGrp="1"/>
          </p:cNvSpPr>
          <p:nvPr/>
        </p:nvSpPr>
        <p:spPr>
          <a:xfrm xmlns:a="http://schemas.openxmlformats.org/drawingml/2006/main">
            <a:off x="495300" y="762000"/>
            <a:ext cx="1104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744"/>
                </a:solidFill>
              </a:defRPr>
            </a:defPPr>
            <a:lvl1pPr>
              <a:defRPr sz="3300" b="1">
                <a:solidFill>
                  <a:srgbClr val="102744"/>
                </a:solidFill>
              </a:defRPr>
            </a:lvl1pPr>
            <a:lvl2pPr>
              <a:defRPr sz="3300" b="1">
                <a:solidFill>
                  <a:srgbClr val="102744"/>
                </a:solidFill>
              </a:defRPr>
            </a:lvl2pPr>
            <a:lvl3pPr>
              <a:defRPr sz="3300" b="1">
                <a:solidFill>
                  <a:srgbClr val="102744"/>
                </a:solidFill>
              </a:defRPr>
            </a:lvl3pPr>
            <a:lvl4pPr>
              <a:defRPr sz="3300" b="1">
                <a:solidFill>
                  <a:srgbClr val="102744"/>
                </a:solidFill>
              </a:defRPr>
            </a:lvl4pPr>
            <a:lvl5pPr>
              <a:defRPr sz="3300" b="1">
                <a:solidFill>
                  <a:srgbClr val="102744"/>
                </a:solidFill>
              </a:defRPr>
            </a:lvl5pPr>
            <a:lvl6pPr>
              <a:defRPr sz="3300" b="1">
                <a:solidFill>
                  <a:srgbClr val="102744"/>
                </a:solidFill>
              </a:defRPr>
            </a:lvl6pPr>
            <a:lvl7pPr>
              <a:defRPr sz="3300" b="1">
                <a:solidFill>
                  <a:srgbClr val="102744"/>
                </a:solidFill>
              </a:defRPr>
            </a:lvl7pPr>
            <a:lvl8pPr>
              <a:defRPr sz="3300" b="1">
                <a:solidFill>
                  <a:srgbClr val="102744"/>
                </a:solidFill>
              </a:defRPr>
            </a:lvl8pPr>
            <a:lvl9pPr>
              <a:defRPr sz="3300" b="1">
                <a:solidFill>
                  <a:srgbClr val="102744"/>
                </a:solidFill>
              </a:defRPr>
            </a:lvl9pPr>
          </a:lstStyle>
          <a:p xmlns:a="http://schemas.openxmlformats.org/drawingml/2006/main">
            <a:pPr>
              <a:defRPr sz="3300" b="1">
                <a:solidFill>
                  <a:srgbClr val="102744"/>
                </a:solidFill>
              </a:defRPr>
            </a:pPr>
            <a:r>
              <a:rPr sz="3300" b="1">
                <a:solidFill>
                  <a:srgbClr val="102744"/>
                </a:solidFill>
              </a:rPr>
              <a:t>Access limits stay visible</a:t>
            </a:r>
          </a:p>
        </p:txBody>
      </p:sp>
      <p:sp>
        <p:nvSpPr>
          <p:cNvPr id="4" name="Body">
            <a:extLst xmlns:a="http://schemas.openxmlformats.org/drawingml/2006/main">
              <a:ext uri="{FF2B5EF4-FFF2-40B4-BE49-F238E27FC236}">
                <a16:creationId xmlns:a16="http://schemas.microsoft.com/office/drawing/2014/main" id="{A93C04B3-B602-4D43-91F7-A12DF0DC5C81}"/>
              </a:ext>
            </a:extLst>
          </p:cNvPr>
          <p:cNvSpPr>
            <a:spLocks xmlns:a="http://schemas.openxmlformats.org/drawingml/2006/main" noGrp="1"/>
          </p:cNvSpPr>
          <p:nvPr/>
        </p:nvSpPr>
        <p:spPr>
          <a:xfrm xmlns:a="http://schemas.openxmlformats.org/drawingml/2006/main">
            <a:off x="495300" y="1847850"/>
            <a:ext cx="2857500" cy="409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25354B"/>
                </a:solidFill>
              </a:defRPr>
            </a:defPPr>
            <a:lvl1pPr>
              <a:defRPr sz="1800" b="0">
                <a:solidFill>
                  <a:srgbClr val="25354B"/>
                </a:solidFill>
              </a:defRPr>
            </a:lvl1pPr>
            <a:lvl2pPr>
              <a:defRPr sz="1800" b="0">
                <a:solidFill>
                  <a:srgbClr val="25354B"/>
                </a:solidFill>
              </a:defRPr>
            </a:lvl2pPr>
            <a:lvl3pPr>
              <a:defRPr sz="1800" b="0">
                <a:solidFill>
                  <a:srgbClr val="25354B"/>
                </a:solidFill>
              </a:defRPr>
            </a:lvl3pPr>
            <a:lvl4pPr>
              <a:defRPr sz="1800" b="0">
                <a:solidFill>
                  <a:srgbClr val="25354B"/>
                </a:solidFill>
              </a:defRPr>
            </a:lvl4pPr>
            <a:lvl5pPr>
              <a:defRPr sz="1800" b="0">
                <a:solidFill>
                  <a:srgbClr val="25354B"/>
                </a:solidFill>
              </a:defRPr>
            </a:lvl5pPr>
            <a:lvl6pPr>
              <a:defRPr sz="1800" b="0">
                <a:solidFill>
                  <a:srgbClr val="25354B"/>
                </a:solidFill>
              </a:defRPr>
            </a:lvl6pPr>
            <a:lvl7pPr>
              <a:defRPr sz="1800" b="0">
                <a:solidFill>
                  <a:srgbClr val="25354B"/>
                </a:solidFill>
              </a:defRPr>
            </a:lvl7pPr>
            <a:lvl8pPr>
              <a:defRPr sz="1800" b="0">
                <a:solidFill>
                  <a:srgbClr val="25354B"/>
                </a:solidFill>
              </a:defRPr>
            </a:lvl8pPr>
            <a:lvl9pPr>
              <a:defRPr sz="1800" b="0">
                <a:solidFill>
                  <a:srgbClr val="25354B"/>
                </a:solidFill>
              </a:defRPr>
            </a:lvl9pPr>
          </a:lstStyle>
          <a:p xmlns:a="http://schemas.openxmlformats.org/drawingml/2006/main">
            <a:pPr>
              <a:defRPr sz="1800" b="0">
                <a:solidFill>
                  <a:srgbClr val="25354B"/>
                </a:solidFill>
              </a:defRPr>
            </a:pPr>
            <a:r>
              <a:rPr sz="1800" b="0">
                <a:solidFill>
                  <a:srgbClr val="25354B"/>
                </a:solidFill>
              </a:rPr>
              <a:t>Detailed financials require authorized access.</a:t>
            </a:r>
          </a:p>
          <a:p xmlns:a="http://schemas.openxmlformats.org/drawingml/2006/main">
            <a:r>
              <a:t/>
            </a:r>
          </a:p>
          <a:p xmlns:a="http://schemas.openxmlformats.org/drawingml/2006/main">
            <a:pPr>
              <a:defRPr sz="1800" b="0">
                <a:solidFill>
                  <a:srgbClr val="25354B"/>
                </a:solidFill>
              </a:defRPr>
            </a:pPr>
            <a:r>
              <a:rPr sz="1800" b="0">
                <a:solidFill>
                  <a:srgbClr val="25354B"/>
                </a:solidFill>
              </a:rPr>
              <a:t>Undated ratings need current confirmation.</a:t>
            </a:r>
          </a:p>
          <a:p xmlns:a="http://schemas.openxmlformats.org/drawingml/2006/main">
            <a:r>
              <a:t/>
            </a:r>
          </a:p>
          <a:p xmlns:a="http://schemas.openxmlformats.org/drawingml/2006/main">
            <a:pPr>
              <a:defRPr sz="1800" b="0">
                <a:solidFill>
                  <a:srgbClr val="25354B"/>
                </a:solidFill>
              </a:defRPr>
            </a:pPr>
            <a:r>
              <a:rPr sz="1800" b="0">
                <a:solidFill>
                  <a:srgbClr val="25354B"/>
                </a:solidFill>
              </a:rPr>
              <a:t>Supplier payment instructions describe a process, not actual payment performance.</a:t>
            </a:r>
          </a:p>
        </p:txBody>
      </p:sp>
      <p:pic>
        <p:nvPicPr>
          <p:cNvPr id="5" name="">
            <a:extLst xmlns:a="http://schemas.openxmlformats.org/drawingml/2006/main">
              <a:ext uri="{FF2B5EF4-FFF2-40B4-BE49-F238E27FC236}">
                <a16:creationId xmlns:a16="http://schemas.microsoft.com/office/drawing/2014/main" id="{B6239383-267E-40D4-A516-C0D7B5111C57}"/>
              </a:ext>
            </a:extLst>
          </p:cNvPr>
          <p:cNvPicPr>
            <a:picLocks xmlns:a="http://schemas.openxmlformats.org/drawingml/2006/main" noChangeAspect="1"/>
          </p:cNvPicPr>
          <p:nvPr/>
        </p:nvPicPr>
        <p:blipFill>
          <a:blip xmlns:r="http://schemas.openxmlformats.org/officeDocument/2006/relationships" xmlns:a="http://schemas.openxmlformats.org/drawingml/2006/main" r:embed="R97d9645337ec42e4"/>
          <a:stretch xmlns:a="http://schemas.openxmlformats.org/drawingml/2006/main"/>
        </p:blipFill>
        <p:spPr>
          <a:xfrm xmlns:a="http://schemas.openxmlformats.org/drawingml/2006/main">
            <a:off x="4176713" y="1666875"/>
            <a:ext cx="7029450" cy="3905250"/>
          </a:xfrm>
          <a:prstGeom xmlns:a="http://schemas.openxmlformats.org/drawingml/2006/main" prst="rect">
            <a:avLst/>
          </a:prstGeom>
        </p:spPr>
      </p:pic>
      <p:sp>
        <p:nvSpPr>
          <p:cNvPr id="6" name="Caption">
            <a:extLst xmlns:a="http://schemas.openxmlformats.org/drawingml/2006/main">
              <a:ext uri="{FF2B5EF4-FFF2-40B4-BE49-F238E27FC236}">
                <a16:creationId xmlns:a16="http://schemas.microsoft.com/office/drawing/2014/main" id="{6DAB8CAC-E011-4589-85FB-A7E8D9DF53A6}"/>
              </a:ext>
            </a:extLst>
          </p:cNvPr>
          <p:cNvSpPr>
            <a:spLocks xmlns:a="http://schemas.openxmlformats.org/drawingml/2006/main" noGrp="1"/>
          </p:cNvSpPr>
          <p:nvPr/>
        </p:nvSpPr>
        <p:spPr>
          <a:xfrm xmlns:a="http://schemas.openxmlformats.org/drawingml/2006/main">
            <a:off x="3714750" y="5810250"/>
            <a:ext cx="79533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0">
                <a:solidFill>
                  <a:srgbClr val="087DDF"/>
                </a:solidFill>
              </a:defRPr>
            </a:defPPr>
            <a:lvl1pPr>
              <a:defRPr sz="1425" b="0">
                <a:solidFill>
                  <a:srgbClr val="087DDF"/>
                </a:solidFill>
              </a:defRPr>
            </a:lvl1pPr>
            <a:lvl2pPr>
              <a:defRPr sz="1425" b="0">
                <a:solidFill>
                  <a:srgbClr val="087DDF"/>
                </a:solidFill>
              </a:defRPr>
            </a:lvl2pPr>
            <a:lvl3pPr>
              <a:defRPr sz="1425" b="0">
                <a:solidFill>
                  <a:srgbClr val="087DDF"/>
                </a:solidFill>
              </a:defRPr>
            </a:lvl3pPr>
            <a:lvl4pPr>
              <a:defRPr sz="1425" b="0">
                <a:solidFill>
                  <a:srgbClr val="087DDF"/>
                </a:solidFill>
              </a:defRPr>
            </a:lvl4pPr>
            <a:lvl5pPr>
              <a:defRPr sz="1425" b="0">
                <a:solidFill>
                  <a:srgbClr val="087DDF"/>
                </a:solidFill>
              </a:defRPr>
            </a:lvl5pPr>
            <a:lvl6pPr>
              <a:defRPr sz="1425" b="0">
                <a:solidFill>
                  <a:srgbClr val="087DDF"/>
                </a:solidFill>
              </a:defRPr>
            </a:lvl6pPr>
            <a:lvl7pPr>
              <a:defRPr sz="1425" b="0">
                <a:solidFill>
                  <a:srgbClr val="087DDF"/>
                </a:solidFill>
              </a:defRPr>
            </a:lvl7pPr>
            <a:lvl8pPr>
              <a:defRPr sz="1425" b="0">
                <a:solidFill>
                  <a:srgbClr val="087DDF"/>
                </a:solidFill>
              </a:defRPr>
            </a:lvl8pPr>
            <a:lvl9pPr>
              <a:defRPr sz="1425" b="0">
                <a:solidFill>
                  <a:srgbClr val="087DDF"/>
                </a:solidFill>
              </a:defRPr>
            </a:lvl9pPr>
          </a:lstStyle>
          <a:p xmlns:a="http://schemas.openxmlformats.org/drawingml/2006/main">
            <a:pPr>
              <a:defRPr sz="1425" b="0">
                <a:solidFill>
                  <a:srgbClr val="087DDF"/>
                </a:solidFill>
              </a:defRPr>
            </a:pPr>
            <a:r>
              <a:rPr sz="1425" b="0">
                <a:solidFill>
                  <a:srgbClr val="087DDF"/>
                </a:solidFill>
              </a:rPr>
              <a:t>The report describes access limits without filling gaps with assumptions.</a:t>
            </a:r>
          </a:p>
        </p:txBody>
      </p:sp>
      <p:sp>
        <p:nvSpPr>
          <p:cNvPr id="7" name="Footer">
            <a:extLst xmlns:a="http://schemas.openxmlformats.org/drawingml/2006/main">
              <a:ext uri="{FF2B5EF4-FFF2-40B4-BE49-F238E27FC236}">
                <a16:creationId xmlns:a16="http://schemas.microsoft.com/office/drawing/2014/main" id="{F3FDEAE1-A12C-43F8-88F1-48DFBD3EB04B}"/>
              </a:ext>
            </a:extLst>
          </p:cNvPr>
          <p:cNvSpPr>
            <a:spLocks xmlns:a="http://schemas.openxmlformats.org/drawingml/2006/main" noGrp="1"/>
          </p:cNvSpPr>
          <p:nvPr/>
        </p:nvSpPr>
        <p:spPr>
          <a:xfrm xmlns:a="http://schemas.openxmlformats.org/drawingml/2006/main">
            <a:off x="495300" y="6419850"/>
            <a:ext cx="10953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9778B"/>
                </a:solidFill>
              </a:defRPr>
            </a:defPPr>
            <a:lvl1pPr>
              <a:defRPr sz="1200" b="0">
                <a:solidFill>
                  <a:srgbClr val="69778B"/>
                </a:solidFill>
              </a:defRPr>
            </a:lvl1pPr>
            <a:lvl2pPr>
              <a:defRPr sz="1200" b="0">
                <a:solidFill>
                  <a:srgbClr val="69778B"/>
                </a:solidFill>
              </a:defRPr>
            </a:lvl2pPr>
            <a:lvl3pPr>
              <a:defRPr sz="1200" b="0">
                <a:solidFill>
                  <a:srgbClr val="69778B"/>
                </a:solidFill>
              </a:defRPr>
            </a:lvl3pPr>
            <a:lvl4pPr>
              <a:defRPr sz="1200" b="0">
                <a:solidFill>
                  <a:srgbClr val="69778B"/>
                </a:solidFill>
              </a:defRPr>
            </a:lvl4pPr>
            <a:lvl5pPr>
              <a:defRPr sz="1200" b="0">
                <a:solidFill>
                  <a:srgbClr val="69778B"/>
                </a:solidFill>
              </a:defRPr>
            </a:lvl5pPr>
            <a:lvl6pPr>
              <a:defRPr sz="1200" b="0">
                <a:solidFill>
                  <a:srgbClr val="69778B"/>
                </a:solidFill>
              </a:defRPr>
            </a:lvl6pPr>
            <a:lvl7pPr>
              <a:defRPr sz="1200" b="0">
                <a:solidFill>
                  <a:srgbClr val="69778B"/>
                </a:solidFill>
              </a:defRPr>
            </a:lvl7pPr>
            <a:lvl8pPr>
              <a:defRPr sz="1200" b="0">
                <a:solidFill>
                  <a:srgbClr val="69778B"/>
                </a:solidFill>
              </a:defRPr>
            </a:lvl8pPr>
            <a:lvl9pPr>
              <a:defRPr sz="1200" b="0">
                <a:solidFill>
                  <a:srgbClr val="69778B"/>
                </a:solidFill>
              </a:defRPr>
            </a:lvl9pPr>
          </a:lstStyle>
          <a:p xmlns:a="http://schemas.openxmlformats.org/drawingml/2006/main">
            <a:pPr>
              <a:defRPr sz="1200" b="0">
                <a:solidFill>
                  <a:srgbClr val="69778B"/>
                </a:solidFill>
              </a:defRPr>
            </a:pPr>
            <a:r>
              <a:rPr sz="1200" b="0">
                <a:solidFill>
                  <a:srgbClr val="69778B"/>
                </a:solidFill>
              </a:rPr>
              <a:t>Build 3   /   Public research demonstration   /   21 October 2026</a:t>
            </a:r>
          </a:p>
        </p:txBody>
      </p:sp>
    </p:spTree>
    <p:extLst>
      <p:ext uri="{BB962C8B-B14F-4D97-AF65-F5344CB8AC3E}">
        <p14:creationId xmlns:p14="http://schemas.microsoft.com/office/powerpoint/2010/main" val="142820602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tep">
            <a:extLst xmlns:a="http://schemas.openxmlformats.org/drawingml/2006/main">
              <a:ext uri="{FF2B5EF4-FFF2-40B4-BE49-F238E27FC236}">
                <a16:creationId xmlns:a16="http://schemas.microsoft.com/office/drawing/2014/main" id="{F0A66360-1DDB-45A1-AC06-F56F7C9C92F1}"/>
              </a:ext>
            </a:extLst>
          </p:cNvPr>
          <p:cNvSpPr>
            <a:spLocks xmlns:a="http://schemas.openxmlformats.org/drawingml/2006/main" noGrp="1"/>
          </p:cNvSpPr>
          <p:nvPr/>
        </p:nvSpPr>
        <p:spPr>
          <a:xfrm xmlns:a="http://schemas.openxmlformats.org/drawingml/2006/main">
            <a:off x="495300" y="342900"/>
            <a:ext cx="704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087DDF"/>
                </a:solidFill>
              </a:defRPr>
            </a:defPPr>
            <a:lvl1pPr>
              <a:defRPr sz="1800" b="1">
                <a:solidFill>
                  <a:srgbClr val="087DDF"/>
                </a:solidFill>
              </a:defRPr>
            </a:lvl1pPr>
            <a:lvl2pPr>
              <a:defRPr sz="1800" b="1">
                <a:solidFill>
                  <a:srgbClr val="087DDF"/>
                </a:solidFill>
              </a:defRPr>
            </a:lvl2pPr>
            <a:lvl3pPr>
              <a:defRPr sz="1800" b="1">
                <a:solidFill>
                  <a:srgbClr val="087DDF"/>
                </a:solidFill>
              </a:defRPr>
            </a:lvl3pPr>
            <a:lvl4pPr>
              <a:defRPr sz="1800" b="1">
                <a:solidFill>
                  <a:srgbClr val="087DDF"/>
                </a:solidFill>
              </a:defRPr>
            </a:lvl4pPr>
            <a:lvl5pPr>
              <a:defRPr sz="1800" b="1">
                <a:solidFill>
                  <a:srgbClr val="087DDF"/>
                </a:solidFill>
              </a:defRPr>
            </a:lvl5pPr>
            <a:lvl6pPr>
              <a:defRPr sz="1800" b="1">
                <a:solidFill>
                  <a:srgbClr val="087DDF"/>
                </a:solidFill>
              </a:defRPr>
            </a:lvl6pPr>
            <a:lvl7pPr>
              <a:defRPr sz="1800" b="1">
                <a:solidFill>
                  <a:srgbClr val="087DDF"/>
                </a:solidFill>
              </a:defRPr>
            </a:lvl7pPr>
            <a:lvl8pPr>
              <a:defRPr sz="1800" b="1">
                <a:solidFill>
                  <a:srgbClr val="087DDF"/>
                </a:solidFill>
              </a:defRPr>
            </a:lvl8pPr>
            <a:lvl9pPr>
              <a:defRPr sz="1800" b="1">
                <a:solidFill>
                  <a:srgbClr val="087DDF"/>
                </a:solidFill>
              </a:defRPr>
            </a:lvl9pPr>
          </a:lstStyle>
          <a:p xmlns:a="http://schemas.openxmlformats.org/drawingml/2006/main">
            <a:pPr>
              <a:defRPr sz="1800" b="1">
                <a:solidFill>
                  <a:srgbClr val="087DDF"/>
                </a:solidFill>
              </a:defRPr>
            </a:pPr>
            <a:r>
              <a:rPr sz="1800" b="1">
                <a:solidFill>
                  <a:srgbClr val="087DDF"/>
                </a:solidFill>
              </a:rPr>
              <a:t>16</a:t>
            </a:r>
          </a:p>
        </p:txBody>
      </p:sp>
      <p:sp>
        <p:nvSpPr>
          <p:cNvPr id="3" name="Title">
            <a:extLst xmlns:a="http://schemas.openxmlformats.org/drawingml/2006/main">
              <a:ext uri="{FF2B5EF4-FFF2-40B4-BE49-F238E27FC236}">
                <a16:creationId xmlns:a16="http://schemas.microsoft.com/office/drawing/2014/main" id="{9597BE67-30A1-440E-A716-71F3BA297BF5}"/>
              </a:ext>
            </a:extLst>
          </p:cNvPr>
          <p:cNvSpPr>
            <a:spLocks xmlns:a="http://schemas.openxmlformats.org/drawingml/2006/main" noGrp="1"/>
          </p:cNvSpPr>
          <p:nvPr/>
        </p:nvSpPr>
        <p:spPr>
          <a:xfrm xmlns:a="http://schemas.openxmlformats.org/drawingml/2006/main">
            <a:off x="495300" y="762000"/>
            <a:ext cx="1104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744"/>
                </a:solidFill>
              </a:defRPr>
            </a:defPPr>
            <a:lvl1pPr>
              <a:defRPr sz="3300" b="1">
                <a:solidFill>
                  <a:srgbClr val="102744"/>
                </a:solidFill>
              </a:defRPr>
            </a:lvl1pPr>
            <a:lvl2pPr>
              <a:defRPr sz="3300" b="1">
                <a:solidFill>
                  <a:srgbClr val="102744"/>
                </a:solidFill>
              </a:defRPr>
            </a:lvl2pPr>
            <a:lvl3pPr>
              <a:defRPr sz="3300" b="1">
                <a:solidFill>
                  <a:srgbClr val="102744"/>
                </a:solidFill>
              </a:defRPr>
            </a:lvl3pPr>
            <a:lvl4pPr>
              <a:defRPr sz="3300" b="1">
                <a:solidFill>
                  <a:srgbClr val="102744"/>
                </a:solidFill>
              </a:defRPr>
            </a:lvl4pPr>
            <a:lvl5pPr>
              <a:defRPr sz="3300" b="1">
                <a:solidFill>
                  <a:srgbClr val="102744"/>
                </a:solidFill>
              </a:defRPr>
            </a:lvl5pPr>
            <a:lvl6pPr>
              <a:defRPr sz="3300" b="1">
                <a:solidFill>
                  <a:srgbClr val="102744"/>
                </a:solidFill>
              </a:defRPr>
            </a:lvl6pPr>
            <a:lvl7pPr>
              <a:defRPr sz="3300" b="1">
                <a:solidFill>
                  <a:srgbClr val="102744"/>
                </a:solidFill>
              </a:defRPr>
            </a:lvl7pPr>
            <a:lvl8pPr>
              <a:defRPr sz="3300" b="1">
                <a:solidFill>
                  <a:srgbClr val="102744"/>
                </a:solidFill>
              </a:defRPr>
            </a:lvl8pPr>
            <a:lvl9pPr>
              <a:defRPr sz="3300" b="1">
                <a:solidFill>
                  <a:srgbClr val="102744"/>
                </a:solidFill>
              </a:defRPr>
            </a:lvl9pPr>
          </a:lstStyle>
          <a:p xmlns:a="http://schemas.openxmlformats.org/drawingml/2006/main">
            <a:pPr>
              <a:defRPr sz="3300" b="1">
                <a:solidFill>
                  <a:srgbClr val="102744"/>
                </a:solidFill>
              </a:defRPr>
            </a:pPr>
            <a:r>
              <a:rPr sz="3300" b="1">
                <a:solidFill>
                  <a:srgbClr val="102744"/>
                </a:solidFill>
              </a:rPr>
              <a:t>Search coverage has boundaries</a:t>
            </a:r>
          </a:p>
        </p:txBody>
      </p:sp>
      <p:sp>
        <p:nvSpPr>
          <p:cNvPr id="4" name="Body">
            <a:extLst xmlns:a="http://schemas.openxmlformats.org/drawingml/2006/main">
              <a:ext uri="{FF2B5EF4-FFF2-40B4-BE49-F238E27FC236}">
                <a16:creationId xmlns:a16="http://schemas.microsoft.com/office/drawing/2014/main" id="{671781AE-9453-4E74-B75C-8EFC4E511FA2}"/>
              </a:ext>
            </a:extLst>
          </p:cNvPr>
          <p:cNvSpPr>
            <a:spLocks xmlns:a="http://schemas.openxmlformats.org/drawingml/2006/main" noGrp="1"/>
          </p:cNvSpPr>
          <p:nvPr/>
        </p:nvSpPr>
        <p:spPr>
          <a:xfrm xmlns:a="http://schemas.openxmlformats.org/drawingml/2006/main">
            <a:off x="495300" y="1847850"/>
            <a:ext cx="2857500" cy="409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25354B"/>
                </a:solidFill>
              </a:defRPr>
            </a:defPPr>
            <a:lvl1pPr>
              <a:defRPr sz="1800" b="0">
                <a:solidFill>
                  <a:srgbClr val="25354B"/>
                </a:solidFill>
              </a:defRPr>
            </a:lvl1pPr>
            <a:lvl2pPr>
              <a:defRPr sz="1800" b="0">
                <a:solidFill>
                  <a:srgbClr val="25354B"/>
                </a:solidFill>
              </a:defRPr>
            </a:lvl2pPr>
            <a:lvl3pPr>
              <a:defRPr sz="1800" b="0">
                <a:solidFill>
                  <a:srgbClr val="25354B"/>
                </a:solidFill>
              </a:defRPr>
            </a:lvl3pPr>
            <a:lvl4pPr>
              <a:defRPr sz="1800" b="0">
                <a:solidFill>
                  <a:srgbClr val="25354B"/>
                </a:solidFill>
              </a:defRPr>
            </a:lvl4pPr>
            <a:lvl5pPr>
              <a:defRPr sz="1800" b="0">
                <a:solidFill>
                  <a:srgbClr val="25354B"/>
                </a:solidFill>
              </a:defRPr>
            </a:lvl5pPr>
            <a:lvl6pPr>
              <a:defRPr sz="1800" b="0">
                <a:solidFill>
                  <a:srgbClr val="25354B"/>
                </a:solidFill>
              </a:defRPr>
            </a:lvl6pPr>
            <a:lvl7pPr>
              <a:defRPr sz="1800" b="0">
                <a:solidFill>
                  <a:srgbClr val="25354B"/>
                </a:solidFill>
              </a:defRPr>
            </a:lvl7pPr>
            <a:lvl8pPr>
              <a:defRPr sz="1800" b="0">
                <a:solidFill>
                  <a:srgbClr val="25354B"/>
                </a:solidFill>
              </a:defRPr>
            </a:lvl8pPr>
            <a:lvl9pPr>
              <a:defRPr sz="1800" b="0">
                <a:solidFill>
                  <a:srgbClr val="25354B"/>
                </a:solidFill>
              </a:defRPr>
            </a:lvl9pPr>
          </a:lstStyle>
          <a:p xmlns:a="http://schemas.openxmlformats.org/drawingml/2006/main">
            <a:pPr>
              <a:defRPr sz="1800" b="0">
                <a:solidFill>
                  <a:srgbClr val="25354B"/>
                </a:solidFill>
              </a:defRPr>
            </a:pPr>
            <a:r>
              <a:rPr sz="1800" b="0">
                <a:solidFill>
                  <a:srgbClr val="25354B"/>
                </a:solidFill>
              </a:rPr>
              <a:t>The report names the sources it could use and the gaps that remain.</a:t>
            </a:r>
          </a:p>
          <a:p xmlns:a="http://schemas.openxmlformats.org/drawingml/2006/main">
            <a:r>
              <a:t/>
            </a:r>
          </a:p>
          <a:p xmlns:a="http://schemas.openxmlformats.org/drawingml/2006/main">
            <a:pPr>
              <a:defRPr sz="1800" b="0">
                <a:solidFill>
                  <a:srgbClr val="25354B"/>
                </a:solidFill>
              </a:defRPr>
            </a:pPr>
            <a:r>
              <a:rPr sz="1800" b="0">
                <a:solidFill>
                  <a:srgbClr val="25354B"/>
                </a:solidFill>
              </a:rPr>
              <a:t>Older background is labelled.</a:t>
            </a:r>
          </a:p>
          <a:p xmlns:a="http://schemas.openxmlformats.org/drawingml/2006/main">
            <a:r>
              <a:t/>
            </a:r>
          </a:p>
          <a:p xmlns:a="http://schemas.openxmlformats.org/drawingml/2006/main">
            <a:pPr>
              <a:defRPr sz="1800" b="0">
                <a:solidFill>
                  <a:srgbClr val="25354B"/>
                </a:solidFill>
              </a:defRPr>
            </a:pPr>
            <a:r>
              <a:rPr sz="1800" b="0">
                <a:solidFill>
                  <a:srgbClr val="25354B"/>
                </a:solidFill>
              </a:rPr>
              <a:t>Unverified reviews and social claims do not become distress points.</a:t>
            </a:r>
          </a:p>
        </p:txBody>
      </p:sp>
      <p:pic>
        <p:nvPicPr>
          <p:cNvPr id="5" name="">
            <a:extLst xmlns:a="http://schemas.openxmlformats.org/drawingml/2006/main">
              <a:ext uri="{FF2B5EF4-FFF2-40B4-BE49-F238E27FC236}">
                <a16:creationId xmlns:a16="http://schemas.microsoft.com/office/drawing/2014/main" id="{B5B2B84B-59DE-4218-A53D-DD83899D5F2D}"/>
              </a:ext>
            </a:extLst>
          </p:cNvPr>
          <p:cNvPicPr>
            <a:picLocks xmlns:a="http://schemas.openxmlformats.org/drawingml/2006/main" noChangeAspect="1"/>
          </p:cNvPicPr>
          <p:nvPr/>
        </p:nvPicPr>
        <p:blipFill>
          <a:blip xmlns:r="http://schemas.openxmlformats.org/officeDocument/2006/relationships" xmlns:a="http://schemas.openxmlformats.org/drawingml/2006/main" r:embed="R3c9454feaf30425b"/>
          <a:stretch xmlns:a="http://schemas.openxmlformats.org/drawingml/2006/main"/>
        </p:blipFill>
        <p:spPr>
          <a:xfrm xmlns:a="http://schemas.openxmlformats.org/drawingml/2006/main">
            <a:off x="3714750" y="1740147"/>
            <a:ext cx="7953375" cy="3758706"/>
          </a:xfrm>
          <a:prstGeom xmlns:a="http://schemas.openxmlformats.org/drawingml/2006/main" prst="rect">
            <a:avLst/>
          </a:prstGeom>
        </p:spPr>
      </p:pic>
      <p:sp>
        <p:nvSpPr>
          <p:cNvPr id="6" name="Caption">
            <a:extLst xmlns:a="http://schemas.openxmlformats.org/drawingml/2006/main">
              <a:ext uri="{FF2B5EF4-FFF2-40B4-BE49-F238E27FC236}">
                <a16:creationId xmlns:a16="http://schemas.microsoft.com/office/drawing/2014/main" id="{FE54855B-FCFE-4E86-B82E-427EB0F67B4E}"/>
              </a:ext>
            </a:extLst>
          </p:cNvPr>
          <p:cNvSpPr>
            <a:spLocks xmlns:a="http://schemas.openxmlformats.org/drawingml/2006/main" noGrp="1"/>
          </p:cNvSpPr>
          <p:nvPr/>
        </p:nvSpPr>
        <p:spPr>
          <a:xfrm xmlns:a="http://schemas.openxmlformats.org/drawingml/2006/main">
            <a:off x="3714750" y="5810250"/>
            <a:ext cx="79533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0">
                <a:solidFill>
                  <a:srgbClr val="087DDF"/>
                </a:solidFill>
              </a:defRPr>
            </a:defPPr>
            <a:lvl1pPr>
              <a:defRPr sz="1425" b="0">
                <a:solidFill>
                  <a:srgbClr val="087DDF"/>
                </a:solidFill>
              </a:defRPr>
            </a:lvl1pPr>
            <a:lvl2pPr>
              <a:defRPr sz="1425" b="0">
                <a:solidFill>
                  <a:srgbClr val="087DDF"/>
                </a:solidFill>
              </a:defRPr>
            </a:lvl2pPr>
            <a:lvl3pPr>
              <a:defRPr sz="1425" b="0">
                <a:solidFill>
                  <a:srgbClr val="087DDF"/>
                </a:solidFill>
              </a:defRPr>
            </a:lvl3pPr>
            <a:lvl4pPr>
              <a:defRPr sz="1425" b="0">
                <a:solidFill>
                  <a:srgbClr val="087DDF"/>
                </a:solidFill>
              </a:defRPr>
            </a:lvl4pPr>
            <a:lvl5pPr>
              <a:defRPr sz="1425" b="0">
                <a:solidFill>
                  <a:srgbClr val="087DDF"/>
                </a:solidFill>
              </a:defRPr>
            </a:lvl5pPr>
            <a:lvl6pPr>
              <a:defRPr sz="1425" b="0">
                <a:solidFill>
                  <a:srgbClr val="087DDF"/>
                </a:solidFill>
              </a:defRPr>
            </a:lvl6pPr>
            <a:lvl7pPr>
              <a:defRPr sz="1425" b="0">
                <a:solidFill>
                  <a:srgbClr val="087DDF"/>
                </a:solidFill>
              </a:defRPr>
            </a:lvl7pPr>
            <a:lvl8pPr>
              <a:defRPr sz="1425" b="0">
                <a:solidFill>
                  <a:srgbClr val="087DDF"/>
                </a:solidFill>
              </a:defRPr>
            </a:lvl8pPr>
            <a:lvl9pPr>
              <a:defRPr sz="1425" b="0">
                <a:solidFill>
                  <a:srgbClr val="087DDF"/>
                </a:solidFill>
              </a:defRPr>
            </a:lvl9pPr>
          </a:lstStyle>
          <a:p xmlns:a="http://schemas.openxmlformats.org/drawingml/2006/main">
            <a:pPr>
              <a:defRPr sz="1425" b="0">
                <a:solidFill>
                  <a:srgbClr val="087DDF"/>
                </a:solidFill>
              </a:defRPr>
            </a:pPr>
            <a:r>
              <a:rPr sz="1425" b="0">
                <a:solidFill>
                  <a:srgbClr val="087DDF"/>
                </a:solidFill>
              </a:rPr>
              <a:t>“No corroborated flag found” is not a clean-payment certification.</a:t>
            </a:r>
          </a:p>
        </p:txBody>
      </p:sp>
      <p:sp>
        <p:nvSpPr>
          <p:cNvPr id="7" name="Footer">
            <a:extLst xmlns:a="http://schemas.openxmlformats.org/drawingml/2006/main">
              <a:ext uri="{FF2B5EF4-FFF2-40B4-BE49-F238E27FC236}">
                <a16:creationId xmlns:a16="http://schemas.microsoft.com/office/drawing/2014/main" id="{650E2D38-E0E6-4CA1-BE6B-88BCF8903AEF}"/>
              </a:ext>
            </a:extLst>
          </p:cNvPr>
          <p:cNvSpPr>
            <a:spLocks xmlns:a="http://schemas.openxmlformats.org/drawingml/2006/main" noGrp="1"/>
          </p:cNvSpPr>
          <p:nvPr/>
        </p:nvSpPr>
        <p:spPr>
          <a:xfrm xmlns:a="http://schemas.openxmlformats.org/drawingml/2006/main">
            <a:off x="495300" y="6419850"/>
            <a:ext cx="10953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9778B"/>
                </a:solidFill>
              </a:defRPr>
            </a:defPPr>
            <a:lvl1pPr>
              <a:defRPr sz="1200" b="0">
                <a:solidFill>
                  <a:srgbClr val="69778B"/>
                </a:solidFill>
              </a:defRPr>
            </a:lvl1pPr>
            <a:lvl2pPr>
              <a:defRPr sz="1200" b="0">
                <a:solidFill>
                  <a:srgbClr val="69778B"/>
                </a:solidFill>
              </a:defRPr>
            </a:lvl2pPr>
            <a:lvl3pPr>
              <a:defRPr sz="1200" b="0">
                <a:solidFill>
                  <a:srgbClr val="69778B"/>
                </a:solidFill>
              </a:defRPr>
            </a:lvl3pPr>
            <a:lvl4pPr>
              <a:defRPr sz="1200" b="0">
                <a:solidFill>
                  <a:srgbClr val="69778B"/>
                </a:solidFill>
              </a:defRPr>
            </a:lvl4pPr>
            <a:lvl5pPr>
              <a:defRPr sz="1200" b="0">
                <a:solidFill>
                  <a:srgbClr val="69778B"/>
                </a:solidFill>
              </a:defRPr>
            </a:lvl5pPr>
            <a:lvl6pPr>
              <a:defRPr sz="1200" b="0">
                <a:solidFill>
                  <a:srgbClr val="69778B"/>
                </a:solidFill>
              </a:defRPr>
            </a:lvl6pPr>
            <a:lvl7pPr>
              <a:defRPr sz="1200" b="0">
                <a:solidFill>
                  <a:srgbClr val="69778B"/>
                </a:solidFill>
              </a:defRPr>
            </a:lvl7pPr>
            <a:lvl8pPr>
              <a:defRPr sz="1200" b="0">
                <a:solidFill>
                  <a:srgbClr val="69778B"/>
                </a:solidFill>
              </a:defRPr>
            </a:lvl8pPr>
            <a:lvl9pPr>
              <a:defRPr sz="1200" b="0">
                <a:solidFill>
                  <a:srgbClr val="69778B"/>
                </a:solidFill>
              </a:defRPr>
            </a:lvl9pPr>
          </a:lstStyle>
          <a:p xmlns:a="http://schemas.openxmlformats.org/drawingml/2006/main">
            <a:pPr>
              <a:defRPr sz="1200" b="0">
                <a:solidFill>
                  <a:srgbClr val="69778B"/>
                </a:solidFill>
              </a:defRPr>
            </a:pPr>
            <a:r>
              <a:rPr sz="1200" b="0">
                <a:solidFill>
                  <a:srgbClr val="69778B"/>
                </a:solidFill>
              </a:rPr>
              <a:t>Build 3   /   Public research demonstration   /   21 October 2026</a:t>
            </a:r>
          </a:p>
        </p:txBody>
      </p:sp>
    </p:spTree>
    <p:extLst>
      <p:ext uri="{BB962C8B-B14F-4D97-AF65-F5344CB8AC3E}">
        <p14:creationId xmlns:p14="http://schemas.microsoft.com/office/powerpoint/2010/main" val="2120504359"/>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tep">
            <a:extLst xmlns:a="http://schemas.openxmlformats.org/drawingml/2006/main">
              <a:ext uri="{FF2B5EF4-FFF2-40B4-BE49-F238E27FC236}">
                <a16:creationId xmlns:a16="http://schemas.microsoft.com/office/drawing/2014/main" id="{25B638EC-DDCB-4444-A8AB-155D19338389}"/>
              </a:ext>
            </a:extLst>
          </p:cNvPr>
          <p:cNvSpPr>
            <a:spLocks xmlns:a="http://schemas.openxmlformats.org/drawingml/2006/main" noGrp="1"/>
          </p:cNvSpPr>
          <p:nvPr/>
        </p:nvSpPr>
        <p:spPr>
          <a:xfrm xmlns:a="http://schemas.openxmlformats.org/drawingml/2006/main">
            <a:off x="495300" y="342900"/>
            <a:ext cx="704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087DDF"/>
                </a:solidFill>
              </a:defRPr>
            </a:defPPr>
            <a:lvl1pPr>
              <a:defRPr sz="1800" b="1">
                <a:solidFill>
                  <a:srgbClr val="087DDF"/>
                </a:solidFill>
              </a:defRPr>
            </a:lvl1pPr>
            <a:lvl2pPr>
              <a:defRPr sz="1800" b="1">
                <a:solidFill>
                  <a:srgbClr val="087DDF"/>
                </a:solidFill>
              </a:defRPr>
            </a:lvl2pPr>
            <a:lvl3pPr>
              <a:defRPr sz="1800" b="1">
                <a:solidFill>
                  <a:srgbClr val="087DDF"/>
                </a:solidFill>
              </a:defRPr>
            </a:lvl3pPr>
            <a:lvl4pPr>
              <a:defRPr sz="1800" b="1">
                <a:solidFill>
                  <a:srgbClr val="087DDF"/>
                </a:solidFill>
              </a:defRPr>
            </a:lvl4pPr>
            <a:lvl5pPr>
              <a:defRPr sz="1800" b="1">
                <a:solidFill>
                  <a:srgbClr val="087DDF"/>
                </a:solidFill>
              </a:defRPr>
            </a:lvl5pPr>
            <a:lvl6pPr>
              <a:defRPr sz="1800" b="1">
                <a:solidFill>
                  <a:srgbClr val="087DDF"/>
                </a:solidFill>
              </a:defRPr>
            </a:lvl6pPr>
            <a:lvl7pPr>
              <a:defRPr sz="1800" b="1">
                <a:solidFill>
                  <a:srgbClr val="087DDF"/>
                </a:solidFill>
              </a:defRPr>
            </a:lvl7pPr>
            <a:lvl8pPr>
              <a:defRPr sz="1800" b="1">
                <a:solidFill>
                  <a:srgbClr val="087DDF"/>
                </a:solidFill>
              </a:defRPr>
            </a:lvl8pPr>
            <a:lvl9pPr>
              <a:defRPr sz="1800" b="1">
                <a:solidFill>
                  <a:srgbClr val="087DDF"/>
                </a:solidFill>
              </a:defRPr>
            </a:lvl9pPr>
          </a:lstStyle>
          <a:p xmlns:a="http://schemas.openxmlformats.org/drawingml/2006/main">
            <a:pPr>
              <a:defRPr sz="1800" b="1">
                <a:solidFill>
                  <a:srgbClr val="087DDF"/>
                </a:solidFill>
              </a:defRPr>
            </a:pPr>
            <a:r>
              <a:rPr sz="1800" b="1">
                <a:solidFill>
                  <a:srgbClr val="087DDF"/>
                </a:solidFill>
              </a:rPr>
              <a:t>17</a:t>
            </a:r>
          </a:p>
        </p:txBody>
      </p:sp>
      <p:sp>
        <p:nvSpPr>
          <p:cNvPr id="3" name="Title">
            <a:extLst xmlns:a="http://schemas.openxmlformats.org/drawingml/2006/main">
              <a:ext uri="{FF2B5EF4-FFF2-40B4-BE49-F238E27FC236}">
                <a16:creationId xmlns:a16="http://schemas.microsoft.com/office/drawing/2014/main" id="{C86F2A69-1393-4804-94B4-CAB2D4619B1D}"/>
              </a:ext>
            </a:extLst>
          </p:cNvPr>
          <p:cNvSpPr>
            <a:spLocks xmlns:a="http://schemas.openxmlformats.org/drawingml/2006/main" noGrp="1"/>
          </p:cNvSpPr>
          <p:nvPr/>
        </p:nvSpPr>
        <p:spPr>
          <a:xfrm xmlns:a="http://schemas.openxmlformats.org/drawingml/2006/main">
            <a:off x="495300" y="762000"/>
            <a:ext cx="1104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744"/>
                </a:solidFill>
              </a:defRPr>
            </a:defPPr>
            <a:lvl1pPr>
              <a:defRPr sz="3300" b="1">
                <a:solidFill>
                  <a:srgbClr val="102744"/>
                </a:solidFill>
              </a:defRPr>
            </a:lvl1pPr>
            <a:lvl2pPr>
              <a:defRPr sz="3300" b="1">
                <a:solidFill>
                  <a:srgbClr val="102744"/>
                </a:solidFill>
              </a:defRPr>
            </a:lvl2pPr>
            <a:lvl3pPr>
              <a:defRPr sz="3300" b="1">
                <a:solidFill>
                  <a:srgbClr val="102744"/>
                </a:solidFill>
              </a:defRPr>
            </a:lvl3pPr>
            <a:lvl4pPr>
              <a:defRPr sz="3300" b="1">
                <a:solidFill>
                  <a:srgbClr val="102744"/>
                </a:solidFill>
              </a:defRPr>
            </a:lvl4pPr>
            <a:lvl5pPr>
              <a:defRPr sz="3300" b="1">
                <a:solidFill>
                  <a:srgbClr val="102744"/>
                </a:solidFill>
              </a:defRPr>
            </a:lvl5pPr>
            <a:lvl6pPr>
              <a:defRPr sz="3300" b="1">
                <a:solidFill>
                  <a:srgbClr val="102744"/>
                </a:solidFill>
              </a:defRPr>
            </a:lvl6pPr>
            <a:lvl7pPr>
              <a:defRPr sz="3300" b="1">
                <a:solidFill>
                  <a:srgbClr val="102744"/>
                </a:solidFill>
              </a:defRPr>
            </a:lvl7pPr>
            <a:lvl8pPr>
              <a:defRPr sz="3300" b="1">
                <a:solidFill>
                  <a:srgbClr val="102744"/>
                </a:solidFill>
              </a:defRPr>
            </a:lvl8pPr>
            <a:lvl9pPr>
              <a:defRPr sz="3300" b="1">
                <a:solidFill>
                  <a:srgbClr val="102744"/>
                </a:solidFill>
              </a:defRPr>
            </a:lvl9pPr>
          </a:lstStyle>
          <a:p xmlns:a="http://schemas.openxmlformats.org/drawingml/2006/main">
            <a:pPr>
              <a:defRPr sz="3300" b="1">
                <a:solidFill>
                  <a:srgbClr val="102744"/>
                </a:solidFill>
              </a:defRPr>
            </a:pPr>
            <a:r>
              <a:rPr sz="3300" b="1">
                <a:solidFill>
                  <a:srgbClr val="102744"/>
                </a:solidFill>
              </a:rPr>
              <a:t>The due-diligence handoff</a:t>
            </a:r>
          </a:p>
        </p:txBody>
      </p:sp>
      <p:sp>
        <p:nvSpPr>
          <p:cNvPr id="4" name="Body">
            <a:extLst xmlns:a="http://schemas.openxmlformats.org/drawingml/2006/main">
              <a:ext uri="{FF2B5EF4-FFF2-40B4-BE49-F238E27FC236}">
                <a16:creationId xmlns:a16="http://schemas.microsoft.com/office/drawing/2014/main" id="{1A4BECB2-B5F5-43F5-8CFB-6AD62B8C98E9}"/>
              </a:ext>
            </a:extLst>
          </p:cNvPr>
          <p:cNvSpPr>
            <a:spLocks xmlns:a="http://schemas.openxmlformats.org/drawingml/2006/main" noGrp="1"/>
          </p:cNvSpPr>
          <p:nvPr/>
        </p:nvSpPr>
        <p:spPr>
          <a:xfrm xmlns:a="http://schemas.openxmlformats.org/drawingml/2006/main">
            <a:off x="495300" y="1847850"/>
            <a:ext cx="2857500" cy="409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25354B"/>
                </a:solidFill>
              </a:defRPr>
            </a:defPPr>
            <a:lvl1pPr>
              <a:defRPr sz="1800" b="0">
                <a:solidFill>
                  <a:srgbClr val="25354B"/>
                </a:solidFill>
              </a:defRPr>
            </a:lvl1pPr>
            <a:lvl2pPr>
              <a:defRPr sz="1800" b="0">
                <a:solidFill>
                  <a:srgbClr val="25354B"/>
                </a:solidFill>
              </a:defRPr>
            </a:lvl2pPr>
            <a:lvl3pPr>
              <a:defRPr sz="1800" b="0">
                <a:solidFill>
                  <a:srgbClr val="25354B"/>
                </a:solidFill>
              </a:defRPr>
            </a:lvl3pPr>
            <a:lvl4pPr>
              <a:defRPr sz="1800" b="0">
                <a:solidFill>
                  <a:srgbClr val="25354B"/>
                </a:solidFill>
              </a:defRPr>
            </a:lvl4pPr>
            <a:lvl5pPr>
              <a:defRPr sz="1800" b="0">
                <a:solidFill>
                  <a:srgbClr val="25354B"/>
                </a:solidFill>
              </a:defRPr>
            </a:lvl5pPr>
            <a:lvl6pPr>
              <a:defRPr sz="1800" b="0">
                <a:solidFill>
                  <a:srgbClr val="25354B"/>
                </a:solidFill>
              </a:defRPr>
            </a:lvl6pPr>
            <a:lvl7pPr>
              <a:defRPr sz="1800" b="0">
                <a:solidFill>
                  <a:srgbClr val="25354B"/>
                </a:solidFill>
              </a:defRPr>
            </a:lvl7pPr>
            <a:lvl8pPr>
              <a:defRPr sz="1800" b="0">
                <a:solidFill>
                  <a:srgbClr val="25354B"/>
                </a:solidFill>
              </a:defRPr>
            </a:lvl8pPr>
            <a:lvl9pPr>
              <a:defRPr sz="1800" b="0">
                <a:solidFill>
                  <a:srgbClr val="25354B"/>
                </a:solidFill>
              </a:defRPr>
            </a:lvl9pPr>
          </a:lstStyle>
          <a:p xmlns:a="http://schemas.openxmlformats.org/drawingml/2006/main">
            <a:pPr>
              <a:defRPr sz="1800" b="0">
                <a:solidFill>
                  <a:srgbClr val="25354B"/>
                </a:solidFill>
              </a:defRPr>
            </a:pPr>
            <a:r>
              <a:rPr sz="1800" b="0">
                <a:solidFill>
                  <a:srgbClr val="25354B"/>
                </a:solidFill>
              </a:rPr>
              <a:t>Verify the contracting entity and current legal status.</a:t>
            </a:r>
          </a:p>
          <a:p xmlns:a="http://schemas.openxmlformats.org/drawingml/2006/main">
            <a:r>
              <a:t/>
            </a:r>
          </a:p>
          <a:p xmlns:a="http://schemas.openxmlformats.org/drawingml/2006/main">
            <a:pPr>
              <a:defRPr sz="1800" b="0">
                <a:solidFill>
                  <a:srgbClr val="25354B"/>
                </a:solidFill>
              </a:defRPr>
            </a:pPr>
            <a:r>
              <a:rPr sz="1800" b="0">
                <a:solidFill>
                  <a:srgbClr val="25354B"/>
                </a:solidFill>
              </a:rPr>
              <a:t>Request financial and payment evidence.</a:t>
            </a:r>
          </a:p>
          <a:p xmlns:a="http://schemas.openxmlformats.org/drawingml/2006/main">
            <a:r>
              <a:t/>
            </a:r>
          </a:p>
          <a:p xmlns:a="http://schemas.openxmlformats.org/drawingml/2006/main">
            <a:pPr>
              <a:defRPr sz="1800" b="0">
                <a:solidFill>
                  <a:srgbClr val="25354B"/>
                </a:solidFill>
              </a:defRPr>
            </a:pPr>
            <a:r>
              <a:rPr sz="1800" b="0">
                <a:solidFill>
                  <a:srgbClr val="25354B"/>
                </a:solidFill>
              </a:rPr>
              <a:t>Confirm invoice acceptance requirements.</a:t>
            </a:r>
          </a:p>
          <a:p xmlns:a="http://schemas.openxmlformats.org/drawingml/2006/main">
            <a:r>
              <a:t/>
            </a:r>
          </a:p>
          <a:p xmlns:a="http://schemas.openxmlformats.org/drawingml/2006/main">
            <a:pPr>
              <a:defRPr sz="1800" b="0">
                <a:solidFill>
                  <a:srgbClr val="25354B"/>
                </a:solidFill>
              </a:defRPr>
            </a:pPr>
            <a:r>
              <a:rPr sz="1800" b="0">
                <a:solidFill>
                  <a:srgbClr val="25354B"/>
                </a:solidFill>
              </a:rPr>
              <a:t>Route the evidence to the credit manager.</a:t>
            </a:r>
          </a:p>
        </p:txBody>
      </p:sp>
      <p:pic>
        <p:nvPicPr>
          <p:cNvPr id="5" name="">
            <a:extLst xmlns:a="http://schemas.openxmlformats.org/drawingml/2006/main">
              <a:ext uri="{FF2B5EF4-FFF2-40B4-BE49-F238E27FC236}">
                <a16:creationId xmlns:a16="http://schemas.microsoft.com/office/drawing/2014/main" id="{82FFEADB-B287-4386-A212-CDE05286F65B}"/>
              </a:ext>
            </a:extLst>
          </p:cNvPr>
          <p:cNvPicPr>
            <a:picLocks xmlns:a="http://schemas.openxmlformats.org/drawingml/2006/main" noChangeAspect="1"/>
          </p:cNvPicPr>
          <p:nvPr/>
        </p:nvPicPr>
        <p:blipFill>
          <a:blip xmlns:r="http://schemas.openxmlformats.org/officeDocument/2006/relationships" xmlns:a="http://schemas.openxmlformats.org/drawingml/2006/main" r:embed="R52775a7e4752458f"/>
          <a:stretch xmlns:a="http://schemas.openxmlformats.org/drawingml/2006/main"/>
        </p:blipFill>
        <p:spPr>
          <a:xfrm xmlns:a="http://schemas.openxmlformats.org/drawingml/2006/main">
            <a:off x="3714750" y="2329286"/>
            <a:ext cx="7953375" cy="2580428"/>
          </a:xfrm>
          <a:prstGeom xmlns:a="http://schemas.openxmlformats.org/drawingml/2006/main" prst="rect">
            <a:avLst/>
          </a:prstGeom>
        </p:spPr>
      </p:pic>
      <p:sp>
        <p:nvSpPr>
          <p:cNvPr id="6" name="Caption">
            <a:extLst xmlns:a="http://schemas.openxmlformats.org/drawingml/2006/main">
              <a:ext uri="{FF2B5EF4-FFF2-40B4-BE49-F238E27FC236}">
                <a16:creationId xmlns:a16="http://schemas.microsoft.com/office/drawing/2014/main" id="{148AC7F8-A325-4AD4-900C-1C605C696037}"/>
              </a:ext>
            </a:extLst>
          </p:cNvPr>
          <p:cNvSpPr>
            <a:spLocks xmlns:a="http://schemas.openxmlformats.org/drawingml/2006/main" noGrp="1"/>
          </p:cNvSpPr>
          <p:nvPr/>
        </p:nvSpPr>
        <p:spPr>
          <a:xfrm xmlns:a="http://schemas.openxmlformats.org/drawingml/2006/main">
            <a:off x="3714750" y="5810250"/>
            <a:ext cx="79533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0">
                <a:solidFill>
                  <a:srgbClr val="087DDF"/>
                </a:solidFill>
              </a:defRPr>
            </a:defPPr>
            <a:lvl1pPr>
              <a:defRPr sz="1425" b="0">
                <a:solidFill>
                  <a:srgbClr val="087DDF"/>
                </a:solidFill>
              </a:defRPr>
            </a:lvl1pPr>
            <a:lvl2pPr>
              <a:defRPr sz="1425" b="0">
                <a:solidFill>
                  <a:srgbClr val="087DDF"/>
                </a:solidFill>
              </a:defRPr>
            </a:lvl2pPr>
            <a:lvl3pPr>
              <a:defRPr sz="1425" b="0">
                <a:solidFill>
                  <a:srgbClr val="087DDF"/>
                </a:solidFill>
              </a:defRPr>
            </a:lvl3pPr>
            <a:lvl4pPr>
              <a:defRPr sz="1425" b="0">
                <a:solidFill>
                  <a:srgbClr val="087DDF"/>
                </a:solidFill>
              </a:defRPr>
            </a:lvl4pPr>
            <a:lvl5pPr>
              <a:defRPr sz="1425" b="0">
                <a:solidFill>
                  <a:srgbClr val="087DDF"/>
                </a:solidFill>
              </a:defRPr>
            </a:lvl5pPr>
            <a:lvl6pPr>
              <a:defRPr sz="1425" b="0">
                <a:solidFill>
                  <a:srgbClr val="087DDF"/>
                </a:solidFill>
              </a:defRPr>
            </a:lvl6pPr>
            <a:lvl7pPr>
              <a:defRPr sz="1425" b="0">
                <a:solidFill>
                  <a:srgbClr val="087DDF"/>
                </a:solidFill>
              </a:defRPr>
            </a:lvl7pPr>
            <a:lvl8pPr>
              <a:defRPr sz="1425" b="0">
                <a:solidFill>
                  <a:srgbClr val="087DDF"/>
                </a:solidFill>
              </a:defRPr>
            </a:lvl8pPr>
            <a:lvl9pPr>
              <a:defRPr sz="1425" b="0">
                <a:solidFill>
                  <a:srgbClr val="087DDF"/>
                </a:solidFill>
              </a:defRPr>
            </a:lvl9pPr>
          </a:lstStyle>
          <a:p xmlns:a="http://schemas.openxmlformats.org/drawingml/2006/main">
            <a:pPr>
              <a:defRPr sz="1425" b="0">
                <a:solidFill>
                  <a:srgbClr val="087DDF"/>
                </a:solidFill>
              </a:defRPr>
            </a:pPr>
            <a:r>
              <a:rPr sz="1425" b="0">
                <a:solidFill>
                  <a:srgbClr val="087DDF"/>
                </a:solidFill>
              </a:rPr>
              <a:t>The output is a documented next step for human review, with no credit approval.</a:t>
            </a:r>
          </a:p>
        </p:txBody>
      </p:sp>
      <p:sp>
        <p:nvSpPr>
          <p:cNvPr id="7" name="Footer">
            <a:extLst xmlns:a="http://schemas.openxmlformats.org/drawingml/2006/main">
              <a:ext uri="{FF2B5EF4-FFF2-40B4-BE49-F238E27FC236}">
                <a16:creationId xmlns:a16="http://schemas.microsoft.com/office/drawing/2014/main" id="{7A462D24-F6C5-46DC-BCE7-F674CCC436C1}"/>
              </a:ext>
            </a:extLst>
          </p:cNvPr>
          <p:cNvSpPr>
            <a:spLocks xmlns:a="http://schemas.openxmlformats.org/drawingml/2006/main" noGrp="1"/>
          </p:cNvSpPr>
          <p:nvPr/>
        </p:nvSpPr>
        <p:spPr>
          <a:xfrm xmlns:a="http://schemas.openxmlformats.org/drawingml/2006/main">
            <a:off x="495300" y="6419850"/>
            <a:ext cx="10953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9778B"/>
                </a:solidFill>
              </a:defRPr>
            </a:defPPr>
            <a:lvl1pPr>
              <a:defRPr sz="1200" b="0">
                <a:solidFill>
                  <a:srgbClr val="69778B"/>
                </a:solidFill>
              </a:defRPr>
            </a:lvl1pPr>
            <a:lvl2pPr>
              <a:defRPr sz="1200" b="0">
                <a:solidFill>
                  <a:srgbClr val="69778B"/>
                </a:solidFill>
              </a:defRPr>
            </a:lvl2pPr>
            <a:lvl3pPr>
              <a:defRPr sz="1200" b="0">
                <a:solidFill>
                  <a:srgbClr val="69778B"/>
                </a:solidFill>
              </a:defRPr>
            </a:lvl3pPr>
            <a:lvl4pPr>
              <a:defRPr sz="1200" b="0">
                <a:solidFill>
                  <a:srgbClr val="69778B"/>
                </a:solidFill>
              </a:defRPr>
            </a:lvl4pPr>
            <a:lvl5pPr>
              <a:defRPr sz="1200" b="0">
                <a:solidFill>
                  <a:srgbClr val="69778B"/>
                </a:solidFill>
              </a:defRPr>
            </a:lvl5pPr>
            <a:lvl6pPr>
              <a:defRPr sz="1200" b="0">
                <a:solidFill>
                  <a:srgbClr val="69778B"/>
                </a:solidFill>
              </a:defRPr>
            </a:lvl6pPr>
            <a:lvl7pPr>
              <a:defRPr sz="1200" b="0">
                <a:solidFill>
                  <a:srgbClr val="69778B"/>
                </a:solidFill>
              </a:defRPr>
            </a:lvl7pPr>
            <a:lvl8pPr>
              <a:defRPr sz="1200" b="0">
                <a:solidFill>
                  <a:srgbClr val="69778B"/>
                </a:solidFill>
              </a:defRPr>
            </a:lvl8pPr>
            <a:lvl9pPr>
              <a:defRPr sz="1200" b="0">
                <a:solidFill>
                  <a:srgbClr val="69778B"/>
                </a:solidFill>
              </a:defRPr>
            </a:lvl9pPr>
          </a:lstStyle>
          <a:p xmlns:a="http://schemas.openxmlformats.org/drawingml/2006/main">
            <a:pPr>
              <a:defRPr sz="1200" b="0">
                <a:solidFill>
                  <a:srgbClr val="69778B"/>
                </a:solidFill>
              </a:defRPr>
            </a:pPr>
            <a:r>
              <a:rPr sz="1200" b="0">
                <a:solidFill>
                  <a:srgbClr val="69778B"/>
                </a:solidFill>
              </a:rPr>
              <a:t>Build 3   /   Public research demonstration   /   21 October 2026</a:t>
            </a:r>
          </a:p>
        </p:txBody>
      </p:sp>
    </p:spTree>
    <p:extLst>
      <p:ext uri="{BB962C8B-B14F-4D97-AF65-F5344CB8AC3E}">
        <p14:creationId xmlns:p14="http://schemas.microsoft.com/office/powerpoint/2010/main" val="2063156130"/>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tep">
            <a:extLst xmlns:a="http://schemas.openxmlformats.org/drawingml/2006/main">
              <a:ext uri="{FF2B5EF4-FFF2-40B4-BE49-F238E27FC236}">
                <a16:creationId xmlns:a16="http://schemas.microsoft.com/office/drawing/2014/main" id="{C577E739-712D-4790-881B-5A0B37F7EF53}"/>
              </a:ext>
            </a:extLst>
          </p:cNvPr>
          <p:cNvSpPr>
            <a:spLocks xmlns:a="http://schemas.openxmlformats.org/drawingml/2006/main" noGrp="1"/>
          </p:cNvSpPr>
          <p:nvPr/>
        </p:nvSpPr>
        <p:spPr>
          <a:xfrm xmlns:a="http://schemas.openxmlformats.org/drawingml/2006/main">
            <a:off x="495300" y="342900"/>
            <a:ext cx="704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087DDF"/>
                </a:solidFill>
              </a:defRPr>
            </a:defPPr>
            <a:lvl1pPr>
              <a:defRPr sz="1800" b="1">
                <a:solidFill>
                  <a:srgbClr val="087DDF"/>
                </a:solidFill>
              </a:defRPr>
            </a:lvl1pPr>
            <a:lvl2pPr>
              <a:defRPr sz="1800" b="1">
                <a:solidFill>
                  <a:srgbClr val="087DDF"/>
                </a:solidFill>
              </a:defRPr>
            </a:lvl2pPr>
            <a:lvl3pPr>
              <a:defRPr sz="1800" b="1">
                <a:solidFill>
                  <a:srgbClr val="087DDF"/>
                </a:solidFill>
              </a:defRPr>
            </a:lvl3pPr>
            <a:lvl4pPr>
              <a:defRPr sz="1800" b="1">
                <a:solidFill>
                  <a:srgbClr val="087DDF"/>
                </a:solidFill>
              </a:defRPr>
            </a:lvl4pPr>
            <a:lvl5pPr>
              <a:defRPr sz="1800" b="1">
                <a:solidFill>
                  <a:srgbClr val="087DDF"/>
                </a:solidFill>
              </a:defRPr>
            </a:lvl5pPr>
            <a:lvl6pPr>
              <a:defRPr sz="1800" b="1">
                <a:solidFill>
                  <a:srgbClr val="087DDF"/>
                </a:solidFill>
              </a:defRPr>
            </a:lvl6pPr>
            <a:lvl7pPr>
              <a:defRPr sz="1800" b="1">
                <a:solidFill>
                  <a:srgbClr val="087DDF"/>
                </a:solidFill>
              </a:defRPr>
            </a:lvl7pPr>
            <a:lvl8pPr>
              <a:defRPr sz="1800" b="1">
                <a:solidFill>
                  <a:srgbClr val="087DDF"/>
                </a:solidFill>
              </a:defRPr>
            </a:lvl8pPr>
            <a:lvl9pPr>
              <a:defRPr sz="1800" b="1">
                <a:solidFill>
                  <a:srgbClr val="087DDF"/>
                </a:solidFill>
              </a:defRPr>
            </a:lvl9pPr>
          </a:lstStyle>
          <a:p xmlns:a="http://schemas.openxmlformats.org/drawingml/2006/main">
            <a:pPr>
              <a:defRPr sz="1800" b="1">
                <a:solidFill>
                  <a:srgbClr val="087DDF"/>
                </a:solidFill>
              </a:defRPr>
            </a:pPr>
            <a:r>
              <a:rPr sz="1800" b="1">
                <a:solidFill>
                  <a:srgbClr val="087DDF"/>
                </a:solidFill>
              </a:rPr>
              <a:t>18</a:t>
            </a:r>
          </a:p>
        </p:txBody>
      </p:sp>
      <p:sp>
        <p:nvSpPr>
          <p:cNvPr id="3" name="Title">
            <a:extLst xmlns:a="http://schemas.openxmlformats.org/drawingml/2006/main">
              <a:ext uri="{FF2B5EF4-FFF2-40B4-BE49-F238E27FC236}">
                <a16:creationId xmlns:a16="http://schemas.microsoft.com/office/drawing/2014/main" id="{7DE366C2-D877-4F11-B24D-9C7C601F2EC8}"/>
              </a:ext>
            </a:extLst>
          </p:cNvPr>
          <p:cNvSpPr>
            <a:spLocks xmlns:a="http://schemas.openxmlformats.org/drawingml/2006/main" noGrp="1"/>
          </p:cNvSpPr>
          <p:nvPr/>
        </p:nvSpPr>
        <p:spPr>
          <a:xfrm xmlns:a="http://schemas.openxmlformats.org/drawingml/2006/main">
            <a:off x="495300" y="762000"/>
            <a:ext cx="1104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744"/>
                </a:solidFill>
              </a:defRPr>
            </a:defPPr>
            <a:lvl1pPr>
              <a:defRPr sz="3300" b="1">
                <a:solidFill>
                  <a:srgbClr val="102744"/>
                </a:solidFill>
              </a:defRPr>
            </a:lvl1pPr>
            <a:lvl2pPr>
              <a:defRPr sz="3300" b="1">
                <a:solidFill>
                  <a:srgbClr val="102744"/>
                </a:solidFill>
              </a:defRPr>
            </a:lvl2pPr>
            <a:lvl3pPr>
              <a:defRPr sz="3300" b="1">
                <a:solidFill>
                  <a:srgbClr val="102744"/>
                </a:solidFill>
              </a:defRPr>
            </a:lvl3pPr>
            <a:lvl4pPr>
              <a:defRPr sz="3300" b="1">
                <a:solidFill>
                  <a:srgbClr val="102744"/>
                </a:solidFill>
              </a:defRPr>
            </a:lvl4pPr>
            <a:lvl5pPr>
              <a:defRPr sz="3300" b="1">
                <a:solidFill>
                  <a:srgbClr val="102744"/>
                </a:solidFill>
              </a:defRPr>
            </a:lvl5pPr>
            <a:lvl6pPr>
              <a:defRPr sz="3300" b="1">
                <a:solidFill>
                  <a:srgbClr val="102744"/>
                </a:solidFill>
              </a:defRPr>
            </a:lvl6pPr>
            <a:lvl7pPr>
              <a:defRPr sz="3300" b="1">
                <a:solidFill>
                  <a:srgbClr val="102744"/>
                </a:solidFill>
              </a:defRPr>
            </a:lvl7pPr>
            <a:lvl8pPr>
              <a:defRPr sz="3300" b="1">
                <a:solidFill>
                  <a:srgbClr val="102744"/>
                </a:solidFill>
              </a:defRPr>
            </a:lvl8pPr>
            <a:lvl9pPr>
              <a:defRPr sz="3300" b="1">
                <a:solidFill>
                  <a:srgbClr val="102744"/>
                </a:solidFill>
              </a:defRPr>
            </a:lvl9pPr>
          </a:lstStyle>
          <a:p xmlns:a="http://schemas.openxmlformats.org/drawingml/2006/main">
            <a:pPr>
              <a:defRPr sz="3300" b="1">
                <a:solidFill>
                  <a:srgbClr val="102744"/>
                </a:solidFill>
              </a:defRPr>
            </a:pPr>
            <a:r>
              <a:rPr sz="3300" b="1">
                <a:solidFill>
                  <a:srgbClr val="102744"/>
                </a:solidFill>
              </a:rPr>
              <a:t>Verified roles and contact routes</a:t>
            </a:r>
          </a:p>
        </p:txBody>
      </p:sp>
      <p:sp>
        <p:nvSpPr>
          <p:cNvPr id="4" name="Body">
            <a:extLst xmlns:a="http://schemas.openxmlformats.org/drawingml/2006/main">
              <a:ext uri="{FF2B5EF4-FFF2-40B4-BE49-F238E27FC236}">
                <a16:creationId xmlns:a16="http://schemas.microsoft.com/office/drawing/2014/main" id="{EE31EECD-7CDC-46DB-BDF2-7AE7566DD733}"/>
              </a:ext>
            </a:extLst>
          </p:cNvPr>
          <p:cNvSpPr>
            <a:spLocks xmlns:a="http://schemas.openxmlformats.org/drawingml/2006/main" noGrp="1"/>
          </p:cNvSpPr>
          <p:nvPr/>
        </p:nvSpPr>
        <p:spPr>
          <a:xfrm xmlns:a="http://schemas.openxmlformats.org/drawingml/2006/main">
            <a:off x="495300" y="1847850"/>
            <a:ext cx="2857500" cy="409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25354B"/>
                </a:solidFill>
              </a:defRPr>
            </a:defPPr>
            <a:lvl1pPr>
              <a:defRPr sz="1800" b="0">
                <a:solidFill>
                  <a:srgbClr val="25354B"/>
                </a:solidFill>
              </a:defRPr>
            </a:lvl1pPr>
            <a:lvl2pPr>
              <a:defRPr sz="1800" b="0">
                <a:solidFill>
                  <a:srgbClr val="25354B"/>
                </a:solidFill>
              </a:defRPr>
            </a:lvl2pPr>
            <a:lvl3pPr>
              <a:defRPr sz="1800" b="0">
                <a:solidFill>
                  <a:srgbClr val="25354B"/>
                </a:solidFill>
              </a:defRPr>
            </a:lvl3pPr>
            <a:lvl4pPr>
              <a:defRPr sz="1800" b="0">
                <a:solidFill>
                  <a:srgbClr val="25354B"/>
                </a:solidFill>
              </a:defRPr>
            </a:lvl4pPr>
            <a:lvl5pPr>
              <a:defRPr sz="1800" b="0">
                <a:solidFill>
                  <a:srgbClr val="25354B"/>
                </a:solidFill>
              </a:defRPr>
            </a:lvl5pPr>
            <a:lvl6pPr>
              <a:defRPr sz="1800" b="0">
                <a:solidFill>
                  <a:srgbClr val="25354B"/>
                </a:solidFill>
              </a:defRPr>
            </a:lvl6pPr>
            <a:lvl7pPr>
              <a:defRPr sz="1800" b="0">
                <a:solidFill>
                  <a:srgbClr val="25354B"/>
                </a:solidFill>
              </a:defRPr>
            </a:lvl7pPr>
            <a:lvl8pPr>
              <a:defRPr sz="1800" b="0">
                <a:solidFill>
                  <a:srgbClr val="25354B"/>
                </a:solidFill>
              </a:defRPr>
            </a:lvl8pPr>
            <a:lvl9pPr>
              <a:defRPr sz="1800" b="0">
                <a:solidFill>
                  <a:srgbClr val="25354B"/>
                </a:solidFill>
              </a:defRPr>
            </a:lvl9pPr>
          </a:lstStyle>
          <a:p xmlns:a="http://schemas.openxmlformats.org/drawingml/2006/main">
            <a:pPr>
              <a:defRPr sz="1800" b="0">
                <a:solidFill>
                  <a:srgbClr val="25354B"/>
                </a:solidFill>
              </a:defRPr>
            </a:pPr>
            <a:r>
              <a:rPr sz="1800" b="0">
                <a:solidFill>
                  <a:srgbClr val="25354B"/>
                </a:solidFill>
              </a:rPr>
              <a:t>Name a decision-maker only when the role is sourced.</a:t>
            </a:r>
          </a:p>
          <a:p xmlns:a="http://schemas.openxmlformats.org/drawingml/2006/main">
            <a:r>
              <a:t/>
            </a:r>
          </a:p>
          <a:p xmlns:a="http://schemas.openxmlformats.org/drawingml/2006/main">
            <a:pPr>
              <a:defRPr sz="1800" b="0">
                <a:solidFill>
                  <a:srgbClr val="25354B"/>
                </a:solidFill>
              </a:defRPr>
            </a:pPr>
            <a:r>
              <a:rPr sz="1800" b="0">
                <a:solidFill>
                  <a:srgbClr val="25354B"/>
                </a:solidFill>
              </a:rPr>
              <a:t>Use the relevant finance or procurement role when a person is unverified.</a:t>
            </a:r>
          </a:p>
          <a:p xmlns:a="http://schemas.openxmlformats.org/drawingml/2006/main">
            <a:r>
              <a:t/>
            </a:r>
          </a:p>
          <a:p xmlns:a="http://schemas.openxmlformats.org/drawingml/2006/main">
            <a:pPr>
              <a:defRPr sz="1800" b="0">
                <a:solidFill>
                  <a:srgbClr val="25354B"/>
                </a:solidFill>
              </a:defRPr>
            </a:pPr>
            <a:r>
              <a:rPr sz="1800" b="0">
                <a:solidFill>
                  <a:srgbClr val="25354B"/>
                </a:solidFill>
              </a:rPr>
              <a:t>Do not guess personal email addresses.</a:t>
            </a:r>
          </a:p>
        </p:txBody>
      </p:sp>
      <p:pic>
        <p:nvPicPr>
          <p:cNvPr id="5" name="">
            <a:extLst xmlns:a="http://schemas.openxmlformats.org/drawingml/2006/main">
              <a:ext uri="{FF2B5EF4-FFF2-40B4-BE49-F238E27FC236}">
                <a16:creationId xmlns:a16="http://schemas.microsoft.com/office/drawing/2014/main" id="{AF3BD436-065D-4B14-9584-7F0364592883}"/>
              </a:ext>
            </a:extLst>
          </p:cNvPr>
          <p:cNvPicPr>
            <a:picLocks xmlns:a="http://schemas.openxmlformats.org/drawingml/2006/main" noChangeAspect="1"/>
          </p:cNvPicPr>
          <p:nvPr/>
        </p:nvPicPr>
        <p:blipFill>
          <a:blip xmlns:r="http://schemas.openxmlformats.org/officeDocument/2006/relationships" xmlns:a="http://schemas.openxmlformats.org/drawingml/2006/main" r:embed="R5b05196f04cf4819"/>
          <a:stretch xmlns:a="http://schemas.openxmlformats.org/drawingml/2006/main"/>
        </p:blipFill>
        <p:spPr>
          <a:xfrm xmlns:a="http://schemas.openxmlformats.org/drawingml/2006/main">
            <a:off x="3714750" y="2629747"/>
            <a:ext cx="7953375" cy="1979507"/>
          </a:xfrm>
          <a:prstGeom xmlns:a="http://schemas.openxmlformats.org/drawingml/2006/main" prst="rect">
            <a:avLst/>
          </a:prstGeom>
        </p:spPr>
      </p:pic>
      <p:sp>
        <p:nvSpPr>
          <p:cNvPr id="6" name="Caption">
            <a:extLst xmlns:a="http://schemas.openxmlformats.org/drawingml/2006/main">
              <a:ext uri="{FF2B5EF4-FFF2-40B4-BE49-F238E27FC236}">
                <a16:creationId xmlns:a16="http://schemas.microsoft.com/office/drawing/2014/main" id="{F8A00C14-A3EB-4734-AF7F-40F3A57F1C10}"/>
              </a:ext>
            </a:extLst>
          </p:cNvPr>
          <p:cNvSpPr>
            <a:spLocks xmlns:a="http://schemas.openxmlformats.org/drawingml/2006/main" noGrp="1"/>
          </p:cNvSpPr>
          <p:nvPr/>
        </p:nvSpPr>
        <p:spPr>
          <a:xfrm xmlns:a="http://schemas.openxmlformats.org/drawingml/2006/main">
            <a:off x="3714750" y="5810250"/>
            <a:ext cx="79533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0">
                <a:solidFill>
                  <a:srgbClr val="087DDF"/>
                </a:solidFill>
              </a:defRPr>
            </a:defPPr>
            <a:lvl1pPr>
              <a:defRPr sz="1425" b="0">
                <a:solidFill>
                  <a:srgbClr val="087DDF"/>
                </a:solidFill>
              </a:defRPr>
            </a:lvl1pPr>
            <a:lvl2pPr>
              <a:defRPr sz="1425" b="0">
                <a:solidFill>
                  <a:srgbClr val="087DDF"/>
                </a:solidFill>
              </a:defRPr>
            </a:lvl2pPr>
            <a:lvl3pPr>
              <a:defRPr sz="1425" b="0">
                <a:solidFill>
                  <a:srgbClr val="087DDF"/>
                </a:solidFill>
              </a:defRPr>
            </a:lvl3pPr>
            <a:lvl4pPr>
              <a:defRPr sz="1425" b="0">
                <a:solidFill>
                  <a:srgbClr val="087DDF"/>
                </a:solidFill>
              </a:defRPr>
            </a:lvl4pPr>
            <a:lvl5pPr>
              <a:defRPr sz="1425" b="0">
                <a:solidFill>
                  <a:srgbClr val="087DDF"/>
                </a:solidFill>
              </a:defRPr>
            </a:lvl5pPr>
            <a:lvl6pPr>
              <a:defRPr sz="1425" b="0">
                <a:solidFill>
                  <a:srgbClr val="087DDF"/>
                </a:solidFill>
              </a:defRPr>
            </a:lvl6pPr>
            <a:lvl7pPr>
              <a:defRPr sz="1425" b="0">
                <a:solidFill>
                  <a:srgbClr val="087DDF"/>
                </a:solidFill>
              </a:defRPr>
            </a:lvl7pPr>
            <a:lvl8pPr>
              <a:defRPr sz="1425" b="0">
                <a:solidFill>
                  <a:srgbClr val="087DDF"/>
                </a:solidFill>
              </a:defRPr>
            </a:lvl8pPr>
            <a:lvl9pPr>
              <a:defRPr sz="1425" b="0">
                <a:solidFill>
                  <a:srgbClr val="087DDF"/>
                </a:solidFill>
              </a:defRPr>
            </a:lvl9pPr>
          </a:lstStyle>
          <a:p xmlns:a="http://schemas.openxmlformats.org/drawingml/2006/main">
            <a:pPr>
              <a:defRPr sz="1425" b="0">
                <a:solidFill>
                  <a:srgbClr val="087DDF"/>
                </a:solidFill>
              </a:defRPr>
            </a:pPr>
            <a:r>
              <a:rPr sz="1425" b="0">
                <a:solidFill>
                  <a:srgbClr val="087DDF"/>
                </a:solidFill>
              </a:rPr>
              <a:t>Official contact routes support discovery; they are not permission to send outreach.</a:t>
            </a:r>
          </a:p>
        </p:txBody>
      </p:sp>
      <p:sp>
        <p:nvSpPr>
          <p:cNvPr id="7" name="Footer">
            <a:extLst xmlns:a="http://schemas.openxmlformats.org/drawingml/2006/main">
              <a:ext uri="{FF2B5EF4-FFF2-40B4-BE49-F238E27FC236}">
                <a16:creationId xmlns:a16="http://schemas.microsoft.com/office/drawing/2014/main" id="{E57875C5-21D7-4BF6-B1DE-538F13468B8B}"/>
              </a:ext>
            </a:extLst>
          </p:cNvPr>
          <p:cNvSpPr>
            <a:spLocks xmlns:a="http://schemas.openxmlformats.org/drawingml/2006/main" noGrp="1"/>
          </p:cNvSpPr>
          <p:nvPr/>
        </p:nvSpPr>
        <p:spPr>
          <a:xfrm xmlns:a="http://schemas.openxmlformats.org/drawingml/2006/main">
            <a:off x="495300" y="6419850"/>
            <a:ext cx="10953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9778B"/>
                </a:solidFill>
              </a:defRPr>
            </a:defPPr>
            <a:lvl1pPr>
              <a:defRPr sz="1200" b="0">
                <a:solidFill>
                  <a:srgbClr val="69778B"/>
                </a:solidFill>
              </a:defRPr>
            </a:lvl1pPr>
            <a:lvl2pPr>
              <a:defRPr sz="1200" b="0">
                <a:solidFill>
                  <a:srgbClr val="69778B"/>
                </a:solidFill>
              </a:defRPr>
            </a:lvl2pPr>
            <a:lvl3pPr>
              <a:defRPr sz="1200" b="0">
                <a:solidFill>
                  <a:srgbClr val="69778B"/>
                </a:solidFill>
              </a:defRPr>
            </a:lvl3pPr>
            <a:lvl4pPr>
              <a:defRPr sz="1200" b="0">
                <a:solidFill>
                  <a:srgbClr val="69778B"/>
                </a:solidFill>
              </a:defRPr>
            </a:lvl4pPr>
            <a:lvl5pPr>
              <a:defRPr sz="1200" b="0">
                <a:solidFill>
                  <a:srgbClr val="69778B"/>
                </a:solidFill>
              </a:defRPr>
            </a:lvl5pPr>
            <a:lvl6pPr>
              <a:defRPr sz="1200" b="0">
                <a:solidFill>
                  <a:srgbClr val="69778B"/>
                </a:solidFill>
              </a:defRPr>
            </a:lvl6pPr>
            <a:lvl7pPr>
              <a:defRPr sz="1200" b="0">
                <a:solidFill>
                  <a:srgbClr val="69778B"/>
                </a:solidFill>
              </a:defRPr>
            </a:lvl7pPr>
            <a:lvl8pPr>
              <a:defRPr sz="1200" b="0">
                <a:solidFill>
                  <a:srgbClr val="69778B"/>
                </a:solidFill>
              </a:defRPr>
            </a:lvl8pPr>
            <a:lvl9pPr>
              <a:defRPr sz="1200" b="0">
                <a:solidFill>
                  <a:srgbClr val="69778B"/>
                </a:solidFill>
              </a:defRPr>
            </a:lvl9pPr>
          </a:lstStyle>
          <a:p xmlns:a="http://schemas.openxmlformats.org/drawingml/2006/main">
            <a:pPr>
              <a:defRPr sz="1200" b="0">
                <a:solidFill>
                  <a:srgbClr val="69778B"/>
                </a:solidFill>
              </a:defRPr>
            </a:pPr>
            <a:r>
              <a:rPr sz="1200" b="0">
                <a:solidFill>
                  <a:srgbClr val="69778B"/>
                </a:solidFill>
              </a:rPr>
              <a:t>Build 3   /   Public research demonstration   /   21 October 2026</a:t>
            </a:r>
          </a:p>
        </p:txBody>
      </p:sp>
    </p:spTree>
    <p:extLst>
      <p:ext uri="{BB962C8B-B14F-4D97-AF65-F5344CB8AC3E}">
        <p14:creationId xmlns:p14="http://schemas.microsoft.com/office/powerpoint/2010/main" val="1209849240"/>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tep">
            <a:extLst xmlns:a="http://schemas.openxmlformats.org/drawingml/2006/main">
              <a:ext uri="{FF2B5EF4-FFF2-40B4-BE49-F238E27FC236}">
                <a16:creationId xmlns:a16="http://schemas.microsoft.com/office/drawing/2014/main" id="{BFBEEDCF-1437-48FA-A448-690D39891833}"/>
              </a:ext>
            </a:extLst>
          </p:cNvPr>
          <p:cNvSpPr>
            <a:spLocks xmlns:a="http://schemas.openxmlformats.org/drawingml/2006/main" noGrp="1"/>
          </p:cNvSpPr>
          <p:nvPr/>
        </p:nvSpPr>
        <p:spPr>
          <a:xfrm xmlns:a="http://schemas.openxmlformats.org/drawingml/2006/main">
            <a:off x="495300" y="342900"/>
            <a:ext cx="704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087DDF"/>
                </a:solidFill>
              </a:defRPr>
            </a:defPPr>
            <a:lvl1pPr>
              <a:defRPr sz="1800" b="1">
                <a:solidFill>
                  <a:srgbClr val="087DDF"/>
                </a:solidFill>
              </a:defRPr>
            </a:lvl1pPr>
            <a:lvl2pPr>
              <a:defRPr sz="1800" b="1">
                <a:solidFill>
                  <a:srgbClr val="087DDF"/>
                </a:solidFill>
              </a:defRPr>
            </a:lvl2pPr>
            <a:lvl3pPr>
              <a:defRPr sz="1800" b="1">
                <a:solidFill>
                  <a:srgbClr val="087DDF"/>
                </a:solidFill>
              </a:defRPr>
            </a:lvl3pPr>
            <a:lvl4pPr>
              <a:defRPr sz="1800" b="1">
                <a:solidFill>
                  <a:srgbClr val="087DDF"/>
                </a:solidFill>
              </a:defRPr>
            </a:lvl4pPr>
            <a:lvl5pPr>
              <a:defRPr sz="1800" b="1">
                <a:solidFill>
                  <a:srgbClr val="087DDF"/>
                </a:solidFill>
              </a:defRPr>
            </a:lvl5pPr>
            <a:lvl6pPr>
              <a:defRPr sz="1800" b="1">
                <a:solidFill>
                  <a:srgbClr val="087DDF"/>
                </a:solidFill>
              </a:defRPr>
            </a:lvl6pPr>
            <a:lvl7pPr>
              <a:defRPr sz="1800" b="1">
                <a:solidFill>
                  <a:srgbClr val="087DDF"/>
                </a:solidFill>
              </a:defRPr>
            </a:lvl7pPr>
            <a:lvl8pPr>
              <a:defRPr sz="1800" b="1">
                <a:solidFill>
                  <a:srgbClr val="087DDF"/>
                </a:solidFill>
              </a:defRPr>
            </a:lvl8pPr>
            <a:lvl9pPr>
              <a:defRPr sz="1800" b="1">
                <a:solidFill>
                  <a:srgbClr val="087DDF"/>
                </a:solidFill>
              </a:defRPr>
            </a:lvl9pPr>
          </a:lstStyle>
          <a:p xmlns:a="http://schemas.openxmlformats.org/drawingml/2006/main">
            <a:pPr>
              <a:defRPr sz="1800" b="1">
                <a:solidFill>
                  <a:srgbClr val="087DDF"/>
                </a:solidFill>
              </a:defRPr>
            </a:pPr>
            <a:r>
              <a:rPr sz="1800" b="1">
                <a:solidFill>
                  <a:srgbClr val="087DDF"/>
                </a:solidFill>
              </a:rPr>
              <a:t>19</a:t>
            </a:r>
          </a:p>
        </p:txBody>
      </p:sp>
      <p:sp>
        <p:nvSpPr>
          <p:cNvPr id="3" name="Title">
            <a:extLst xmlns:a="http://schemas.openxmlformats.org/drawingml/2006/main">
              <a:ext uri="{FF2B5EF4-FFF2-40B4-BE49-F238E27FC236}">
                <a16:creationId xmlns:a16="http://schemas.microsoft.com/office/drawing/2014/main" id="{7F639462-7ACE-4571-A158-C4832D01E016}"/>
              </a:ext>
            </a:extLst>
          </p:cNvPr>
          <p:cNvSpPr>
            <a:spLocks xmlns:a="http://schemas.openxmlformats.org/drawingml/2006/main" noGrp="1"/>
          </p:cNvSpPr>
          <p:nvPr/>
        </p:nvSpPr>
        <p:spPr>
          <a:xfrm xmlns:a="http://schemas.openxmlformats.org/drawingml/2006/main">
            <a:off x="495300" y="762000"/>
            <a:ext cx="1104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744"/>
                </a:solidFill>
              </a:defRPr>
            </a:defPPr>
            <a:lvl1pPr>
              <a:defRPr sz="3300" b="1">
                <a:solidFill>
                  <a:srgbClr val="102744"/>
                </a:solidFill>
              </a:defRPr>
            </a:lvl1pPr>
            <a:lvl2pPr>
              <a:defRPr sz="3300" b="1">
                <a:solidFill>
                  <a:srgbClr val="102744"/>
                </a:solidFill>
              </a:defRPr>
            </a:lvl2pPr>
            <a:lvl3pPr>
              <a:defRPr sz="3300" b="1">
                <a:solidFill>
                  <a:srgbClr val="102744"/>
                </a:solidFill>
              </a:defRPr>
            </a:lvl3pPr>
            <a:lvl4pPr>
              <a:defRPr sz="3300" b="1">
                <a:solidFill>
                  <a:srgbClr val="102744"/>
                </a:solidFill>
              </a:defRPr>
            </a:lvl4pPr>
            <a:lvl5pPr>
              <a:defRPr sz="3300" b="1">
                <a:solidFill>
                  <a:srgbClr val="102744"/>
                </a:solidFill>
              </a:defRPr>
            </a:lvl5pPr>
            <a:lvl6pPr>
              <a:defRPr sz="3300" b="1">
                <a:solidFill>
                  <a:srgbClr val="102744"/>
                </a:solidFill>
              </a:defRPr>
            </a:lvl6pPr>
            <a:lvl7pPr>
              <a:defRPr sz="3300" b="1">
                <a:solidFill>
                  <a:srgbClr val="102744"/>
                </a:solidFill>
              </a:defRPr>
            </a:lvl7pPr>
            <a:lvl8pPr>
              <a:defRPr sz="3300" b="1">
                <a:solidFill>
                  <a:srgbClr val="102744"/>
                </a:solidFill>
              </a:defRPr>
            </a:lvl8pPr>
            <a:lvl9pPr>
              <a:defRPr sz="3300" b="1">
                <a:solidFill>
                  <a:srgbClr val="102744"/>
                </a:solidFill>
              </a:defRPr>
            </a:lvl9pPr>
          </a:lstStyle>
          <a:p xmlns:a="http://schemas.openxmlformats.org/drawingml/2006/main">
            <a:pPr>
              <a:defRPr sz="3300" b="1">
                <a:solidFill>
                  <a:srgbClr val="102744"/>
                </a:solidFill>
              </a:defRPr>
            </a:pPr>
            <a:r>
              <a:rPr sz="3300" b="1">
                <a:solidFill>
                  <a:srgbClr val="102744"/>
                </a:solidFill>
              </a:rPr>
              <a:t>Outreach remains a draft</a:t>
            </a:r>
          </a:p>
        </p:txBody>
      </p:sp>
      <p:sp>
        <p:nvSpPr>
          <p:cNvPr id="4" name="Body">
            <a:extLst xmlns:a="http://schemas.openxmlformats.org/drawingml/2006/main">
              <a:ext uri="{FF2B5EF4-FFF2-40B4-BE49-F238E27FC236}">
                <a16:creationId xmlns:a16="http://schemas.microsoft.com/office/drawing/2014/main" id="{164CA1DB-1A2A-4D99-83F2-3EE4D46C6C69}"/>
              </a:ext>
            </a:extLst>
          </p:cNvPr>
          <p:cNvSpPr>
            <a:spLocks xmlns:a="http://schemas.openxmlformats.org/drawingml/2006/main" noGrp="1"/>
          </p:cNvSpPr>
          <p:nvPr/>
        </p:nvSpPr>
        <p:spPr>
          <a:xfrm xmlns:a="http://schemas.openxmlformats.org/drawingml/2006/main">
            <a:off x="495300" y="1847850"/>
            <a:ext cx="2857500" cy="409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25354B"/>
                </a:solidFill>
              </a:defRPr>
            </a:defPPr>
            <a:lvl1pPr>
              <a:defRPr sz="1800" b="0">
                <a:solidFill>
                  <a:srgbClr val="25354B"/>
                </a:solidFill>
              </a:defRPr>
            </a:lvl1pPr>
            <a:lvl2pPr>
              <a:defRPr sz="1800" b="0">
                <a:solidFill>
                  <a:srgbClr val="25354B"/>
                </a:solidFill>
              </a:defRPr>
            </a:lvl2pPr>
            <a:lvl3pPr>
              <a:defRPr sz="1800" b="0">
                <a:solidFill>
                  <a:srgbClr val="25354B"/>
                </a:solidFill>
              </a:defRPr>
            </a:lvl3pPr>
            <a:lvl4pPr>
              <a:defRPr sz="1800" b="0">
                <a:solidFill>
                  <a:srgbClr val="25354B"/>
                </a:solidFill>
              </a:defRPr>
            </a:lvl4pPr>
            <a:lvl5pPr>
              <a:defRPr sz="1800" b="0">
                <a:solidFill>
                  <a:srgbClr val="25354B"/>
                </a:solidFill>
              </a:defRPr>
            </a:lvl5pPr>
            <a:lvl6pPr>
              <a:defRPr sz="1800" b="0">
                <a:solidFill>
                  <a:srgbClr val="25354B"/>
                </a:solidFill>
              </a:defRPr>
            </a:lvl6pPr>
            <a:lvl7pPr>
              <a:defRPr sz="1800" b="0">
                <a:solidFill>
                  <a:srgbClr val="25354B"/>
                </a:solidFill>
              </a:defRPr>
            </a:lvl7pPr>
            <a:lvl8pPr>
              <a:defRPr sz="1800" b="0">
                <a:solidFill>
                  <a:srgbClr val="25354B"/>
                </a:solidFill>
              </a:defRPr>
            </a:lvl8pPr>
            <a:lvl9pPr>
              <a:defRPr sz="1800" b="0">
                <a:solidFill>
                  <a:srgbClr val="25354B"/>
                </a:solidFill>
              </a:defRPr>
            </a:lvl9pPr>
          </a:lstStyle>
          <a:p xmlns:a="http://schemas.openxmlformats.org/drawingml/2006/main">
            <a:pPr>
              <a:defRPr sz="1800" b="0">
                <a:solidFill>
                  <a:srgbClr val="25354B"/>
                </a:solidFill>
              </a:defRPr>
            </a:pPr>
            <a:r>
              <a:rPr sz="1800" b="0">
                <a:solidFill>
                  <a:srgbClr val="25354B"/>
                </a:solidFill>
              </a:rPr>
              <a:t>The draft refers to published business priorities and invoice processes.</a:t>
            </a:r>
          </a:p>
          <a:p xmlns:a="http://schemas.openxmlformats.org/drawingml/2006/main">
            <a:r>
              <a:t/>
            </a:r>
          </a:p>
          <a:p xmlns:a="http://schemas.openxmlformats.org/drawingml/2006/main">
            <a:pPr>
              <a:defRPr sz="1800" b="0">
                <a:solidFill>
                  <a:srgbClr val="25354B"/>
                </a:solidFill>
              </a:defRPr>
            </a:pPr>
            <a:r>
              <a:rPr sz="1800" b="0">
                <a:solidFill>
                  <a:srgbClr val="25354B"/>
                </a:solidFill>
              </a:rPr>
              <a:t>It asks for the right entity and contacts.</a:t>
            </a:r>
          </a:p>
          <a:p xmlns:a="http://schemas.openxmlformats.org/drawingml/2006/main">
            <a:r>
              <a:t/>
            </a:r>
          </a:p>
          <a:p xmlns:a="http://schemas.openxmlformats.org/drawingml/2006/main">
            <a:pPr>
              <a:defRPr sz="1800" b="0">
                <a:solidFill>
                  <a:srgbClr val="25354B"/>
                </a:solidFill>
              </a:defRPr>
            </a:pPr>
            <a:r>
              <a:rPr sz="1800" b="0">
                <a:solidFill>
                  <a:srgbClr val="25354B"/>
                </a:solidFill>
              </a:rPr>
              <a:t>Review the facts and recipient before sending.</a:t>
            </a:r>
          </a:p>
        </p:txBody>
      </p:sp>
      <p:pic>
        <p:nvPicPr>
          <p:cNvPr id="5" name="">
            <a:extLst xmlns:a="http://schemas.openxmlformats.org/drawingml/2006/main">
              <a:ext uri="{FF2B5EF4-FFF2-40B4-BE49-F238E27FC236}">
                <a16:creationId xmlns:a16="http://schemas.microsoft.com/office/drawing/2014/main" id="{E05FC55C-104E-4953-A0D4-08052EF26ACE}"/>
              </a:ext>
            </a:extLst>
          </p:cNvPr>
          <p:cNvPicPr>
            <a:picLocks xmlns:a="http://schemas.openxmlformats.org/drawingml/2006/main" noChangeAspect="1"/>
          </p:cNvPicPr>
          <p:nvPr/>
        </p:nvPicPr>
        <p:blipFill>
          <a:blip xmlns:r="http://schemas.openxmlformats.org/officeDocument/2006/relationships" xmlns:a="http://schemas.openxmlformats.org/drawingml/2006/main" r:embed="R01d74bdeeb364adf"/>
          <a:stretch xmlns:a="http://schemas.openxmlformats.org/drawingml/2006/main"/>
        </p:blipFill>
        <p:spPr>
          <a:xfrm xmlns:a="http://schemas.openxmlformats.org/drawingml/2006/main">
            <a:off x="3714750" y="1946346"/>
            <a:ext cx="7953375" cy="3346309"/>
          </a:xfrm>
          <a:prstGeom xmlns:a="http://schemas.openxmlformats.org/drawingml/2006/main" prst="rect">
            <a:avLst/>
          </a:prstGeom>
        </p:spPr>
      </p:pic>
      <p:sp>
        <p:nvSpPr>
          <p:cNvPr id="6" name="Caption">
            <a:extLst xmlns:a="http://schemas.openxmlformats.org/drawingml/2006/main">
              <a:ext uri="{FF2B5EF4-FFF2-40B4-BE49-F238E27FC236}">
                <a16:creationId xmlns:a16="http://schemas.microsoft.com/office/drawing/2014/main" id="{02AC9ACD-0F2F-4154-A192-4C3A6242A2CB}"/>
              </a:ext>
            </a:extLst>
          </p:cNvPr>
          <p:cNvSpPr>
            <a:spLocks xmlns:a="http://schemas.openxmlformats.org/drawingml/2006/main" noGrp="1"/>
          </p:cNvSpPr>
          <p:nvPr/>
        </p:nvSpPr>
        <p:spPr>
          <a:xfrm xmlns:a="http://schemas.openxmlformats.org/drawingml/2006/main">
            <a:off x="3714750" y="5810250"/>
            <a:ext cx="79533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0">
                <a:solidFill>
                  <a:srgbClr val="087DDF"/>
                </a:solidFill>
              </a:defRPr>
            </a:defPPr>
            <a:lvl1pPr>
              <a:defRPr sz="1425" b="0">
                <a:solidFill>
                  <a:srgbClr val="087DDF"/>
                </a:solidFill>
              </a:defRPr>
            </a:lvl1pPr>
            <a:lvl2pPr>
              <a:defRPr sz="1425" b="0">
                <a:solidFill>
                  <a:srgbClr val="087DDF"/>
                </a:solidFill>
              </a:defRPr>
            </a:lvl2pPr>
            <a:lvl3pPr>
              <a:defRPr sz="1425" b="0">
                <a:solidFill>
                  <a:srgbClr val="087DDF"/>
                </a:solidFill>
              </a:defRPr>
            </a:lvl3pPr>
            <a:lvl4pPr>
              <a:defRPr sz="1425" b="0">
                <a:solidFill>
                  <a:srgbClr val="087DDF"/>
                </a:solidFill>
              </a:defRPr>
            </a:lvl4pPr>
            <a:lvl5pPr>
              <a:defRPr sz="1425" b="0">
                <a:solidFill>
                  <a:srgbClr val="087DDF"/>
                </a:solidFill>
              </a:defRPr>
            </a:lvl5pPr>
            <a:lvl6pPr>
              <a:defRPr sz="1425" b="0">
                <a:solidFill>
                  <a:srgbClr val="087DDF"/>
                </a:solidFill>
              </a:defRPr>
            </a:lvl6pPr>
            <a:lvl7pPr>
              <a:defRPr sz="1425" b="0">
                <a:solidFill>
                  <a:srgbClr val="087DDF"/>
                </a:solidFill>
              </a:defRPr>
            </a:lvl7pPr>
            <a:lvl8pPr>
              <a:defRPr sz="1425" b="0">
                <a:solidFill>
                  <a:srgbClr val="087DDF"/>
                </a:solidFill>
              </a:defRPr>
            </a:lvl8pPr>
            <a:lvl9pPr>
              <a:defRPr sz="1425" b="0">
                <a:solidFill>
                  <a:srgbClr val="087DDF"/>
                </a:solidFill>
              </a:defRPr>
            </a:lvl9pPr>
          </a:lstStyle>
          <a:p xmlns:a="http://schemas.openxmlformats.org/drawingml/2006/main">
            <a:pPr>
              <a:defRPr sz="1425" b="0">
                <a:solidFill>
                  <a:srgbClr val="087DDF"/>
                </a:solidFill>
              </a:defRPr>
            </a:pPr>
            <a:r>
              <a:rPr sz="1425" b="0">
                <a:solidFill>
                  <a:srgbClr val="087DDF"/>
                </a:solidFill>
              </a:rPr>
              <a:t>Draft only. No message was sent.</a:t>
            </a:r>
          </a:p>
        </p:txBody>
      </p:sp>
      <p:sp>
        <p:nvSpPr>
          <p:cNvPr id="7" name="Footer">
            <a:extLst xmlns:a="http://schemas.openxmlformats.org/drawingml/2006/main">
              <a:ext uri="{FF2B5EF4-FFF2-40B4-BE49-F238E27FC236}">
                <a16:creationId xmlns:a16="http://schemas.microsoft.com/office/drawing/2014/main" id="{665DFD7E-B3CA-47AF-BF00-6B4B6A9228EC}"/>
              </a:ext>
            </a:extLst>
          </p:cNvPr>
          <p:cNvSpPr>
            <a:spLocks xmlns:a="http://schemas.openxmlformats.org/drawingml/2006/main" noGrp="1"/>
          </p:cNvSpPr>
          <p:nvPr/>
        </p:nvSpPr>
        <p:spPr>
          <a:xfrm xmlns:a="http://schemas.openxmlformats.org/drawingml/2006/main">
            <a:off x="495300" y="6419850"/>
            <a:ext cx="10953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9778B"/>
                </a:solidFill>
              </a:defRPr>
            </a:defPPr>
            <a:lvl1pPr>
              <a:defRPr sz="1200" b="0">
                <a:solidFill>
                  <a:srgbClr val="69778B"/>
                </a:solidFill>
              </a:defRPr>
            </a:lvl1pPr>
            <a:lvl2pPr>
              <a:defRPr sz="1200" b="0">
                <a:solidFill>
                  <a:srgbClr val="69778B"/>
                </a:solidFill>
              </a:defRPr>
            </a:lvl2pPr>
            <a:lvl3pPr>
              <a:defRPr sz="1200" b="0">
                <a:solidFill>
                  <a:srgbClr val="69778B"/>
                </a:solidFill>
              </a:defRPr>
            </a:lvl3pPr>
            <a:lvl4pPr>
              <a:defRPr sz="1200" b="0">
                <a:solidFill>
                  <a:srgbClr val="69778B"/>
                </a:solidFill>
              </a:defRPr>
            </a:lvl4pPr>
            <a:lvl5pPr>
              <a:defRPr sz="1200" b="0">
                <a:solidFill>
                  <a:srgbClr val="69778B"/>
                </a:solidFill>
              </a:defRPr>
            </a:lvl5pPr>
            <a:lvl6pPr>
              <a:defRPr sz="1200" b="0">
                <a:solidFill>
                  <a:srgbClr val="69778B"/>
                </a:solidFill>
              </a:defRPr>
            </a:lvl6pPr>
            <a:lvl7pPr>
              <a:defRPr sz="1200" b="0">
                <a:solidFill>
                  <a:srgbClr val="69778B"/>
                </a:solidFill>
              </a:defRPr>
            </a:lvl7pPr>
            <a:lvl8pPr>
              <a:defRPr sz="1200" b="0">
                <a:solidFill>
                  <a:srgbClr val="69778B"/>
                </a:solidFill>
              </a:defRPr>
            </a:lvl8pPr>
            <a:lvl9pPr>
              <a:defRPr sz="1200" b="0">
                <a:solidFill>
                  <a:srgbClr val="69778B"/>
                </a:solidFill>
              </a:defRPr>
            </a:lvl9pPr>
          </a:lstStyle>
          <a:p xmlns:a="http://schemas.openxmlformats.org/drawingml/2006/main">
            <a:pPr>
              <a:defRPr sz="1200" b="0">
                <a:solidFill>
                  <a:srgbClr val="69778B"/>
                </a:solidFill>
              </a:defRPr>
            </a:pPr>
            <a:r>
              <a:rPr sz="1200" b="0">
                <a:solidFill>
                  <a:srgbClr val="69778B"/>
                </a:solidFill>
              </a:rPr>
              <a:t>Build 3   /   Public research demonstration   /   21 October 2026</a:t>
            </a:r>
          </a:p>
        </p:txBody>
      </p:sp>
    </p:spTree>
    <p:extLst>
      <p:ext uri="{BB962C8B-B14F-4D97-AF65-F5344CB8AC3E}">
        <p14:creationId xmlns:p14="http://schemas.microsoft.com/office/powerpoint/2010/main" val="1211183349"/>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tep">
            <a:extLst xmlns:a="http://schemas.openxmlformats.org/drawingml/2006/main">
              <a:ext uri="{FF2B5EF4-FFF2-40B4-BE49-F238E27FC236}">
                <a16:creationId xmlns:a16="http://schemas.microsoft.com/office/drawing/2014/main" id="{F6F97240-3D52-406D-8F3E-0E8C688D69B9}"/>
              </a:ext>
            </a:extLst>
          </p:cNvPr>
          <p:cNvSpPr>
            <a:spLocks xmlns:a="http://schemas.openxmlformats.org/drawingml/2006/main" noGrp="1"/>
          </p:cNvSpPr>
          <p:nvPr/>
        </p:nvSpPr>
        <p:spPr>
          <a:xfrm xmlns:a="http://schemas.openxmlformats.org/drawingml/2006/main">
            <a:off x="495300" y="342900"/>
            <a:ext cx="704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087DDF"/>
                </a:solidFill>
              </a:defRPr>
            </a:defPPr>
            <a:lvl1pPr>
              <a:defRPr sz="1800" b="1">
                <a:solidFill>
                  <a:srgbClr val="087DDF"/>
                </a:solidFill>
              </a:defRPr>
            </a:lvl1pPr>
            <a:lvl2pPr>
              <a:defRPr sz="1800" b="1">
                <a:solidFill>
                  <a:srgbClr val="087DDF"/>
                </a:solidFill>
              </a:defRPr>
            </a:lvl2pPr>
            <a:lvl3pPr>
              <a:defRPr sz="1800" b="1">
                <a:solidFill>
                  <a:srgbClr val="087DDF"/>
                </a:solidFill>
              </a:defRPr>
            </a:lvl3pPr>
            <a:lvl4pPr>
              <a:defRPr sz="1800" b="1">
                <a:solidFill>
                  <a:srgbClr val="087DDF"/>
                </a:solidFill>
              </a:defRPr>
            </a:lvl4pPr>
            <a:lvl5pPr>
              <a:defRPr sz="1800" b="1">
                <a:solidFill>
                  <a:srgbClr val="087DDF"/>
                </a:solidFill>
              </a:defRPr>
            </a:lvl5pPr>
            <a:lvl6pPr>
              <a:defRPr sz="1800" b="1">
                <a:solidFill>
                  <a:srgbClr val="087DDF"/>
                </a:solidFill>
              </a:defRPr>
            </a:lvl6pPr>
            <a:lvl7pPr>
              <a:defRPr sz="1800" b="1">
                <a:solidFill>
                  <a:srgbClr val="087DDF"/>
                </a:solidFill>
              </a:defRPr>
            </a:lvl7pPr>
            <a:lvl8pPr>
              <a:defRPr sz="1800" b="1">
                <a:solidFill>
                  <a:srgbClr val="087DDF"/>
                </a:solidFill>
              </a:defRPr>
            </a:lvl8pPr>
            <a:lvl9pPr>
              <a:defRPr sz="1800" b="1">
                <a:solidFill>
                  <a:srgbClr val="087DDF"/>
                </a:solidFill>
              </a:defRPr>
            </a:lvl9pPr>
          </a:lstStyle>
          <a:p xmlns:a="http://schemas.openxmlformats.org/drawingml/2006/main">
            <a:pPr>
              <a:defRPr sz="1800" b="1">
                <a:solidFill>
                  <a:srgbClr val="087DDF"/>
                </a:solidFill>
              </a:defRPr>
            </a:pPr>
            <a:r>
              <a:rPr sz="1800" b="1">
                <a:solidFill>
                  <a:srgbClr val="087DDF"/>
                </a:solidFill>
              </a:rPr>
              <a:t>20</a:t>
            </a:r>
          </a:p>
        </p:txBody>
      </p:sp>
      <p:sp>
        <p:nvSpPr>
          <p:cNvPr id="3" name="Title">
            <a:extLst xmlns:a="http://schemas.openxmlformats.org/drawingml/2006/main">
              <a:ext uri="{FF2B5EF4-FFF2-40B4-BE49-F238E27FC236}">
                <a16:creationId xmlns:a16="http://schemas.microsoft.com/office/drawing/2014/main" id="{D35DF7C5-21D9-4DB9-A099-DE456CF6E1CD}"/>
              </a:ext>
            </a:extLst>
          </p:cNvPr>
          <p:cNvSpPr>
            <a:spLocks xmlns:a="http://schemas.openxmlformats.org/drawingml/2006/main" noGrp="1"/>
          </p:cNvSpPr>
          <p:nvPr/>
        </p:nvSpPr>
        <p:spPr>
          <a:xfrm xmlns:a="http://schemas.openxmlformats.org/drawingml/2006/main">
            <a:off x="495300" y="762000"/>
            <a:ext cx="1104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744"/>
                </a:solidFill>
              </a:defRPr>
            </a:defPPr>
            <a:lvl1pPr>
              <a:defRPr sz="3300" b="1">
                <a:solidFill>
                  <a:srgbClr val="102744"/>
                </a:solidFill>
              </a:defRPr>
            </a:lvl1pPr>
            <a:lvl2pPr>
              <a:defRPr sz="3300" b="1">
                <a:solidFill>
                  <a:srgbClr val="102744"/>
                </a:solidFill>
              </a:defRPr>
            </a:lvl2pPr>
            <a:lvl3pPr>
              <a:defRPr sz="3300" b="1">
                <a:solidFill>
                  <a:srgbClr val="102744"/>
                </a:solidFill>
              </a:defRPr>
            </a:lvl3pPr>
            <a:lvl4pPr>
              <a:defRPr sz="3300" b="1">
                <a:solidFill>
                  <a:srgbClr val="102744"/>
                </a:solidFill>
              </a:defRPr>
            </a:lvl4pPr>
            <a:lvl5pPr>
              <a:defRPr sz="3300" b="1">
                <a:solidFill>
                  <a:srgbClr val="102744"/>
                </a:solidFill>
              </a:defRPr>
            </a:lvl5pPr>
            <a:lvl6pPr>
              <a:defRPr sz="3300" b="1">
                <a:solidFill>
                  <a:srgbClr val="102744"/>
                </a:solidFill>
              </a:defRPr>
            </a:lvl6pPr>
            <a:lvl7pPr>
              <a:defRPr sz="3300" b="1">
                <a:solidFill>
                  <a:srgbClr val="102744"/>
                </a:solidFill>
              </a:defRPr>
            </a:lvl7pPr>
            <a:lvl8pPr>
              <a:defRPr sz="3300" b="1">
                <a:solidFill>
                  <a:srgbClr val="102744"/>
                </a:solidFill>
              </a:defRPr>
            </a:lvl8pPr>
            <a:lvl9pPr>
              <a:defRPr sz="3300" b="1">
                <a:solidFill>
                  <a:srgbClr val="102744"/>
                </a:solidFill>
              </a:defRPr>
            </a:lvl9pPr>
          </a:lstStyle>
          <a:p xmlns:a="http://schemas.openxmlformats.org/drawingml/2006/main">
            <a:pPr>
              <a:defRPr sz="3300" b="1">
                <a:solidFill>
                  <a:srgbClr val="102744"/>
                </a:solidFill>
              </a:defRPr>
            </a:pPr>
            <a:r>
              <a:rPr sz="3300" b="1">
                <a:solidFill>
                  <a:srgbClr val="102744"/>
                </a:solidFill>
              </a:rPr>
              <a:t>The completed PDF handover</a:t>
            </a:r>
          </a:p>
        </p:txBody>
      </p:sp>
      <p:sp>
        <p:nvSpPr>
          <p:cNvPr id="4" name="Body">
            <a:extLst xmlns:a="http://schemas.openxmlformats.org/drawingml/2006/main">
              <a:ext uri="{FF2B5EF4-FFF2-40B4-BE49-F238E27FC236}">
                <a16:creationId xmlns:a16="http://schemas.microsoft.com/office/drawing/2014/main" id="{95FCEF3E-21D3-4DCD-B488-D9A18E3CAD10}"/>
              </a:ext>
            </a:extLst>
          </p:cNvPr>
          <p:cNvSpPr>
            <a:spLocks xmlns:a="http://schemas.openxmlformats.org/drawingml/2006/main" noGrp="1"/>
          </p:cNvSpPr>
          <p:nvPr/>
        </p:nvSpPr>
        <p:spPr>
          <a:xfrm xmlns:a="http://schemas.openxmlformats.org/drawingml/2006/main">
            <a:off x="495300" y="1847850"/>
            <a:ext cx="2857500" cy="409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25354B"/>
                </a:solidFill>
              </a:defRPr>
            </a:defPPr>
            <a:lvl1pPr>
              <a:defRPr sz="1800" b="0">
                <a:solidFill>
                  <a:srgbClr val="25354B"/>
                </a:solidFill>
              </a:defRPr>
            </a:lvl1pPr>
            <a:lvl2pPr>
              <a:defRPr sz="1800" b="0">
                <a:solidFill>
                  <a:srgbClr val="25354B"/>
                </a:solidFill>
              </a:defRPr>
            </a:lvl2pPr>
            <a:lvl3pPr>
              <a:defRPr sz="1800" b="0">
                <a:solidFill>
                  <a:srgbClr val="25354B"/>
                </a:solidFill>
              </a:defRPr>
            </a:lvl3pPr>
            <a:lvl4pPr>
              <a:defRPr sz="1800" b="0">
                <a:solidFill>
                  <a:srgbClr val="25354B"/>
                </a:solidFill>
              </a:defRPr>
            </a:lvl4pPr>
            <a:lvl5pPr>
              <a:defRPr sz="1800" b="0">
                <a:solidFill>
                  <a:srgbClr val="25354B"/>
                </a:solidFill>
              </a:defRPr>
            </a:lvl5pPr>
            <a:lvl6pPr>
              <a:defRPr sz="1800" b="0">
                <a:solidFill>
                  <a:srgbClr val="25354B"/>
                </a:solidFill>
              </a:defRPr>
            </a:lvl6pPr>
            <a:lvl7pPr>
              <a:defRPr sz="1800" b="0">
                <a:solidFill>
                  <a:srgbClr val="25354B"/>
                </a:solidFill>
              </a:defRPr>
            </a:lvl7pPr>
            <a:lvl8pPr>
              <a:defRPr sz="1800" b="0">
                <a:solidFill>
                  <a:srgbClr val="25354B"/>
                </a:solidFill>
              </a:defRPr>
            </a:lvl8pPr>
            <a:lvl9pPr>
              <a:defRPr sz="1800" b="0">
                <a:solidFill>
                  <a:srgbClr val="25354B"/>
                </a:solidFill>
              </a:defRPr>
            </a:lvl9pPr>
          </a:lstStyle>
          <a:p xmlns:a="http://schemas.openxmlformats.org/drawingml/2006/main">
            <a:pPr>
              <a:defRPr sz="1800" b="0">
                <a:solidFill>
                  <a:srgbClr val="25354B"/>
                </a:solidFill>
              </a:defRPr>
            </a:pPr>
            <a:r>
              <a:rPr sz="1800" b="0">
                <a:solidFill>
                  <a:srgbClr val="25354B"/>
                </a:solidFill>
              </a:rPr>
              <a:t>Open the PDF card in the chat.</a:t>
            </a:r>
          </a:p>
          <a:p xmlns:a="http://schemas.openxmlformats.org/drawingml/2006/main">
            <a:r>
              <a:t/>
            </a:r>
          </a:p>
          <a:p xmlns:a="http://schemas.openxmlformats.org/drawingml/2006/main">
            <a:pPr>
              <a:defRPr sz="1800" b="0">
                <a:solidFill>
                  <a:srgbClr val="25354B"/>
                </a:solidFill>
              </a:defRPr>
            </a:pPr>
            <a:r>
              <a:rPr sz="1800" b="0">
                <a:solidFill>
                  <a:srgbClr val="25354B"/>
                </a:solidFill>
              </a:rPr>
              <a:t>Review all six pages and the linked evidence.</a:t>
            </a:r>
          </a:p>
          <a:p xmlns:a="http://schemas.openxmlformats.org/drawingml/2006/main">
            <a:r>
              <a:t/>
            </a:r>
          </a:p>
          <a:p xmlns:a="http://schemas.openxmlformats.org/drawingml/2006/main">
            <a:pPr>
              <a:defRPr sz="1800" b="0">
                <a:solidFill>
                  <a:srgbClr val="25354B"/>
                </a:solidFill>
              </a:defRPr>
            </a:pPr>
            <a:r>
              <a:rPr sz="1800" b="0">
                <a:solidFill>
                  <a:srgbClr val="25354B"/>
                </a:solidFill>
              </a:rPr>
              <a:t>Use Download → PDF to save the brief.</a:t>
            </a:r>
          </a:p>
          <a:p xmlns:a="http://schemas.openxmlformats.org/drawingml/2006/main">
            <a:r>
              <a:t/>
            </a:r>
          </a:p>
          <a:p xmlns:a="http://schemas.openxmlformats.org/drawingml/2006/main">
            <a:pPr>
              <a:defRPr sz="1800" b="0">
                <a:solidFill>
                  <a:srgbClr val="25354B"/>
                </a:solidFill>
              </a:defRPr>
            </a:pPr>
            <a:r>
              <a:rPr sz="1800" b="0">
                <a:solidFill>
                  <a:srgbClr val="25354B"/>
                </a:solidFill>
              </a:rPr>
              <a:t>Refresh the research before relying on it later.</a:t>
            </a:r>
          </a:p>
        </p:txBody>
      </p:sp>
      <p:pic>
        <p:nvPicPr>
          <p:cNvPr id="5" name="">
            <a:extLst xmlns:a="http://schemas.openxmlformats.org/drawingml/2006/main">
              <a:ext uri="{FF2B5EF4-FFF2-40B4-BE49-F238E27FC236}">
                <a16:creationId xmlns:a16="http://schemas.microsoft.com/office/drawing/2014/main" id="{D98460C2-61CD-4374-9302-9953EF1C88BA}"/>
              </a:ext>
            </a:extLst>
          </p:cNvPr>
          <p:cNvPicPr>
            <a:picLocks xmlns:a="http://schemas.openxmlformats.org/drawingml/2006/main" noChangeAspect="1"/>
          </p:cNvPicPr>
          <p:nvPr/>
        </p:nvPicPr>
        <p:blipFill>
          <a:blip xmlns:r="http://schemas.openxmlformats.org/officeDocument/2006/relationships" xmlns:a="http://schemas.openxmlformats.org/drawingml/2006/main" r:embed="R570622b562634e5c"/>
          <a:stretch xmlns:a="http://schemas.openxmlformats.org/drawingml/2006/main"/>
        </p:blipFill>
        <p:spPr>
          <a:xfrm xmlns:a="http://schemas.openxmlformats.org/drawingml/2006/main">
            <a:off x="3714750" y="2900150"/>
            <a:ext cx="7953375" cy="1438700"/>
          </a:xfrm>
          <a:prstGeom xmlns:a="http://schemas.openxmlformats.org/drawingml/2006/main" prst="rect">
            <a:avLst/>
          </a:prstGeom>
        </p:spPr>
      </p:pic>
      <p:sp>
        <p:nvSpPr>
          <p:cNvPr id="6" name="Caption">
            <a:extLst xmlns:a="http://schemas.openxmlformats.org/drawingml/2006/main">
              <a:ext uri="{FF2B5EF4-FFF2-40B4-BE49-F238E27FC236}">
                <a16:creationId xmlns:a16="http://schemas.microsoft.com/office/drawing/2014/main" id="{E4EA95B6-D720-4857-833C-EABE6D784A3D}"/>
              </a:ext>
            </a:extLst>
          </p:cNvPr>
          <p:cNvSpPr>
            <a:spLocks xmlns:a="http://schemas.openxmlformats.org/drawingml/2006/main" noGrp="1"/>
          </p:cNvSpPr>
          <p:nvPr/>
        </p:nvSpPr>
        <p:spPr>
          <a:xfrm xmlns:a="http://schemas.openxmlformats.org/drawingml/2006/main">
            <a:off x="3714750" y="5810250"/>
            <a:ext cx="79533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0">
                <a:solidFill>
                  <a:srgbClr val="087DDF"/>
                </a:solidFill>
              </a:defRPr>
            </a:defPPr>
            <a:lvl1pPr>
              <a:defRPr sz="1425" b="0">
                <a:solidFill>
                  <a:srgbClr val="087DDF"/>
                </a:solidFill>
              </a:defRPr>
            </a:lvl1pPr>
            <a:lvl2pPr>
              <a:defRPr sz="1425" b="0">
                <a:solidFill>
                  <a:srgbClr val="087DDF"/>
                </a:solidFill>
              </a:defRPr>
            </a:lvl2pPr>
            <a:lvl3pPr>
              <a:defRPr sz="1425" b="0">
                <a:solidFill>
                  <a:srgbClr val="087DDF"/>
                </a:solidFill>
              </a:defRPr>
            </a:lvl3pPr>
            <a:lvl4pPr>
              <a:defRPr sz="1425" b="0">
                <a:solidFill>
                  <a:srgbClr val="087DDF"/>
                </a:solidFill>
              </a:defRPr>
            </a:lvl4pPr>
            <a:lvl5pPr>
              <a:defRPr sz="1425" b="0">
                <a:solidFill>
                  <a:srgbClr val="087DDF"/>
                </a:solidFill>
              </a:defRPr>
            </a:lvl5pPr>
            <a:lvl6pPr>
              <a:defRPr sz="1425" b="0">
                <a:solidFill>
                  <a:srgbClr val="087DDF"/>
                </a:solidFill>
              </a:defRPr>
            </a:lvl6pPr>
            <a:lvl7pPr>
              <a:defRPr sz="1425" b="0">
                <a:solidFill>
                  <a:srgbClr val="087DDF"/>
                </a:solidFill>
              </a:defRPr>
            </a:lvl7pPr>
            <a:lvl8pPr>
              <a:defRPr sz="1425" b="0">
                <a:solidFill>
                  <a:srgbClr val="087DDF"/>
                </a:solidFill>
              </a:defRPr>
            </a:lvl8pPr>
            <a:lvl9pPr>
              <a:defRPr sz="1425" b="0">
                <a:solidFill>
                  <a:srgbClr val="087DDF"/>
                </a:solidFill>
              </a:defRPr>
            </a:lvl9pPr>
          </a:lstStyle>
          <a:p xmlns:a="http://schemas.openxmlformats.org/drawingml/2006/main">
            <a:pPr>
              <a:defRPr sz="1425" b="0">
                <a:solidFill>
                  <a:srgbClr val="087DDF"/>
                </a:solidFill>
              </a:defRPr>
            </a:pPr>
            <a:r>
              <a:rPr sz="1425" b="0">
                <a:solidFill>
                  <a:srgbClr val="087DDF"/>
                </a:solidFill>
              </a:rPr>
              <a:t>The confidential report is a research snapshot for human review.</a:t>
            </a:r>
          </a:p>
        </p:txBody>
      </p:sp>
      <p:sp>
        <p:nvSpPr>
          <p:cNvPr id="7" name="Footer">
            <a:extLst xmlns:a="http://schemas.openxmlformats.org/drawingml/2006/main">
              <a:ext uri="{FF2B5EF4-FFF2-40B4-BE49-F238E27FC236}">
                <a16:creationId xmlns:a16="http://schemas.microsoft.com/office/drawing/2014/main" id="{97E15987-B4B8-4A33-9B52-0079EC3E0864}"/>
              </a:ext>
            </a:extLst>
          </p:cNvPr>
          <p:cNvSpPr>
            <a:spLocks xmlns:a="http://schemas.openxmlformats.org/drawingml/2006/main" noGrp="1"/>
          </p:cNvSpPr>
          <p:nvPr/>
        </p:nvSpPr>
        <p:spPr>
          <a:xfrm xmlns:a="http://schemas.openxmlformats.org/drawingml/2006/main">
            <a:off x="495300" y="6419850"/>
            <a:ext cx="10953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9778B"/>
                </a:solidFill>
              </a:defRPr>
            </a:defPPr>
            <a:lvl1pPr>
              <a:defRPr sz="1200" b="0">
                <a:solidFill>
                  <a:srgbClr val="69778B"/>
                </a:solidFill>
              </a:defRPr>
            </a:lvl1pPr>
            <a:lvl2pPr>
              <a:defRPr sz="1200" b="0">
                <a:solidFill>
                  <a:srgbClr val="69778B"/>
                </a:solidFill>
              </a:defRPr>
            </a:lvl2pPr>
            <a:lvl3pPr>
              <a:defRPr sz="1200" b="0">
                <a:solidFill>
                  <a:srgbClr val="69778B"/>
                </a:solidFill>
              </a:defRPr>
            </a:lvl3pPr>
            <a:lvl4pPr>
              <a:defRPr sz="1200" b="0">
                <a:solidFill>
                  <a:srgbClr val="69778B"/>
                </a:solidFill>
              </a:defRPr>
            </a:lvl4pPr>
            <a:lvl5pPr>
              <a:defRPr sz="1200" b="0">
                <a:solidFill>
                  <a:srgbClr val="69778B"/>
                </a:solidFill>
              </a:defRPr>
            </a:lvl5pPr>
            <a:lvl6pPr>
              <a:defRPr sz="1200" b="0">
                <a:solidFill>
                  <a:srgbClr val="69778B"/>
                </a:solidFill>
              </a:defRPr>
            </a:lvl6pPr>
            <a:lvl7pPr>
              <a:defRPr sz="1200" b="0">
                <a:solidFill>
                  <a:srgbClr val="69778B"/>
                </a:solidFill>
              </a:defRPr>
            </a:lvl7pPr>
            <a:lvl8pPr>
              <a:defRPr sz="1200" b="0">
                <a:solidFill>
                  <a:srgbClr val="69778B"/>
                </a:solidFill>
              </a:defRPr>
            </a:lvl8pPr>
            <a:lvl9pPr>
              <a:defRPr sz="1200" b="0">
                <a:solidFill>
                  <a:srgbClr val="69778B"/>
                </a:solidFill>
              </a:defRPr>
            </a:lvl9pPr>
          </a:lstStyle>
          <a:p xmlns:a="http://schemas.openxmlformats.org/drawingml/2006/main">
            <a:pPr>
              <a:defRPr sz="1200" b="0">
                <a:solidFill>
                  <a:srgbClr val="69778B"/>
                </a:solidFill>
              </a:defRPr>
            </a:pPr>
            <a:r>
              <a:rPr sz="1200" b="0">
                <a:solidFill>
                  <a:srgbClr val="69778B"/>
                </a:solidFill>
              </a:rPr>
              <a:t>Build 3   /   Public research demonstration   /   21 October 2026</a:t>
            </a:r>
          </a:p>
        </p:txBody>
      </p:sp>
    </p:spTree>
    <p:extLst>
      <p:ext uri="{BB962C8B-B14F-4D97-AF65-F5344CB8AC3E}">
        <p14:creationId xmlns:p14="http://schemas.microsoft.com/office/powerpoint/2010/main" val="119346138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2026-10-21T14:28:03.9300000Z</dcterms:created>
  <dcterms:modified xsi:type="dcterms:W3CDTF">2026-10-21T14:28:03.9310000Z</dcterms:modified>
</coreProperties>
</file>